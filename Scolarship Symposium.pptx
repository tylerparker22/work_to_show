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14"/>
  </p:notesMasterIdLst>
  <p:sldIdLst>
    <p:sldId id="256" r:id="rId2"/>
    <p:sldId id="257" r:id="rId3"/>
    <p:sldId id="260" r:id="rId4"/>
    <p:sldId id="266" r:id="rId5"/>
    <p:sldId id="267" r:id="rId6"/>
    <p:sldId id="258" r:id="rId7"/>
    <p:sldId id="259" r:id="rId8"/>
    <p:sldId id="261" r:id="rId9"/>
    <p:sldId id="262" r:id="rId10"/>
    <p:sldId id="264" r:id="rId11"/>
    <p:sldId id="265" r:id="rId12"/>
    <p:sldId id="268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27" autoAdjust="0"/>
    <p:restoredTop sz="69679" autoAdjust="0"/>
  </p:normalViewPr>
  <p:slideViewPr>
    <p:cSldViewPr snapToGrid="0">
      <p:cViewPr varScale="1">
        <p:scale>
          <a:sx n="78" d="100"/>
          <a:sy n="78" d="100"/>
        </p:scale>
        <p:origin x="16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D20C370-9B30-4FC2-90F1-F83A67B7726F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9957B42-9C2E-4808-BE61-1A853C789F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31673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Get </a:t>
            </a:r>
          </a:p>
          <a:p>
            <a:r>
              <a:rPr lang="en-US" dirty="0"/>
              <a:t>Retain</a:t>
            </a:r>
          </a:p>
          <a:p>
            <a:r>
              <a:rPr lang="en-US" dirty="0"/>
              <a:t>Maintain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957B42-9C2E-4808-BE61-1A853C789FAB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59169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Reel</a:t>
            </a:r>
          </a:p>
          <a:p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800" b="0" i="0" u="none" strike="noStrike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cluster</a:t>
            </a:r>
            <a:r>
              <a:rPr lang="en-US" sz="1800" dirty="0"/>
              <a:t> 	</a:t>
            </a:r>
            <a:r>
              <a:rPr lang="en-US" sz="1800" b="0" i="0" u="none" strike="noStrike" dirty="0">
                <a:solidFill>
                  <a:srgbClr val="FF0000"/>
                </a:solidFill>
                <a:effectLst/>
                <a:latin typeface="Calibri" panose="020F0502020204030204" pitchFamily="34" charset="0"/>
              </a:rPr>
              <a:t>Likes</a:t>
            </a:r>
            <a:r>
              <a:rPr lang="en-US" dirty="0"/>
              <a:t> 	</a:t>
            </a:r>
            <a:r>
              <a:rPr lang="en-US" sz="1800" b="0" i="0" u="none" strike="noStrike" dirty="0">
                <a:solidFill>
                  <a:srgbClr val="FF0000"/>
                </a:solidFill>
                <a:effectLst/>
                <a:latin typeface="Calibri" panose="020F0502020204030204" pitchFamily="34" charset="0"/>
              </a:rPr>
              <a:t>Views</a:t>
            </a:r>
            <a:r>
              <a:rPr lang="en-US" dirty="0"/>
              <a:t> </a:t>
            </a:r>
          </a:p>
          <a:p>
            <a:r>
              <a:rPr lang="en-US" sz="1800" b="0" i="0" u="none" strike="noStrike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dirty="0"/>
              <a:t> 	</a:t>
            </a:r>
            <a:r>
              <a:rPr lang="en-US" sz="1800" b="0" i="0" u="none" strike="noStrike" dirty="0">
                <a:solidFill>
                  <a:srgbClr val="FF0000"/>
                </a:solidFill>
                <a:effectLst/>
                <a:latin typeface="Calibri" panose="020F0502020204030204" pitchFamily="34" charset="0"/>
              </a:rPr>
              <a:t>124.3125</a:t>
            </a:r>
            <a:r>
              <a:rPr lang="en-US" dirty="0"/>
              <a:t> 	</a:t>
            </a:r>
            <a:r>
              <a:rPr lang="en-US" sz="1800" b="0" i="0" u="none" strike="noStrike" dirty="0">
                <a:solidFill>
                  <a:srgbClr val="FF0000"/>
                </a:solidFill>
                <a:effectLst/>
                <a:latin typeface="Calibri" panose="020F0502020204030204" pitchFamily="34" charset="0"/>
              </a:rPr>
              <a:t>4492.104167</a:t>
            </a:r>
            <a:r>
              <a:rPr lang="en-US" dirty="0"/>
              <a:t> </a:t>
            </a:r>
          </a:p>
          <a:p>
            <a:r>
              <a:rPr lang="en-US" sz="1800" b="0" i="0" u="none" strike="noStrike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dirty="0"/>
              <a:t> 	</a:t>
            </a:r>
            <a:r>
              <a:rPr lang="en-US" sz="1800" b="0" i="0" u="none" strike="noStrike" dirty="0">
                <a:solidFill>
                  <a:srgbClr val="FF0000"/>
                </a:solidFill>
                <a:effectLst/>
                <a:latin typeface="Calibri" panose="020F0502020204030204" pitchFamily="34" charset="0"/>
              </a:rPr>
              <a:t>323.666667</a:t>
            </a:r>
            <a:r>
              <a:rPr lang="en-US" dirty="0"/>
              <a:t> 	</a:t>
            </a:r>
            <a:r>
              <a:rPr lang="en-US" sz="1800" b="0" i="0" u="none" strike="noStrike" dirty="0">
                <a:solidFill>
                  <a:srgbClr val="FF0000"/>
                </a:solidFill>
                <a:effectLst/>
                <a:latin typeface="Calibri" panose="020F0502020204030204" pitchFamily="34" charset="0"/>
              </a:rPr>
              <a:t>11132.11111</a:t>
            </a:r>
            <a:r>
              <a:rPr lang="en-US" dirty="0"/>
              <a:t> </a:t>
            </a:r>
          </a:p>
          <a:p>
            <a:r>
              <a:rPr lang="en-US" sz="1800" b="0" i="0" u="none" strike="noStrike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dirty="0"/>
              <a:t> 	</a:t>
            </a:r>
            <a:r>
              <a:rPr lang="en-US" sz="1800" b="0" i="0" u="none" strike="noStrike" dirty="0">
                <a:solidFill>
                  <a:srgbClr val="FF0000"/>
                </a:solidFill>
                <a:effectLst/>
                <a:latin typeface="Calibri" panose="020F0502020204030204" pitchFamily="34" charset="0"/>
              </a:rPr>
              <a:t>53.985294</a:t>
            </a:r>
            <a:r>
              <a:rPr lang="en-US" dirty="0"/>
              <a:t> 	</a:t>
            </a:r>
            <a:r>
              <a:rPr lang="en-US" sz="1800" b="0" i="0" u="none" strike="noStrike" dirty="0">
                <a:solidFill>
                  <a:srgbClr val="FF0000"/>
                </a:solidFill>
                <a:effectLst/>
                <a:latin typeface="Calibri" panose="020F0502020204030204" pitchFamily="34" charset="0"/>
              </a:rPr>
              <a:t>1698.882353</a:t>
            </a:r>
            <a:r>
              <a:rPr lang="en-US" dirty="0"/>
              <a:t> </a:t>
            </a:r>
          </a:p>
          <a:p>
            <a:r>
              <a:rPr lang="en-US" sz="1800" b="0" i="0" u="none" strike="noStrike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dirty="0"/>
              <a:t> 	</a:t>
            </a:r>
            <a:r>
              <a:rPr lang="en-US" sz="1800" b="0" i="0" u="none" strike="noStrike" dirty="0">
                <a:solidFill>
                  <a:srgbClr val="FF0000"/>
                </a:solidFill>
                <a:effectLst/>
                <a:latin typeface="Calibri" panose="020F0502020204030204" pitchFamily="34" charset="0"/>
              </a:rPr>
              <a:t>1006.333333</a:t>
            </a:r>
            <a:r>
              <a:rPr lang="en-US" dirty="0"/>
              <a:t> 	</a:t>
            </a:r>
            <a:r>
              <a:rPr lang="en-US" sz="1800" b="0" i="0" u="none" strike="noStrike" dirty="0">
                <a:solidFill>
                  <a:srgbClr val="FF0000"/>
                </a:solidFill>
                <a:effectLst/>
                <a:latin typeface="Calibri" panose="020F0502020204030204" pitchFamily="34" charset="0"/>
              </a:rPr>
              <a:t>22246.33333</a:t>
            </a:r>
            <a:r>
              <a:rPr lang="en-US" dirty="0"/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957B42-9C2E-4808-BE61-1A853C789FAB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752250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957B42-9C2E-4808-BE61-1A853C789FAB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99726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EE00D9-0E8B-4EEB-87D3-6B20B0F560C5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0EDC61-7C13-4097-BB9E-F033F6234A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0910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EE00D9-0E8B-4EEB-87D3-6B20B0F560C5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0EDC61-7C13-4097-BB9E-F033F6234A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13644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EE00D9-0E8B-4EEB-87D3-6B20B0F560C5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0EDC61-7C13-4097-BB9E-F033F6234A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86123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EE00D9-0E8B-4EEB-87D3-6B20B0F560C5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0EDC61-7C13-4097-BB9E-F033F6234A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37702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EE00D9-0E8B-4EEB-87D3-6B20B0F560C5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0EDC61-7C13-4097-BB9E-F033F6234A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46393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EE00D9-0E8B-4EEB-87D3-6B20B0F560C5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0EDC61-7C13-4097-BB9E-F033F6234A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67535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EE00D9-0E8B-4EEB-87D3-6B20B0F560C5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0EDC61-7C13-4097-BB9E-F033F6234A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65008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EE00D9-0E8B-4EEB-87D3-6B20B0F560C5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0EDC61-7C13-4097-BB9E-F033F6234A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71686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EE00D9-0E8B-4EEB-87D3-6B20B0F560C5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0EDC61-7C13-4097-BB9E-F033F6234A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92810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EE00D9-0E8B-4EEB-87D3-6B20B0F560C5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0EDC61-7C13-4097-BB9E-F033F6234A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79044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EE00D9-0E8B-4EEB-87D3-6B20B0F560C5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0EDC61-7C13-4097-BB9E-F033F6234A97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21418733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EE00D9-0E8B-4EEB-87D3-6B20B0F560C5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0EDC61-7C13-4097-BB9E-F033F6234A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753736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EE00D9-0E8B-4EEB-87D3-6B20B0F560C5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0EDC61-7C13-4097-BB9E-F033F6234A97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88654266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EE00D9-0E8B-4EEB-87D3-6B20B0F560C5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0EDC61-7C13-4097-BB9E-F033F6234A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128452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EE00D9-0E8B-4EEB-87D3-6B20B0F560C5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0EDC61-7C13-4097-BB9E-F033F6234A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492975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EE00D9-0E8B-4EEB-87D3-6B20B0F560C5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0EDC61-7C13-4097-BB9E-F033F6234A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41376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4EE00D9-0E8B-4EEB-87D3-6B20B0F560C5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BE0EDC61-7C13-4097-BB9E-F033F6234A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8056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  <p:sldLayoutId id="2147483687" r:id="rId15"/>
    <p:sldLayoutId id="2147483688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629243-0B25-4BAA-B8C5-53022B96E8B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Arkansas Tech Social Media Analytics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46C54AC-81F5-4878-B446-2590D5E0A07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21066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A22F8D-DCBB-4E43-AB3C-C4BA912D22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Question?</a:t>
            </a:r>
          </a:p>
        </p:txBody>
      </p:sp>
      <p:sp>
        <p:nvSpPr>
          <p:cNvPr id="16" name="Content Placeholder 15">
            <a:extLst>
              <a:ext uri="{FF2B5EF4-FFF2-40B4-BE49-F238E27FC236}">
                <a16:creationId xmlns:a16="http://schemas.microsoft.com/office/drawing/2014/main" id="{EB9178E6-BC05-4951-8F77-2F100E4F1F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How can we increase social media growth through post analytics? </a:t>
            </a:r>
          </a:p>
          <a:p>
            <a:endParaRPr lang="en-US" dirty="0"/>
          </a:p>
          <a:p>
            <a:r>
              <a:rPr lang="en-US" dirty="0"/>
              <a:t>Algorithm </a:t>
            </a:r>
          </a:p>
          <a:p>
            <a:r>
              <a:rPr lang="en-US" dirty="0"/>
              <a:t>Psychology</a:t>
            </a:r>
          </a:p>
        </p:txBody>
      </p:sp>
    </p:spTree>
    <p:extLst>
      <p:ext uri="{BB962C8B-B14F-4D97-AF65-F5344CB8AC3E}">
        <p14:creationId xmlns:p14="http://schemas.microsoft.com/office/powerpoint/2010/main" val="10648689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5B6076-927C-41CC-ADF0-F28A097E97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464" y="776632"/>
            <a:ext cx="8596668" cy="3880773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endParaRPr lang="en-US" sz="9600" dirty="0"/>
          </a:p>
          <a:p>
            <a:pPr marL="0" indent="0" algn="ctr">
              <a:buNone/>
            </a:pPr>
            <a:r>
              <a:rPr lang="en-US" sz="9600" dirty="0"/>
              <a:t>GRM</a:t>
            </a:r>
          </a:p>
        </p:txBody>
      </p:sp>
    </p:spTree>
    <p:extLst>
      <p:ext uri="{BB962C8B-B14F-4D97-AF65-F5344CB8AC3E}">
        <p14:creationId xmlns:p14="http://schemas.microsoft.com/office/powerpoint/2010/main" val="27047636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8BC594-06BB-457E-8F1A-DE099DEC49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DBF1E62-0D49-4D8A-9D28-091A3B800AC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</p:spPr>
      </p:pic>
    </p:spTree>
    <p:extLst>
      <p:ext uri="{BB962C8B-B14F-4D97-AF65-F5344CB8AC3E}">
        <p14:creationId xmlns:p14="http://schemas.microsoft.com/office/powerpoint/2010/main" val="36640107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C70A08-B945-487F-8E70-E1C6348454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1ECEBEC-04C5-4459-866E-B00088A578C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847897"/>
            <a:ext cx="10515600" cy="5153891"/>
          </a:xfrm>
        </p:spPr>
      </p:pic>
    </p:spTree>
    <p:extLst>
      <p:ext uri="{BB962C8B-B14F-4D97-AF65-F5344CB8AC3E}">
        <p14:creationId xmlns:p14="http://schemas.microsoft.com/office/powerpoint/2010/main" val="19451932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74597D-1EBE-488C-A05D-D0CA02F7B4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Regression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BD400AA-B24F-4F1E-BB69-742A6DB3CD7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7517" y="2111880"/>
            <a:ext cx="10776965" cy="2634239"/>
          </a:xfrm>
        </p:spPr>
      </p:pic>
    </p:spTree>
    <p:extLst>
      <p:ext uri="{BB962C8B-B14F-4D97-AF65-F5344CB8AC3E}">
        <p14:creationId xmlns:p14="http://schemas.microsoft.com/office/powerpoint/2010/main" val="1298253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42BFD7-A845-4054-95CC-F67BDFA275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US" dirty="0"/>
            </a:b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E25A986-11D4-4784-8409-61868FFA0E5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909" y="1713498"/>
            <a:ext cx="6095930" cy="2015344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87A46BB-DD88-4138-B36A-131310B9A95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909" y="4284133"/>
            <a:ext cx="6095929" cy="246864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0D56313-4E34-4A2C-A087-683C1891F363}"/>
              </a:ext>
            </a:extLst>
          </p:cNvPr>
          <p:cNvSpPr txBox="1"/>
          <p:nvPr/>
        </p:nvSpPr>
        <p:spPr>
          <a:xfrm>
            <a:off x="431799" y="1207531"/>
            <a:ext cx="25992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Reels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1DEC791-2E37-473F-A4A4-4BB6D567A5AF}"/>
              </a:ext>
            </a:extLst>
          </p:cNvPr>
          <p:cNvSpPr txBox="1"/>
          <p:nvPr/>
        </p:nvSpPr>
        <p:spPr>
          <a:xfrm>
            <a:off x="431798" y="3899761"/>
            <a:ext cx="25992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Carousel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0D2E48C-FB0E-4C66-9563-B5E729D41C8B}"/>
              </a:ext>
            </a:extLst>
          </p:cNvPr>
          <p:cNvSpPr txBox="1"/>
          <p:nvPr/>
        </p:nvSpPr>
        <p:spPr>
          <a:xfrm>
            <a:off x="8339666" y="2963331"/>
            <a:ext cx="25992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Images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11525264-B848-4ECA-BA62-D2501BAB1E3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76435" y="3327399"/>
            <a:ext cx="6415565" cy="15613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0165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A503F8-50A2-46D3-B90A-7B5698D600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Feature Importance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EA1ABD4F-DCBE-4EF6-974E-AEF5E39582E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7863" y="3063662"/>
            <a:ext cx="8596312" cy="2075289"/>
          </a:xfrm>
        </p:spPr>
      </p:pic>
    </p:spTree>
    <p:extLst>
      <p:ext uri="{BB962C8B-B14F-4D97-AF65-F5344CB8AC3E}">
        <p14:creationId xmlns:p14="http://schemas.microsoft.com/office/powerpoint/2010/main" val="40081372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989C17-4F50-45F7-A91B-436D8F4457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Cluster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B6A3E19-4E2E-4263-8708-BD52414703B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7863" y="3055244"/>
            <a:ext cx="8596312" cy="2092125"/>
          </a:xfrm>
        </p:spPr>
      </p:pic>
      <p:sp>
        <p:nvSpPr>
          <p:cNvPr id="6" name="Oval 5">
            <a:extLst>
              <a:ext uri="{FF2B5EF4-FFF2-40B4-BE49-F238E27FC236}">
                <a16:creationId xmlns:a16="http://schemas.microsoft.com/office/drawing/2014/main" id="{55689BE9-DCCC-469E-8CA1-9AAB2F043E2F}"/>
              </a:ext>
            </a:extLst>
          </p:cNvPr>
          <p:cNvSpPr/>
          <p:nvPr/>
        </p:nvSpPr>
        <p:spPr>
          <a:xfrm>
            <a:off x="1219200" y="3733801"/>
            <a:ext cx="4210050" cy="933449"/>
          </a:xfrm>
          <a:prstGeom prst="ellipse">
            <a:avLst/>
          </a:prstGeom>
          <a:noFill/>
          <a:ln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6A60CC85-C09F-473C-BFFE-B4E0D11FC50B}"/>
              </a:ext>
            </a:extLst>
          </p:cNvPr>
          <p:cNvSpPr/>
          <p:nvPr/>
        </p:nvSpPr>
        <p:spPr>
          <a:xfrm>
            <a:off x="2990850" y="2743200"/>
            <a:ext cx="7391400" cy="533400"/>
          </a:xfrm>
          <a:prstGeom prst="ellipse">
            <a:avLst/>
          </a:prstGeom>
          <a:noFill/>
          <a:ln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57303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6C79B9-EB15-47C4-993C-2FB13D5EF1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Text Analysis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A93EF8-36E4-4FBA-B439-4DD9AD0A99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Sentiment -1:1 negative – positive wording</a:t>
            </a:r>
          </a:p>
          <a:p>
            <a:r>
              <a:rPr lang="en-US" dirty="0"/>
              <a:t>Subjectivity: 0:1 factual – opinionated</a:t>
            </a:r>
          </a:p>
          <a:p>
            <a:endParaRPr lang="en-US" dirty="0"/>
          </a:p>
          <a:p>
            <a:r>
              <a:rPr lang="en-US" dirty="0"/>
              <a:t>Characters = 301</a:t>
            </a:r>
          </a:p>
          <a:p>
            <a:r>
              <a:rPr lang="en-US" dirty="0"/>
              <a:t>Words = 43</a:t>
            </a:r>
          </a:p>
        </p:txBody>
      </p:sp>
    </p:spTree>
    <p:extLst>
      <p:ext uri="{BB962C8B-B14F-4D97-AF65-F5344CB8AC3E}">
        <p14:creationId xmlns:p14="http://schemas.microsoft.com/office/powerpoint/2010/main" val="5702004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2E5D0B-1DF7-4EB9-A1D0-D66E76D819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200D366-987C-4866-9771-53B5DAE9A96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2903" y="518984"/>
            <a:ext cx="11311763" cy="5820031"/>
          </a:xfrm>
        </p:spPr>
      </p:pic>
    </p:spTree>
    <p:extLst>
      <p:ext uri="{BB962C8B-B14F-4D97-AF65-F5344CB8AC3E}">
        <p14:creationId xmlns:p14="http://schemas.microsoft.com/office/powerpoint/2010/main" val="16617805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012F4D-A7D8-46C2-82E6-544FB677E3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Findings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C03E82-2625-4DCD-83F9-16EFE3035E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Keep descriptions short</a:t>
            </a:r>
          </a:p>
          <a:p>
            <a:r>
              <a:rPr lang="en-US" dirty="0"/>
              <a:t>Post on Fridays (8 am / 10 pm)</a:t>
            </a:r>
          </a:p>
          <a:p>
            <a:r>
              <a:rPr lang="en-US" dirty="0"/>
              <a:t>Keep a similar feel to other post that went viral</a:t>
            </a:r>
          </a:p>
          <a:p>
            <a:r>
              <a:rPr lang="en-US" dirty="0"/>
              <a:t>Push more views </a:t>
            </a:r>
          </a:p>
        </p:txBody>
      </p:sp>
    </p:spTree>
    <p:extLst>
      <p:ext uri="{BB962C8B-B14F-4D97-AF65-F5344CB8AC3E}">
        <p14:creationId xmlns:p14="http://schemas.microsoft.com/office/powerpoint/2010/main" val="3394391066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1497</TotalTime>
  <Words>109</Words>
  <Application>Microsoft Office PowerPoint</Application>
  <PresentationFormat>Widescreen</PresentationFormat>
  <Paragraphs>39</Paragraphs>
  <Slides>12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Arial</vt:lpstr>
      <vt:lpstr>Calibri</vt:lpstr>
      <vt:lpstr>Consolas</vt:lpstr>
      <vt:lpstr>Trebuchet MS</vt:lpstr>
      <vt:lpstr>Wingdings 3</vt:lpstr>
      <vt:lpstr>Facet</vt:lpstr>
      <vt:lpstr>Arkansas Tech Social Media Analytics</vt:lpstr>
      <vt:lpstr>Question?</vt:lpstr>
      <vt:lpstr>PowerPoint Presentation</vt:lpstr>
      <vt:lpstr>PowerPoint Presentation</vt:lpstr>
      <vt:lpstr>PowerPoint Presentation</vt:lpstr>
      <vt:lpstr>Regression</vt:lpstr>
      <vt:lpstr> </vt:lpstr>
      <vt:lpstr>Feature Importance</vt:lpstr>
      <vt:lpstr>Cluster</vt:lpstr>
      <vt:lpstr>Text Analysis </vt:lpstr>
      <vt:lpstr>PowerPoint Presentation</vt:lpstr>
      <vt:lpstr>Findings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Arkansas Tech Social Media Analytics</dc:title>
  <dc:creator>Tyler Parker</dc:creator>
  <cp:lastModifiedBy>Tyler Parker</cp:lastModifiedBy>
  <cp:revision>9</cp:revision>
  <dcterms:created xsi:type="dcterms:W3CDTF">2026-03-19T16:45:10Z</dcterms:created>
  <dcterms:modified xsi:type="dcterms:W3CDTF">2026-03-20T17:42:34Z</dcterms:modified>
</cp:coreProperties>
</file>
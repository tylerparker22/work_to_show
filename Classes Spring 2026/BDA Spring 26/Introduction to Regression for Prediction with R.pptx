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374" r:id="rId3"/>
    <p:sldId id="375" r:id="rId4"/>
    <p:sldId id="328" r:id="rId5"/>
    <p:sldId id="297" r:id="rId6"/>
    <p:sldId id="351" r:id="rId7"/>
    <p:sldId id="353" r:id="rId8"/>
    <p:sldId id="352" r:id="rId9"/>
    <p:sldId id="354" r:id="rId10"/>
    <p:sldId id="355" r:id="rId11"/>
    <p:sldId id="357" r:id="rId12"/>
    <p:sldId id="358" r:id="rId13"/>
    <p:sldId id="338" r:id="rId14"/>
    <p:sldId id="337" r:id="rId15"/>
    <p:sldId id="359" r:id="rId16"/>
    <p:sldId id="299" r:id="rId17"/>
    <p:sldId id="342" r:id="rId18"/>
    <p:sldId id="365" r:id="rId19"/>
    <p:sldId id="367" r:id="rId20"/>
    <p:sldId id="368" r:id="rId21"/>
    <p:sldId id="369" r:id="rId22"/>
    <p:sldId id="340" r:id="rId23"/>
    <p:sldId id="341" r:id="rId24"/>
    <p:sldId id="283" r:id="rId25"/>
    <p:sldId id="284" r:id="rId26"/>
    <p:sldId id="277" r:id="rId27"/>
    <p:sldId id="286" r:id="rId28"/>
    <p:sldId id="344" r:id="rId29"/>
    <p:sldId id="256" r:id="rId30"/>
    <p:sldId id="348" r:id="rId31"/>
    <p:sldId id="331" r:id="rId32"/>
    <p:sldId id="335" r:id="rId33"/>
    <p:sldId id="370" r:id="rId34"/>
    <p:sldId id="371" r:id="rId35"/>
    <p:sldId id="332" r:id="rId36"/>
    <p:sldId id="334" r:id="rId37"/>
    <p:sldId id="361" r:id="rId38"/>
    <p:sldId id="362" r:id="rId39"/>
    <p:sldId id="372" r:id="rId40"/>
    <p:sldId id="373"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FEA1D3-A62A-4D66-989E-E922B5575C27}" v="1" dt="2026-03-31T14:41:46.1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119" autoAdjust="0"/>
    <p:restoredTop sz="80720" autoAdjust="0"/>
  </p:normalViewPr>
  <p:slideViewPr>
    <p:cSldViewPr>
      <p:cViewPr>
        <p:scale>
          <a:sx n="120" d="100"/>
          <a:sy n="120" d="100"/>
        </p:scale>
        <p:origin x="84" y="-7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Parker" userId="d600db0a132671fc" providerId="LiveId" clId="{604D48C0-C6CD-4CFE-A0AF-6B69BDB117D4}"/>
    <pc:docChg chg="custSel modSld">
      <pc:chgData name="Tyler Parker" userId="d600db0a132671fc" providerId="LiveId" clId="{604D48C0-C6CD-4CFE-A0AF-6B69BDB117D4}" dt="2026-03-31T15:05:25.238" v="171" actId="20577"/>
      <pc:docMkLst>
        <pc:docMk/>
      </pc:docMkLst>
      <pc:sldChg chg="modSp">
        <pc:chgData name="Tyler Parker" userId="d600db0a132671fc" providerId="LiveId" clId="{604D48C0-C6CD-4CFE-A0AF-6B69BDB117D4}" dt="2026-03-31T14:41:46.100" v="0"/>
        <pc:sldMkLst>
          <pc:docMk/>
          <pc:sldMk cId="853238591" sldId="344"/>
        </pc:sldMkLst>
        <pc:spChg chg="mod">
          <ac:chgData name="Tyler Parker" userId="d600db0a132671fc" providerId="LiveId" clId="{604D48C0-C6CD-4CFE-A0AF-6B69BDB117D4}" dt="2026-03-31T14:41:46.100" v="0"/>
          <ac:spMkLst>
            <pc:docMk/>
            <pc:sldMk cId="853238591" sldId="344"/>
            <ac:spMk id="3" creationId="{9D9E9922-BE0E-483C-991D-6997179B0E78}"/>
          </ac:spMkLst>
        </pc:spChg>
      </pc:sldChg>
      <pc:sldChg chg="modNotesTx">
        <pc:chgData name="Tyler Parker" userId="d600db0a132671fc" providerId="LiveId" clId="{604D48C0-C6CD-4CFE-A0AF-6B69BDB117D4}" dt="2026-03-31T15:05:25.238" v="171" actId="20577"/>
        <pc:sldMkLst>
          <pc:docMk/>
          <pc:sldMk cId="2123155914" sldId="359"/>
        </pc:sldMkLst>
      </pc:sldChg>
      <pc:sldChg chg="modNotesTx">
        <pc:chgData name="Tyler Parker" userId="d600db0a132671fc" providerId="LiveId" clId="{604D48C0-C6CD-4CFE-A0AF-6B69BDB117D4}" dt="2026-03-31T14:46:03.012" v="43" actId="20577"/>
        <pc:sldMkLst>
          <pc:docMk/>
          <pc:sldMk cId="4044583623" sldId="3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33BB88-DA0C-4753-B77C-53FDB3A6A6E2}" type="datetimeFigureOut">
              <a:rPr lang="en-US" smtClean="0"/>
              <a:t>3/31/2026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065224-E448-4B7B-BDD4-17EE2211FDF8}" type="slidenum">
              <a:rPr lang="en-US" smtClean="0"/>
              <a:t>‹#›</a:t>
            </a:fld>
            <a:endParaRPr lang="en-US"/>
          </a:p>
        </p:txBody>
      </p:sp>
    </p:spTree>
    <p:extLst>
      <p:ext uri="{BB962C8B-B14F-4D97-AF65-F5344CB8AC3E}">
        <p14:creationId xmlns:p14="http://schemas.microsoft.com/office/powerpoint/2010/main" val="3579225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quantify your error.</a:t>
            </a:r>
          </a:p>
        </p:txBody>
      </p:sp>
      <p:sp>
        <p:nvSpPr>
          <p:cNvPr id="4" name="Slide Number Placeholder 3"/>
          <p:cNvSpPr>
            <a:spLocks noGrp="1"/>
          </p:cNvSpPr>
          <p:nvPr>
            <p:ph type="sldNum" sz="quarter" idx="5"/>
          </p:nvPr>
        </p:nvSpPr>
        <p:spPr/>
        <p:txBody>
          <a:bodyPr/>
          <a:lstStyle/>
          <a:p>
            <a:fld id="{FE065224-E448-4B7B-BDD4-17EE2211FDF8}" type="slidenum">
              <a:rPr lang="en-US" smtClean="0"/>
              <a:t>3</a:t>
            </a:fld>
            <a:endParaRPr lang="en-US"/>
          </a:p>
        </p:txBody>
      </p:sp>
    </p:spTree>
    <p:extLst>
      <p:ext uri="{BB962C8B-B14F-4D97-AF65-F5344CB8AC3E}">
        <p14:creationId xmlns:p14="http://schemas.microsoft.com/office/powerpoint/2010/main" val="3331428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 RMSE x2 to get +- how off it is. </a:t>
            </a:r>
          </a:p>
          <a:p>
            <a:endParaRPr lang="en-US" dirty="0"/>
          </a:p>
          <a:p>
            <a:r>
              <a:rPr lang="en-US" dirty="0"/>
              <a:t>Better </a:t>
            </a:r>
            <a:r>
              <a:rPr lang="en-US" dirty="0" err="1"/>
              <a:t>Rsquared</a:t>
            </a:r>
            <a:r>
              <a:rPr lang="en-US" dirty="0"/>
              <a:t> </a:t>
            </a:r>
          </a:p>
          <a:p>
            <a:endParaRPr lang="en-US" dirty="0"/>
          </a:p>
          <a:p>
            <a:r>
              <a:rPr lang="en-US" dirty="0"/>
              <a:t>MAE how on average you are wrong. </a:t>
            </a:r>
          </a:p>
        </p:txBody>
      </p:sp>
      <p:sp>
        <p:nvSpPr>
          <p:cNvPr id="4" name="Slide Number Placeholder 3"/>
          <p:cNvSpPr>
            <a:spLocks noGrp="1"/>
          </p:cNvSpPr>
          <p:nvPr>
            <p:ph type="sldNum" sz="quarter" idx="5"/>
          </p:nvPr>
        </p:nvSpPr>
        <p:spPr/>
        <p:txBody>
          <a:bodyPr/>
          <a:lstStyle/>
          <a:p>
            <a:fld id="{FE065224-E448-4B7B-BDD4-17EE2211FDF8}" type="slidenum">
              <a:rPr lang="en-US" smtClean="0"/>
              <a:t>15</a:t>
            </a:fld>
            <a:endParaRPr lang="en-US"/>
          </a:p>
        </p:txBody>
      </p:sp>
    </p:spTree>
    <p:extLst>
      <p:ext uri="{BB962C8B-B14F-4D97-AF65-F5344CB8AC3E}">
        <p14:creationId xmlns:p14="http://schemas.microsoft.com/office/powerpoint/2010/main" val="3713798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065224-E448-4B7B-BDD4-17EE2211FDF8}" type="slidenum">
              <a:rPr lang="en-US" smtClean="0"/>
              <a:t>24</a:t>
            </a:fld>
            <a:endParaRPr lang="en-US"/>
          </a:p>
        </p:txBody>
      </p:sp>
    </p:spTree>
    <p:extLst>
      <p:ext uri="{BB962C8B-B14F-4D97-AF65-F5344CB8AC3E}">
        <p14:creationId xmlns:p14="http://schemas.microsoft.com/office/powerpoint/2010/main" val="2454727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54FA8E-F722-43F6-AA01-1CDFB64428AB}" type="datetimeFigureOut">
              <a:rPr lang="en-US" smtClean="0"/>
              <a:pPr/>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A54FA8E-F722-43F6-AA01-1CDFB64428AB}" type="datetimeFigureOut">
              <a:rPr lang="en-US" smtClean="0"/>
              <a:pPr/>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54FA8E-F722-43F6-AA01-1CDFB64428AB}" type="datetimeFigureOut">
              <a:rPr lang="en-US" smtClean="0"/>
              <a:pPr/>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54FA8E-F722-43F6-AA01-1CDFB64428AB}" type="datetimeFigureOut">
              <a:rPr lang="en-US" smtClean="0"/>
              <a:pPr/>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4FA8E-F722-43F6-AA01-1CDFB64428AB}" type="datetimeFigureOut">
              <a:rPr lang="en-US" smtClean="0"/>
              <a:pPr/>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4BF69-90B8-492B-A758-F22E03C5846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54FA8E-F722-43F6-AA01-1CDFB64428AB}" type="datetimeFigureOut">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394BF69-90B8-492B-A758-F22E03C5846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Regression for Predictive Modeling</a:t>
            </a:r>
            <a:br>
              <a:rPr lang="en-US" dirty="0"/>
            </a:b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B57DD-B8C7-4630-86BE-E885E7DE82A6}"/>
              </a:ext>
            </a:extLst>
          </p:cNvPr>
          <p:cNvSpPr>
            <a:spLocks noGrp="1"/>
          </p:cNvSpPr>
          <p:nvPr>
            <p:ph type="title"/>
          </p:nvPr>
        </p:nvSpPr>
        <p:spPr/>
        <p:txBody>
          <a:bodyPr>
            <a:normAutofit fontScale="90000"/>
          </a:bodyPr>
          <a:lstStyle/>
          <a:p>
            <a:r>
              <a:rPr lang="en-US" dirty="0"/>
              <a:t>Regression for Predictive Modeling vs Hypothesis Testing</a:t>
            </a:r>
          </a:p>
        </p:txBody>
      </p:sp>
      <p:sp>
        <p:nvSpPr>
          <p:cNvPr id="4" name="Text Placeholder 3">
            <a:extLst>
              <a:ext uri="{FF2B5EF4-FFF2-40B4-BE49-F238E27FC236}">
                <a16:creationId xmlns:a16="http://schemas.microsoft.com/office/drawing/2014/main" id="{3A832080-77FA-41FF-819F-4CF5B82C67F7}"/>
              </a:ext>
            </a:extLst>
          </p:cNvPr>
          <p:cNvSpPr>
            <a:spLocks noGrp="1"/>
          </p:cNvSpPr>
          <p:nvPr>
            <p:ph type="body" idx="1"/>
          </p:nvPr>
        </p:nvSpPr>
        <p:spPr/>
        <p:txBody>
          <a:bodyPr/>
          <a:lstStyle/>
          <a:p>
            <a:r>
              <a:rPr lang="en-US" dirty="0"/>
              <a:t>Hypothesis Testing</a:t>
            </a:r>
          </a:p>
        </p:txBody>
      </p:sp>
      <p:sp>
        <p:nvSpPr>
          <p:cNvPr id="5" name="Content Placeholder 4">
            <a:extLst>
              <a:ext uri="{FF2B5EF4-FFF2-40B4-BE49-F238E27FC236}">
                <a16:creationId xmlns:a16="http://schemas.microsoft.com/office/drawing/2014/main" id="{56E19C86-34F6-455F-905A-801C1B287074}"/>
              </a:ext>
            </a:extLst>
          </p:cNvPr>
          <p:cNvSpPr>
            <a:spLocks noGrp="1"/>
          </p:cNvSpPr>
          <p:nvPr>
            <p:ph sz="half" idx="2"/>
          </p:nvPr>
        </p:nvSpPr>
        <p:spPr/>
        <p:txBody>
          <a:bodyPr>
            <a:normAutofit lnSpcReduction="10000"/>
          </a:bodyPr>
          <a:lstStyle/>
          <a:p>
            <a:r>
              <a:rPr lang="en-US" dirty="0"/>
              <a:t>Data should be from a designed experiment</a:t>
            </a:r>
          </a:p>
          <a:p>
            <a:r>
              <a:rPr lang="en-US" dirty="0"/>
              <a:t>All data are used</a:t>
            </a:r>
          </a:p>
          <a:p>
            <a:r>
              <a:rPr lang="en-US" dirty="0"/>
              <a:t>The purpose of the analysis is hypothesis testing, the analysis ends after a conclusion in regards to the null hypothesis (using the p-value) is made and summarized</a:t>
            </a:r>
          </a:p>
        </p:txBody>
      </p:sp>
      <p:sp>
        <p:nvSpPr>
          <p:cNvPr id="6" name="Text Placeholder 5">
            <a:extLst>
              <a:ext uri="{FF2B5EF4-FFF2-40B4-BE49-F238E27FC236}">
                <a16:creationId xmlns:a16="http://schemas.microsoft.com/office/drawing/2014/main" id="{A4D97E19-DA09-40FF-A246-D3632BD3F95D}"/>
              </a:ext>
            </a:extLst>
          </p:cNvPr>
          <p:cNvSpPr>
            <a:spLocks noGrp="1"/>
          </p:cNvSpPr>
          <p:nvPr>
            <p:ph type="body" sz="quarter" idx="3"/>
          </p:nvPr>
        </p:nvSpPr>
        <p:spPr/>
        <p:txBody>
          <a:bodyPr/>
          <a:lstStyle/>
          <a:p>
            <a:r>
              <a:rPr lang="en-US" dirty="0"/>
              <a:t>Predictive Modeling</a:t>
            </a:r>
          </a:p>
        </p:txBody>
      </p:sp>
      <p:sp>
        <p:nvSpPr>
          <p:cNvPr id="7" name="Content Placeholder 6">
            <a:extLst>
              <a:ext uri="{FF2B5EF4-FFF2-40B4-BE49-F238E27FC236}">
                <a16:creationId xmlns:a16="http://schemas.microsoft.com/office/drawing/2014/main" id="{152DF7F5-D82B-4BCF-AD3C-D4EB24CD41BE}"/>
              </a:ext>
            </a:extLst>
          </p:cNvPr>
          <p:cNvSpPr>
            <a:spLocks noGrp="1"/>
          </p:cNvSpPr>
          <p:nvPr>
            <p:ph sz="quarter" idx="4"/>
          </p:nvPr>
        </p:nvSpPr>
        <p:spPr/>
        <p:txBody>
          <a:bodyPr>
            <a:normAutofit lnSpcReduction="10000"/>
          </a:bodyPr>
          <a:lstStyle/>
          <a:p>
            <a:r>
              <a:rPr lang="en-US" dirty="0"/>
              <a:t>Data are often from an existing database (data driven analysis)</a:t>
            </a:r>
          </a:p>
          <a:p>
            <a:r>
              <a:rPr lang="en-US" dirty="0"/>
              <a:t>Data are divided into training and testing sets</a:t>
            </a:r>
          </a:p>
          <a:p>
            <a:r>
              <a:rPr lang="en-US" dirty="0"/>
              <a:t>We want to see significant hypothesis tests, but more importantly we want to quantify prediction error and uncertainty through test/validation data</a:t>
            </a:r>
          </a:p>
        </p:txBody>
      </p:sp>
    </p:spTree>
    <p:extLst>
      <p:ext uri="{BB962C8B-B14F-4D97-AF65-F5344CB8AC3E}">
        <p14:creationId xmlns:p14="http://schemas.microsoft.com/office/powerpoint/2010/main" val="1355781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3200" dirty="0"/>
            </a:br>
            <a:r>
              <a:rPr lang="en-US" sz="3200" dirty="0"/>
              <a:t>Keys Points in Professional Predictive Models</a:t>
            </a:r>
          </a:p>
        </p:txBody>
      </p:sp>
      <p:sp>
        <p:nvSpPr>
          <p:cNvPr id="3" name="Content Placeholder 2"/>
          <p:cNvSpPr>
            <a:spLocks noGrp="1"/>
          </p:cNvSpPr>
          <p:nvPr>
            <p:ph idx="1"/>
          </p:nvPr>
        </p:nvSpPr>
        <p:spPr/>
        <p:txBody>
          <a:bodyPr>
            <a:normAutofit lnSpcReduction="10000"/>
          </a:bodyPr>
          <a:lstStyle/>
          <a:p>
            <a:r>
              <a:rPr lang="en-US" sz="2800" dirty="0"/>
              <a:t>Before a business uses a model, it should ALWAYS be evaluated on a set of data NOT use to build the model (this can be done with a simple split of available data into training and testing data sets, or through cross validation with folding)</a:t>
            </a:r>
          </a:p>
          <a:p>
            <a:r>
              <a:rPr lang="en-US" sz="2800" dirty="0"/>
              <a:t>The uncertainty in a prediction should ALWAYS be quantified, multiple methods can be used: RMSE, MAE, prediction intervals—the test data (data withheld) should be used for quantifying uncertainty</a:t>
            </a:r>
          </a:p>
          <a:p>
            <a:r>
              <a:rPr lang="en-US" sz="2800" dirty="0"/>
              <a:t>A significant hypothesis test is a starting point for a predictive model, not evidence of its effectiveness</a:t>
            </a:r>
          </a:p>
        </p:txBody>
      </p:sp>
    </p:spTree>
    <p:extLst>
      <p:ext uri="{BB962C8B-B14F-4D97-AF65-F5344CB8AC3E}">
        <p14:creationId xmlns:p14="http://schemas.microsoft.com/office/powerpoint/2010/main" val="4044583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3200" dirty="0"/>
            </a:br>
            <a:r>
              <a:rPr lang="en-US" sz="3200" dirty="0"/>
              <a:t>Training and Test Data Sets</a:t>
            </a:r>
          </a:p>
        </p:txBody>
      </p:sp>
      <p:sp>
        <p:nvSpPr>
          <p:cNvPr id="3" name="Content Placeholder 2"/>
          <p:cNvSpPr>
            <a:spLocks noGrp="1"/>
          </p:cNvSpPr>
          <p:nvPr>
            <p:ph idx="1"/>
          </p:nvPr>
        </p:nvSpPr>
        <p:spPr/>
        <p:txBody>
          <a:bodyPr>
            <a:normAutofit fontScale="92500" lnSpcReduction="20000"/>
          </a:bodyPr>
          <a:lstStyle/>
          <a:p>
            <a:r>
              <a:rPr lang="en-US" sz="2800" dirty="0"/>
              <a:t>Dividing your data into a training and test data set and trying out your model on the test data is a minimum expectation for all predictive modeling problems (regression, random forests, artificial neural networks, etc.)</a:t>
            </a:r>
          </a:p>
          <a:p>
            <a:r>
              <a:rPr lang="en-US" sz="2800" dirty="0"/>
              <a:t>The idea is you only use a portion of the available data to build or “train” your model (or other data mining technique)</a:t>
            </a:r>
          </a:p>
          <a:p>
            <a:r>
              <a:rPr lang="en-US" sz="2800" dirty="0"/>
              <a:t>The other portion of the data is withheld and then used to test the model to provide a non-biased view of how the model performs</a:t>
            </a:r>
          </a:p>
          <a:p>
            <a:r>
              <a:rPr lang="en-US" sz="2800" dirty="0"/>
              <a:t>The test data set is also sometimes called a “validation” data set</a:t>
            </a:r>
          </a:p>
        </p:txBody>
      </p:sp>
    </p:spTree>
    <p:extLst>
      <p:ext uri="{BB962C8B-B14F-4D97-AF65-F5344CB8AC3E}">
        <p14:creationId xmlns:p14="http://schemas.microsoft.com/office/powerpoint/2010/main" val="318249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Splitting the data into training and test data sets</a:t>
            </a:r>
          </a:p>
        </p:txBody>
      </p:sp>
      <p:sp>
        <p:nvSpPr>
          <p:cNvPr id="3" name="Content Placeholder 2"/>
          <p:cNvSpPr>
            <a:spLocks noGrp="1"/>
          </p:cNvSpPr>
          <p:nvPr>
            <p:ph idx="1"/>
          </p:nvPr>
        </p:nvSpPr>
        <p:spPr/>
        <p:txBody>
          <a:bodyPr>
            <a:normAutofit fontScale="92500" lnSpcReduction="10000"/>
          </a:bodyPr>
          <a:lstStyle/>
          <a:p>
            <a:r>
              <a:rPr lang="en-US" dirty="0"/>
              <a:t>Generally, we want to divide the data randomly (this can be done by using pseudo-random number generation and then sorting the data based on the random numbers) </a:t>
            </a:r>
          </a:p>
          <a:p>
            <a:r>
              <a:rPr lang="en-US" dirty="0"/>
              <a:t>How we divide the data into test and training sets can vary, typically you want more data in the training data set than the test data set</a:t>
            </a:r>
          </a:p>
          <a:p>
            <a:r>
              <a:rPr lang="en-US" dirty="0"/>
              <a:t>A common practice is to use 50 to 80% of the data for building the model and the other 20 to 50% of the data for testing the model</a:t>
            </a:r>
          </a:p>
        </p:txBody>
      </p:sp>
    </p:spTree>
    <p:extLst>
      <p:ext uri="{BB962C8B-B14F-4D97-AF65-F5344CB8AC3E}">
        <p14:creationId xmlns:p14="http://schemas.microsoft.com/office/powerpoint/2010/main" val="3181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557F-0BF9-4C78-A2D0-0B795B2B3314}"/>
              </a:ext>
            </a:extLst>
          </p:cNvPr>
          <p:cNvSpPr>
            <a:spLocks noGrp="1"/>
          </p:cNvSpPr>
          <p:nvPr>
            <p:ph type="title"/>
          </p:nvPr>
        </p:nvSpPr>
        <p:spPr/>
        <p:txBody>
          <a:bodyPr/>
          <a:lstStyle/>
          <a:p>
            <a:r>
              <a:rPr lang="en-US" dirty="0"/>
              <a:t>Cross validation with folding</a:t>
            </a:r>
          </a:p>
        </p:txBody>
      </p:sp>
      <p:sp>
        <p:nvSpPr>
          <p:cNvPr id="3" name="Content Placeholder 2">
            <a:extLst>
              <a:ext uri="{FF2B5EF4-FFF2-40B4-BE49-F238E27FC236}">
                <a16:creationId xmlns:a16="http://schemas.microsoft.com/office/drawing/2014/main" id="{CC31311F-3863-414D-A6D6-59E6B0458620}"/>
              </a:ext>
            </a:extLst>
          </p:cNvPr>
          <p:cNvSpPr>
            <a:spLocks noGrp="1"/>
          </p:cNvSpPr>
          <p:nvPr>
            <p:ph idx="1"/>
          </p:nvPr>
        </p:nvSpPr>
        <p:spPr/>
        <p:txBody>
          <a:bodyPr>
            <a:normAutofit fontScale="85000" lnSpcReduction="20000"/>
          </a:bodyPr>
          <a:lstStyle/>
          <a:p>
            <a:r>
              <a:rPr lang="en-US" dirty="0"/>
              <a:t>An innovating way of dividing data into training and test data that is commonly used for model building is “cross validation with folding”</a:t>
            </a:r>
          </a:p>
          <a:p>
            <a:r>
              <a:rPr lang="en-US" dirty="0"/>
              <a:t>The idea is to create multiple training data and test data sets from the data available to build a model (with clever replacement to get the most out of our data) </a:t>
            </a:r>
          </a:p>
          <a:p>
            <a:r>
              <a:rPr lang="en-US" dirty="0"/>
              <a:t>The training data are still used to build the model and the test data are still used to evaluate the model’s performance</a:t>
            </a:r>
          </a:p>
          <a:p>
            <a:r>
              <a:rPr lang="en-US" dirty="0"/>
              <a:t>In cross validation, the test data are called “out of sample” data, and the error calculated on the test data will be called “out of sample error” or “OOS error”</a:t>
            </a:r>
          </a:p>
        </p:txBody>
      </p:sp>
    </p:spTree>
    <p:extLst>
      <p:ext uri="{BB962C8B-B14F-4D97-AF65-F5344CB8AC3E}">
        <p14:creationId xmlns:p14="http://schemas.microsoft.com/office/powerpoint/2010/main" val="77460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557F-0BF9-4C78-A2D0-0B795B2B3314}"/>
              </a:ext>
            </a:extLst>
          </p:cNvPr>
          <p:cNvSpPr>
            <a:spLocks noGrp="1"/>
          </p:cNvSpPr>
          <p:nvPr>
            <p:ph type="title"/>
          </p:nvPr>
        </p:nvSpPr>
        <p:spPr/>
        <p:txBody>
          <a:bodyPr>
            <a:normAutofit fontScale="90000"/>
          </a:bodyPr>
          <a:lstStyle/>
          <a:p>
            <a:r>
              <a:rPr lang="en-US" dirty="0"/>
              <a:t>Cross validation with folding (continued)</a:t>
            </a:r>
          </a:p>
        </p:txBody>
      </p:sp>
      <p:sp>
        <p:nvSpPr>
          <p:cNvPr id="3" name="Content Placeholder 2">
            <a:extLst>
              <a:ext uri="{FF2B5EF4-FFF2-40B4-BE49-F238E27FC236}">
                <a16:creationId xmlns:a16="http://schemas.microsoft.com/office/drawing/2014/main" id="{CC31311F-3863-414D-A6D6-59E6B0458620}"/>
              </a:ext>
            </a:extLst>
          </p:cNvPr>
          <p:cNvSpPr>
            <a:spLocks noGrp="1"/>
          </p:cNvSpPr>
          <p:nvPr>
            <p:ph idx="1"/>
          </p:nvPr>
        </p:nvSpPr>
        <p:spPr/>
        <p:txBody>
          <a:bodyPr>
            <a:normAutofit/>
          </a:bodyPr>
          <a:lstStyle/>
          <a:p>
            <a:r>
              <a:rPr lang="en-US" dirty="0"/>
              <a:t>The number of “folds” must be selected (a good number of folds from literature is 5 to 10; we will use 5)</a:t>
            </a:r>
          </a:p>
          <a:p>
            <a:r>
              <a:rPr lang="en-US" dirty="0"/>
              <a:t>On the following slide is an example of how cross validation with folds works on an unrealistically small data set (so that we can see what is happening)</a:t>
            </a:r>
          </a:p>
        </p:txBody>
      </p:sp>
    </p:spTree>
    <p:extLst>
      <p:ext uri="{BB962C8B-B14F-4D97-AF65-F5344CB8AC3E}">
        <p14:creationId xmlns:p14="http://schemas.microsoft.com/office/powerpoint/2010/main" val="3327301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D29F-926D-4C0D-B4D5-D327A427C450}"/>
              </a:ext>
            </a:extLst>
          </p:cNvPr>
          <p:cNvSpPr>
            <a:spLocks noGrp="1"/>
          </p:cNvSpPr>
          <p:nvPr>
            <p:ph type="title"/>
          </p:nvPr>
        </p:nvSpPr>
        <p:spPr/>
        <p:txBody>
          <a:bodyPr>
            <a:normAutofit fontScale="90000"/>
          </a:bodyPr>
          <a:lstStyle/>
          <a:p>
            <a:r>
              <a:rPr lang="en-US" dirty="0"/>
              <a:t>Cross-validation with 5 folds example:</a:t>
            </a:r>
          </a:p>
        </p:txBody>
      </p:sp>
      <p:graphicFrame>
        <p:nvGraphicFramePr>
          <p:cNvPr id="5" name="Content Placeholder 4">
            <a:extLst>
              <a:ext uri="{FF2B5EF4-FFF2-40B4-BE49-F238E27FC236}">
                <a16:creationId xmlns:a16="http://schemas.microsoft.com/office/drawing/2014/main" id="{C696F52D-2B11-45B5-BF73-7D06EF9D4FAE}"/>
              </a:ext>
            </a:extLst>
          </p:cNvPr>
          <p:cNvGraphicFramePr>
            <a:graphicFrameLocks noGrp="1"/>
          </p:cNvGraphicFramePr>
          <p:nvPr>
            <p:ph idx="1"/>
            <p:extLst>
              <p:ext uri="{D42A27DB-BD31-4B8C-83A1-F6EECF244321}">
                <p14:modId xmlns:p14="http://schemas.microsoft.com/office/powerpoint/2010/main" val="318423510"/>
              </p:ext>
            </p:extLst>
          </p:nvPr>
        </p:nvGraphicFramePr>
        <p:xfrm>
          <a:off x="457200" y="1600200"/>
          <a:ext cx="1905000" cy="4079240"/>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479456041"/>
                    </a:ext>
                  </a:extLst>
                </a:gridCol>
                <a:gridCol w="952500">
                  <a:extLst>
                    <a:ext uri="{9D8B030D-6E8A-4147-A177-3AD203B41FA5}">
                      <a16:colId xmlns:a16="http://schemas.microsoft.com/office/drawing/2014/main" val="3831102708"/>
                    </a:ext>
                  </a:extLst>
                </a:gridCol>
              </a:tblGrid>
              <a:tr h="370840">
                <a:tc>
                  <a:txBody>
                    <a:bodyPr/>
                    <a:lstStyle/>
                    <a:p>
                      <a:pPr algn="ctr" fontAlgn="b"/>
                      <a:r>
                        <a:rPr lang="en-US" sz="2000" b="0" i="0" u="none" strike="noStrike">
                          <a:solidFill>
                            <a:srgbClr val="000000"/>
                          </a:solidFill>
                          <a:effectLst/>
                          <a:latin typeface="Calibri" panose="020F0502020204030204" pitchFamily="34" charset="0"/>
                        </a:rPr>
                        <a:t>sqft</a:t>
                      </a:r>
                    </a:p>
                  </a:txBody>
                  <a:tcPr marL="9525" marR="9525" marT="9525" marB="0" anchor="b"/>
                </a:tc>
                <a:tc>
                  <a:txBody>
                    <a:bodyPr/>
                    <a:lstStyle/>
                    <a:p>
                      <a:pPr algn="ctr" fontAlgn="b"/>
                      <a:r>
                        <a:rPr lang="en-US" sz="2000" b="0" i="0" u="none" strike="noStrike" dirty="0" err="1">
                          <a:solidFill>
                            <a:srgbClr val="000000"/>
                          </a:solidFill>
                          <a:effectLst/>
                          <a:latin typeface="Calibri" panose="020F0502020204030204" pitchFamily="34" charset="0"/>
                        </a:rPr>
                        <a:t>saleprice</a:t>
                      </a:r>
                      <a:endParaRPr lang="en-US" sz="20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24499558"/>
                  </a:ext>
                </a:extLst>
              </a:tr>
              <a:tr h="370840">
                <a:tc>
                  <a:txBody>
                    <a:bodyPr/>
                    <a:lstStyle/>
                    <a:p>
                      <a:pPr algn="ctr" fontAlgn="b"/>
                      <a:r>
                        <a:rPr lang="en-US" sz="2000" b="0" i="0" u="none" strike="noStrike">
                          <a:solidFill>
                            <a:srgbClr val="000000"/>
                          </a:solidFill>
                          <a:effectLst/>
                          <a:latin typeface="Calibri" panose="020F0502020204030204" pitchFamily="34" charset="0"/>
                        </a:rPr>
                        <a:t>1326</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66960</a:t>
                      </a:r>
                    </a:p>
                  </a:txBody>
                  <a:tcPr marL="9525" marR="9525" marT="9525" marB="0" anchor="b"/>
                </a:tc>
                <a:extLst>
                  <a:ext uri="{0D108BD9-81ED-4DB2-BD59-A6C34878D82A}">
                    <a16:rowId xmlns:a16="http://schemas.microsoft.com/office/drawing/2014/main" val="1299772918"/>
                  </a:ext>
                </a:extLst>
              </a:tr>
              <a:tr h="370840">
                <a:tc>
                  <a:txBody>
                    <a:bodyPr/>
                    <a:lstStyle/>
                    <a:p>
                      <a:pPr algn="ctr" fontAlgn="b"/>
                      <a:r>
                        <a:rPr lang="en-US" sz="2000" b="0" i="0" u="none" strike="noStrike">
                          <a:solidFill>
                            <a:srgbClr val="000000"/>
                          </a:solidFill>
                          <a:effectLst/>
                          <a:latin typeface="Calibri" panose="020F0502020204030204" pitchFamily="34" charset="0"/>
                        </a:rPr>
                        <a:t>1391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80400</a:t>
                      </a:r>
                    </a:p>
                  </a:txBody>
                  <a:tcPr marL="9525" marR="9525" marT="9525" marB="0" anchor="b"/>
                </a:tc>
                <a:extLst>
                  <a:ext uri="{0D108BD9-81ED-4DB2-BD59-A6C34878D82A}">
                    <a16:rowId xmlns:a16="http://schemas.microsoft.com/office/drawing/2014/main" val="11948399"/>
                  </a:ext>
                </a:extLst>
              </a:tr>
              <a:tr h="370840">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45600</a:t>
                      </a:r>
                    </a:p>
                  </a:txBody>
                  <a:tcPr marL="9525" marR="9525" marT="9525" marB="0" anchor="b"/>
                </a:tc>
                <a:extLst>
                  <a:ext uri="{0D108BD9-81ED-4DB2-BD59-A6C34878D82A}">
                    <a16:rowId xmlns:a16="http://schemas.microsoft.com/office/drawing/2014/main" val="2211645596"/>
                  </a:ext>
                </a:extLst>
              </a:tr>
              <a:tr h="370840">
                <a:tc>
                  <a:txBody>
                    <a:bodyPr/>
                    <a:lstStyle/>
                    <a:p>
                      <a:pPr algn="ctr" fontAlgn="b"/>
                      <a:r>
                        <a:rPr lang="en-US" sz="2000" b="0" i="0" u="none" strike="noStrike">
                          <a:solidFill>
                            <a:srgbClr val="000000"/>
                          </a:solidFill>
                          <a:effectLst/>
                          <a:latin typeface="Calibri" panose="020F0502020204030204" pitchFamily="34" charset="0"/>
                        </a:rPr>
                        <a:t>1542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74400</a:t>
                      </a:r>
                    </a:p>
                  </a:txBody>
                  <a:tcPr marL="9525" marR="9525" marT="9525" marB="0" anchor="b"/>
                </a:tc>
                <a:extLst>
                  <a:ext uri="{0D108BD9-81ED-4DB2-BD59-A6C34878D82A}">
                    <a16:rowId xmlns:a16="http://schemas.microsoft.com/office/drawing/2014/main" val="3758980523"/>
                  </a:ext>
                </a:extLst>
              </a:tr>
              <a:tr h="370840">
                <a:tc>
                  <a:txBody>
                    <a:bodyPr/>
                    <a:lstStyle/>
                    <a:p>
                      <a:pPr algn="ctr" fontAlgn="b"/>
                      <a:r>
                        <a:rPr lang="en-US" sz="2000" b="0" i="0" u="none" strike="noStrike">
                          <a:solidFill>
                            <a:srgbClr val="000000"/>
                          </a:solidFill>
                          <a:effectLst/>
                          <a:latin typeface="Calibri" panose="020F0502020204030204" pitchFamily="34" charset="0"/>
                        </a:rPr>
                        <a:t>735</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45360</a:t>
                      </a:r>
                    </a:p>
                  </a:txBody>
                  <a:tcPr marL="9525" marR="9525" marT="9525" marB="0" anchor="b"/>
                </a:tc>
                <a:extLst>
                  <a:ext uri="{0D108BD9-81ED-4DB2-BD59-A6C34878D82A}">
                    <a16:rowId xmlns:a16="http://schemas.microsoft.com/office/drawing/2014/main" val="3101464958"/>
                  </a:ext>
                </a:extLst>
              </a:tr>
              <a:tr h="370840">
                <a:tc>
                  <a:txBody>
                    <a:bodyPr/>
                    <a:lstStyle/>
                    <a:p>
                      <a:pPr algn="ctr" fontAlgn="b"/>
                      <a:r>
                        <a:rPr lang="en-US" sz="2000" b="0" i="0" u="none" strike="noStrike">
                          <a:solidFill>
                            <a:srgbClr val="000000"/>
                          </a:solidFill>
                          <a:effectLst/>
                          <a:latin typeface="Calibri" panose="020F0502020204030204" pitchFamily="34" charset="0"/>
                        </a:rPr>
                        <a:t>1444</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91920</a:t>
                      </a:r>
                    </a:p>
                  </a:txBody>
                  <a:tcPr marL="9525" marR="9525" marT="9525" marB="0" anchor="b"/>
                </a:tc>
                <a:extLst>
                  <a:ext uri="{0D108BD9-81ED-4DB2-BD59-A6C34878D82A}">
                    <a16:rowId xmlns:a16="http://schemas.microsoft.com/office/drawing/2014/main" val="2388342843"/>
                  </a:ext>
                </a:extLst>
              </a:tr>
              <a:tr h="370840">
                <a:tc>
                  <a:txBody>
                    <a:bodyPr/>
                    <a:lstStyle/>
                    <a:p>
                      <a:pPr algn="ctr" fontAlgn="b"/>
                      <a:r>
                        <a:rPr lang="en-US" sz="2000" b="0" i="0" u="none" strike="noStrike">
                          <a:solidFill>
                            <a:srgbClr val="000000"/>
                          </a:solidFill>
                          <a:effectLst/>
                          <a:latin typeface="Calibri" panose="020F0502020204030204" pitchFamily="34" charset="0"/>
                        </a:rPr>
                        <a:t>1796</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108000</a:t>
                      </a:r>
                    </a:p>
                  </a:txBody>
                  <a:tcPr marL="9525" marR="9525" marT="9525" marB="0" anchor="b"/>
                </a:tc>
                <a:extLst>
                  <a:ext uri="{0D108BD9-81ED-4DB2-BD59-A6C34878D82A}">
                    <a16:rowId xmlns:a16="http://schemas.microsoft.com/office/drawing/2014/main" val="3374584900"/>
                  </a:ext>
                </a:extLst>
              </a:tr>
              <a:tr h="370840">
                <a:tc>
                  <a:txBody>
                    <a:bodyPr/>
                    <a:lstStyle/>
                    <a:p>
                      <a:pPr algn="ctr" fontAlgn="b"/>
                      <a:r>
                        <a:rPr lang="en-US" sz="2000" b="0" i="0" u="none" strike="noStrike">
                          <a:solidFill>
                            <a:srgbClr val="000000"/>
                          </a:solidFill>
                          <a:effectLst/>
                          <a:latin typeface="Calibri" panose="020F0502020204030204" pitchFamily="34" charset="0"/>
                        </a:rPr>
                        <a:t>1770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104400</a:t>
                      </a:r>
                    </a:p>
                  </a:txBody>
                  <a:tcPr marL="9525" marR="9525" marT="9525" marB="0" anchor="b"/>
                </a:tc>
                <a:extLst>
                  <a:ext uri="{0D108BD9-81ED-4DB2-BD59-A6C34878D82A}">
                    <a16:rowId xmlns:a16="http://schemas.microsoft.com/office/drawing/2014/main" val="494521374"/>
                  </a:ext>
                </a:extLst>
              </a:tr>
              <a:tr h="370840">
                <a:tc>
                  <a:txBody>
                    <a:bodyPr/>
                    <a:lstStyle/>
                    <a:p>
                      <a:pPr algn="ctr" fontAlgn="b"/>
                      <a:r>
                        <a:rPr lang="en-US" sz="2000" b="0" i="0" u="none" strike="noStrike">
                          <a:solidFill>
                            <a:srgbClr val="000000"/>
                          </a:solidFill>
                          <a:effectLst/>
                          <a:latin typeface="Calibri" panose="020F0502020204030204" pitchFamily="34" charset="0"/>
                        </a:rPr>
                        <a:t>1708</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99600</a:t>
                      </a:r>
                    </a:p>
                  </a:txBody>
                  <a:tcPr marL="9525" marR="9525" marT="9525" marB="0" anchor="b"/>
                </a:tc>
                <a:extLst>
                  <a:ext uri="{0D108BD9-81ED-4DB2-BD59-A6C34878D82A}">
                    <a16:rowId xmlns:a16="http://schemas.microsoft.com/office/drawing/2014/main" val="2804242388"/>
                  </a:ext>
                </a:extLst>
              </a:tr>
              <a:tr h="370840">
                <a:tc>
                  <a:txBody>
                    <a:bodyPr/>
                    <a:lstStyle/>
                    <a:p>
                      <a:pPr algn="ctr" fontAlgn="b"/>
                      <a:r>
                        <a:rPr lang="en-US" sz="2000" b="0" i="0" u="none" strike="noStrike">
                          <a:solidFill>
                            <a:srgbClr val="000000"/>
                          </a:solidFill>
                          <a:effectLst/>
                          <a:latin typeface="Calibri" panose="020F0502020204030204" pitchFamily="34" charset="0"/>
                        </a:rPr>
                        <a:t>1529</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85200</a:t>
                      </a:r>
                    </a:p>
                  </a:txBody>
                  <a:tcPr marL="9525" marR="9525" marT="9525" marB="0" anchor="b"/>
                </a:tc>
                <a:extLst>
                  <a:ext uri="{0D108BD9-81ED-4DB2-BD59-A6C34878D82A}">
                    <a16:rowId xmlns:a16="http://schemas.microsoft.com/office/drawing/2014/main" val="3710858753"/>
                  </a:ext>
                </a:extLst>
              </a:tr>
            </a:tbl>
          </a:graphicData>
        </a:graphic>
      </p:graphicFrame>
      <p:sp>
        <p:nvSpPr>
          <p:cNvPr id="6" name="TextBox 5">
            <a:extLst>
              <a:ext uri="{FF2B5EF4-FFF2-40B4-BE49-F238E27FC236}">
                <a16:creationId xmlns:a16="http://schemas.microsoft.com/office/drawing/2014/main" id="{4117D503-6488-4E34-AD0C-70F5FBB5ADBB}"/>
              </a:ext>
            </a:extLst>
          </p:cNvPr>
          <p:cNvSpPr txBox="1"/>
          <p:nvPr/>
        </p:nvSpPr>
        <p:spPr>
          <a:xfrm>
            <a:off x="3019331" y="1934981"/>
            <a:ext cx="1752600" cy="3139321"/>
          </a:xfrm>
          <a:prstGeom prst="rect">
            <a:avLst/>
          </a:prstGeom>
          <a:noFill/>
        </p:spPr>
        <p:txBody>
          <a:bodyPr wrap="square" rtlCol="0">
            <a:spAutoFit/>
          </a:bodyPr>
          <a:lstStyle/>
          <a:p>
            <a:r>
              <a:rPr lang="en-US" dirty="0">
                <a:solidFill>
                  <a:srgbClr val="FF0000"/>
                </a:solidFill>
              </a:rPr>
              <a:t>Start by dividing the data into 5 folds (this should be done randomly, so in our example we will assume the 10 rows of data have been randomly sorted)</a:t>
            </a:r>
          </a:p>
        </p:txBody>
      </p:sp>
      <p:graphicFrame>
        <p:nvGraphicFramePr>
          <p:cNvPr id="7" name="Content Placeholder 4">
            <a:extLst>
              <a:ext uri="{FF2B5EF4-FFF2-40B4-BE49-F238E27FC236}">
                <a16:creationId xmlns:a16="http://schemas.microsoft.com/office/drawing/2014/main" id="{837DC48F-3D78-4A28-AD38-EFB2D58C1D2A}"/>
              </a:ext>
            </a:extLst>
          </p:cNvPr>
          <p:cNvGraphicFramePr>
            <a:graphicFrameLocks/>
          </p:cNvGraphicFramePr>
          <p:nvPr>
            <p:extLst>
              <p:ext uri="{D42A27DB-BD31-4B8C-83A1-F6EECF244321}">
                <p14:modId xmlns:p14="http://schemas.microsoft.com/office/powerpoint/2010/main" val="741089491"/>
              </p:ext>
            </p:extLst>
          </p:nvPr>
        </p:nvGraphicFramePr>
        <p:xfrm>
          <a:off x="6172200" y="1600200"/>
          <a:ext cx="1905000" cy="4079240"/>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479456041"/>
                    </a:ext>
                  </a:extLst>
                </a:gridCol>
                <a:gridCol w="952500">
                  <a:extLst>
                    <a:ext uri="{9D8B030D-6E8A-4147-A177-3AD203B41FA5}">
                      <a16:colId xmlns:a16="http://schemas.microsoft.com/office/drawing/2014/main" val="3831102708"/>
                    </a:ext>
                  </a:extLst>
                </a:gridCol>
              </a:tblGrid>
              <a:tr h="370840">
                <a:tc>
                  <a:txBody>
                    <a:bodyPr/>
                    <a:lstStyle/>
                    <a:p>
                      <a:pPr algn="ctr" fontAlgn="b"/>
                      <a:r>
                        <a:rPr lang="en-US" sz="2000" b="0" i="0" u="none" strike="noStrike">
                          <a:solidFill>
                            <a:srgbClr val="000000"/>
                          </a:solidFill>
                          <a:effectLst/>
                          <a:latin typeface="Calibri" panose="020F0502020204030204" pitchFamily="34" charset="0"/>
                        </a:rPr>
                        <a:t>sqft</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saleprice</a:t>
                      </a:r>
                    </a:p>
                  </a:txBody>
                  <a:tcPr marL="9525" marR="9525" marT="9525" marB="0" anchor="b"/>
                </a:tc>
                <a:extLst>
                  <a:ext uri="{0D108BD9-81ED-4DB2-BD59-A6C34878D82A}">
                    <a16:rowId xmlns:a16="http://schemas.microsoft.com/office/drawing/2014/main" val="4024499558"/>
                  </a:ext>
                </a:extLst>
              </a:tr>
              <a:tr h="370840">
                <a:tc>
                  <a:txBody>
                    <a:bodyPr/>
                    <a:lstStyle/>
                    <a:p>
                      <a:pPr algn="ctr" fontAlgn="b"/>
                      <a:r>
                        <a:rPr lang="en-US" sz="2000" b="0" i="0" u="none" strike="noStrike">
                          <a:solidFill>
                            <a:srgbClr val="000000"/>
                          </a:solidFill>
                          <a:effectLst/>
                          <a:latin typeface="Calibri" panose="020F0502020204030204" pitchFamily="34" charset="0"/>
                        </a:rPr>
                        <a:t>1326</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66960</a:t>
                      </a:r>
                    </a:p>
                  </a:txBody>
                  <a:tcPr marL="9525" marR="9525" marT="9525" marB="0" anchor="b"/>
                </a:tc>
                <a:extLst>
                  <a:ext uri="{0D108BD9-81ED-4DB2-BD59-A6C34878D82A}">
                    <a16:rowId xmlns:a16="http://schemas.microsoft.com/office/drawing/2014/main" val="1299772918"/>
                  </a:ext>
                </a:extLst>
              </a:tr>
              <a:tr h="370840">
                <a:tc>
                  <a:txBody>
                    <a:bodyPr/>
                    <a:lstStyle/>
                    <a:p>
                      <a:pPr algn="ctr" fontAlgn="b"/>
                      <a:r>
                        <a:rPr lang="en-US" sz="2000" b="0" i="0" u="none" strike="noStrike">
                          <a:solidFill>
                            <a:srgbClr val="000000"/>
                          </a:solidFill>
                          <a:effectLst/>
                          <a:latin typeface="Calibri" panose="020F0502020204030204" pitchFamily="34" charset="0"/>
                        </a:rPr>
                        <a:t>1391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80400</a:t>
                      </a:r>
                    </a:p>
                  </a:txBody>
                  <a:tcPr marL="9525" marR="9525" marT="9525" marB="0" anchor="b"/>
                </a:tc>
                <a:extLst>
                  <a:ext uri="{0D108BD9-81ED-4DB2-BD59-A6C34878D82A}">
                    <a16:rowId xmlns:a16="http://schemas.microsoft.com/office/drawing/2014/main" val="11948399"/>
                  </a:ext>
                </a:extLst>
              </a:tr>
              <a:tr h="370840">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45600</a:t>
                      </a:r>
                    </a:p>
                  </a:txBody>
                  <a:tcPr marL="9525" marR="9525" marT="9525" marB="0" anchor="b"/>
                </a:tc>
                <a:extLst>
                  <a:ext uri="{0D108BD9-81ED-4DB2-BD59-A6C34878D82A}">
                    <a16:rowId xmlns:a16="http://schemas.microsoft.com/office/drawing/2014/main" val="2211645596"/>
                  </a:ext>
                </a:extLst>
              </a:tr>
              <a:tr h="370840">
                <a:tc>
                  <a:txBody>
                    <a:bodyPr/>
                    <a:lstStyle/>
                    <a:p>
                      <a:pPr algn="ctr" fontAlgn="b"/>
                      <a:r>
                        <a:rPr lang="en-US" sz="2000" b="0" i="0" u="none" strike="noStrike">
                          <a:solidFill>
                            <a:srgbClr val="000000"/>
                          </a:solidFill>
                          <a:effectLst/>
                          <a:latin typeface="Calibri" panose="020F0502020204030204" pitchFamily="34" charset="0"/>
                        </a:rPr>
                        <a:t>1542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74400</a:t>
                      </a:r>
                    </a:p>
                  </a:txBody>
                  <a:tcPr marL="9525" marR="9525" marT="9525" marB="0" anchor="b"/>
                </a:tc>
                <a:extLst>
                  <a:ext uri="{0D108BD9-81ED-4DB2-BD59-A6C34878D82A}">
                    <a16:rowId xmlns:a16="http://schemas.microsoft.com/office/drawing/2014/main" val="3758980523"/>
                  </a:ext>
                </a:extLst>
              </a:tr>
              <a:tr h="370840">
                <a:tc>
                  <a:txBody>
                    <a:bodyPr/>
                    <a:lstStyle/>
                    <a:p>
                      <a:pPr algn="ctr" fontAlgn="b"/>
                      <a:r>
                        <a:rPr lang="en-US" sz="2000" b="0" i="0" u="none" strike="noStrike">
                          <a:solidFill>
                            <a:srgbClr val="000000"/>
                          </a:solidFill>
                          <a:effectLst/>
                          <a:latin typeface="Calibri" panose="020F0502020204030204" pitchFamily="34" charset="0"/>
                        </a:rPr>
                        <a:t>735</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45360</a:t>
                      </a:r>
                    </a:p>
                  </a:txBody>
                  <a:tcPr marL="9525" marR="9525" marT="9525" marB="0" anchor="b"/>
                </a:tc>
                <a:extLst>
                  <a:ext uri="{0D108BD9-81ED-4DB2-BD59-A6C34878D82A}">
                    <a16:rowId xmlns:a16="http://schemas.microsoft.com/office/drawing/2014/main" val="3101464958"/>
                  </a:ext>
                </a:extLst>
              </a:tr>
              <a:tr h="370840">
                <a:tc>
                  <a:txBody>
                    <a:bodyPr/>
                    <a:lstStyle/>
                    <a:p>
                      <a:pPr algn="ctr" fontAlgn="b"/>
                      <a:r>
                        <a:rPr lang="en-US" sz="2000" b="0" i="0" u="none" strike="noStrike">
                          <a:solidFill>
                            <a:srgbClr val="000000"/>
                          </a:solidFill>
                          <a:effectLst/>
                          <a:latin typeface="Calibri" panose="020F0502020204030204" pitchFamily="34" charset="0"/>
                        </a:rPr>
                        <a:t>1444</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91920</a:t>
                      </a:r>
                    </a:p>
                  </a:txBody>
                  <a:tcPr marL="9525" marR="9525" marT="9525" marB="0" anchor="b"/>
                </a:tc>
                <a:extLst>
                  <a:ext uri="{0D108BD9-81ED-4DB2-BD59-A6C34878D82A}">
                    <a16:rowId xmlns:a16="http://schemas.microsoft.com/office/drawing/2014/main" val="2388342843"/>
                  </a:ext>
                </a:extLst>
              </a:tr>
              <a:tr h="370840">
                <a:tc>
                  <a:txBody>
                    <a:bodyPr/>
                    <a:lstStyle/>
                    <a:p>
                      <a:pPr algn="ctr" fontAlgn="b"/>
                      <a:r>
                        <a:rPr lang="en-US" sz="2000" b="0" i="0" u="none" strike="noStrike">
                          <a:solidFill>
                            <a:srgbClr val="000000"/>
                          </a:solidFill>
                          <a:effectLst/>
                          <a:latin typeface="Calibri" panose="020F0502020204030204" pitchFamily="34" charset="0"/>
                        </a:rPr>
                        <a:t>1796</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108000</a:t>
                      </a:r>
                    </a:p>
                  </a:txBody>
                  <a:tcPr marL="9525" marR="9525" marT="9525" marB="0" anchor="b"/>
                </a:tc>
                <a:extLst>
                  <a:ext uri="{0D108BD9-81ED-4DB2-BD59-A6C34878D82A}">
                    <a16:rowId xmlns:a16="http://schemas.microsoft.com/office/drawing/2014/main" val="3374584900"/>
                  </a:ext>
                </a:extLst>
              </a:tr>
              <a:tr h="370840">
                <a:tc>
                  <a:txBody>
                    <a:bodyPr/>
                    <a:lstStyle/>
                    <a:p>
                      <a:pPr algn="ctr" fontAlgn="b"/>
                      <a:r>
                        <a:rPr lang="en-US" sz="2000" b="0" i="0" u="none" strike="noStrike">
                          <a:solidFill>
                            <a:srgbClr val="000000"/>
                          </a:solidFill>
                          <a:effectLst/>
                          <a:latin typeface="Calibri" panose="020F0502020204030204" pitchFamily="34" charset="0"/>
                        </a:rPr>
                        <a:t>1770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104400</a:t>
                      </a:r>
                    </a:p>
                  </a:txBody>
                  <a:tcPr marL="9525" marR="9525" marT="9525" marB="0" anchor="b"/>
                </a:tc>
                <a:extLst>
                  <a:ext uri="{0D108BD9-81ED-4DB2-BD59-A6C34878D82A}">
                    <a16:rowId xmlns:a16="http://schemas.microsoft.com/office/drawing/2014/main" val="494521374"/>
                  </a:ext>
                </a:extLst>
              </a:tr>
              <a:tr h="370840">
                <a:tc>
                  <a:txBody>
                    <a:bodyPr/>
                    <a:lstStyle/>
                    <a:p>
                      <a:pPr algn="ctr" fontAlgn="b"/>
                      <a:r>
                        <a:rPr lang="en-US" sz="2000" b="0" i="0" u="none" strike="noStrike">
                          <a:solidFill>
                            <a:srgbClr val="000000"/>
                          </a:solidFill>
                          <a:effectLst/>
                          <a:latin typeface="Calibri" panose="020F0502020204030204" pitchFamily="34" charset="0"/>
                        </a:rPr>
                        <a:t>1708</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99600</a:t>
                      </a:r>
                    </a:p>
                  </a:txBody>
                  <a:tcPr marL="9525" marR="9525" marT="9525" marB="0" anchor="b"/>
                </a:tc>
                <a:extLst>
                  <a:ext uri="{0D108BD9-81ED-4DB2-BD59-A6C34878D82A}">
                    <a16:rowId xmlns:a16="http://schemas.microsoft.com/office/drawing/2014/main" val="2804242388"/>
                  </a:ext>
                </a:extLst>
              </a:tr>
              <a:tr h="370840">
                <a:tc>
                  <a:txBody>
                    <a:bodyPr/>
                    <a:lstStyle/>
                    <a:p>
                      <a:pPr algn="ctr" fontAlgn="b"/>
                      <a:r>
                        <a:rPr lang="en-US" sz="2000" b="0" i="0" u="none" strike="noStrike" dirty="0">
                          <a:solidFill>
                            <a:srgbClr val="000000"/>
                          </a:solidFill>
                          <a:effectLst/>
                          <a:latin typeface="Calibri" panose="020F0502020204030204" pitchFamily="34" charset="0"/>
                        </a:rPr>
                        <a:t>1529</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85200</a:t>
                      </a:r>
                    </a:p>
                  </a:txBody>
                  <a:tcPr marL="9525" marR="9525" marT="9525" marB="0" anchor="b"/>
                </a:tc>
                <a:extLst>
                  <a:ext uri="{0D108BD9-81ED-4DB2-BD59-A6C34878D82A}">
                    <a16:rowId xmlns:a16="http://schemas.microsoft.com/office/drawing/2014/main" val="3710858753"/>
                  </a:ext>
                </a:extLst>
              </a:tr>
            </a:tbl>
          </a:graphicData>
        </a:graphic>
      </p:graphicFrame>
      <p:sp>
        <p:nvSpPr>
          <p:cNvPr id="8" name="Rectangle: Rounded Corners 7">
            <a:extLst>
              <a:ext uri="{FF2B5EF4-FFF2-40B4-BE49-F238E27FC236}">
                <a16:creationId xmlns:a16="http://schemas.microsoft.com/office/drawing/2014/main" id="{F2210CF0-1C14-463C-AFBF-AA0756A49447}"/>
              </a:ext>
            </a:extLst>
          </p:cNvPr>
          <p:cNvSpPr/>
          <p:nvPr/>
        </p:nvSpPr>
        <p:spPr>
          <a:xfrm>
            <a:off x="5753100" y="1981200"/>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6633C1E-2758-4813-8680-3C1B2F5709A4}"/>
              </a:ext>
            </a:extLst>
          </p:cNvPr>
          <p:cNvSpPr/>
          <p:nvPr/>
        </p:nvSpPr>
        <p:spPr>
          <a:xfrm>
            <a:off x="5782524" y="274292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EEF096E-3BC8-4498-9FAF-B67359AF33CE}"/>
              </a:ext>
            </a:extLst>
          </p:cNvPr>
          <p:cNvSpPr/>
          <p:nvPr/>
        </p:nvSpPr>
        <p:spPr>
          <a:xfrm>
            <a:off x="5782524" y="3504642"/>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BC2BE11-FD84-41F1-8C8C-8D6284B121E7}"/>
              </a:ext>
            </a:extLst>
          </p:cNvPr>
          <p:cNvSpPr/>
          <p:nvPr/>
        </p:nvSpPr>
        <p:spPr>
          <a:xfrm>
            <a:off x="5800631" y="424914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FAC16D8-DED3-4CF8-93B2-213F42E1D63A}"/>
              </a:ext>
            </a:extLst>
          </p:cNvPr>
          <p:cNvSpPr/>
          <p:nvPr/>
        </p:nvSpPr>
        <p:spPr>
          <a:xfrm>
            <a:off x="5800631" y="4974377"/>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966F1B-8E6F-403C-AE25-4A16CB3B1530}"/>
              </a:ext>
            </a:extLst>
          </p:cNvPr>
          <p:cNvSpPr txBox="1"/>
          <p:nvPr/>
        </p:nvSpPr>
        <p:spPr>
          <a:xfrm>
            <a:off x="5381531" y="1981200"/>
            <a:ext cx="562069" cy="3693319"/>
          </a:xfrm>
          <a:prstGeom prst="rect">
            <a:avLst/>
          </a:prstGeom>
          <a:noFill/>
        </p:spPr>
        <p:txBody>
          <a:bodyPr wrap="square" rtlCol="0">
            <a:spAutoFit/>
          </a:bodyPr>
          <a:lstStyle/>
          <a:p>
            <a:r>
              <a:rPr lang="en-US" dirty="0">
                <a:solidFill>
                  <a:srgbClr val="FF0000"/>
                </a:solidFill>
              </a:rPr>
              <a:t>1.</a:t>
            </a:r>
          </a:p>
          <a:p>
            <a:endParaRPr lang="en-US" dirty="0">
              <a:solidFill>
                <a:srgbClr val="FF0000"/>
              </a:solidFill>
            </a:endParaRPr>
          </a:p>
          <a:p>
            <a:endParaRPr lang="en-US" dirty="0">
              <a:solidFill>
                <a:srgbClr val="FF0000"/>
              </a:solidFill>
            </a:endParaRPr>
          </a:p>
          <a:p>
            <a:r>
              <a:rPr lang="en-US" dirty="0">
                <a:solidFill>
                  <a:srgbClr val="FF0000"/>
                </a:solidFill>
              </a:rPr>
              <a:t>2.</a:t>
            </a:r>
          </a:p>
          <a:p>
            <a:endParaRPr lang="en-US" dirty="0">
              <a:solidFill>
                <a:srgbClr val="FF0000"/>
              </a:solidFill>
            </a:endParaRPr>
          </a:p>
          <a:p>
            <a:endParaRPr lang="en-US" dirty="0">
              <a:solidFill>
                <a:srgbClr val="FF0000"/>
              </a:solidFill>
            </a:endParaRPr>
          </a:p>
          <a:p>
            <a:r>
              <a:rPr lang="en-US" dirty="0">
                <a:solidFill>
                  <a:srgbClr val="FF0000"/>
                </a:solidFill>
              </a:rPr>
              <a:t>3.</a:t>
            </a:r>
          </a:p>
          <a:p>
            <a:endParaRPr lang="en-US" dirty="0">
              <a:solidFill>
                <a:srgbClr val="FF0000"/>
              </a:solidFill>
            </a:endParaRPr>
          </a:p>
          <a:p>
            <a:endParaRPr lang="en-US" dirty="0">
              <a:solidFill>
                <a:srgbClr val="FF0000"/>
              </a:solidFill>
            </a:endParaRPr>
          </a:p>
          <a:p>
            <a:r>
              <a:rPr lang="en-US" dirty="0">
                <a:solidFill>
                  <a:srgbClr val="FF0000"/>
                </a:solidFill>
              </a:rPr>
              <a:t>4.</a:t>
            </a:r>
          </a:p>
          <a:p>
            <a:endParaRPr lang="en-US" dirty="0">
              <a:solidFill>
                <a:srgbClr val="FF0000"/>
              </a:solidFill>
            </a:endParaRPr>
          </a:p>
          <a:p>
            <a:endParaRPr lang="en-US" dirty="0">
              <a:solidFill>
                <a:srgbClr val="FF0000"/>
              </a:solidFill>
            </a:endParaRPr>
          </a:p>
          <a:p>
            <a:r>
              <a:rPr lang="en-US" dirty="0">
                <a:solidFill>
                  <a:srgbClr val="FF0000"/>
                </a:solidFill>
              </a:rPr>
              <a:t>5.</a:t>
            </a:r>
          </a:p>
        </p:txBody>
      </p:sp>
      <p:sp>
        <p:nvSpPr>
          <p:cNvPr id="14" name="TextBox 13">
            <a:extLst>
              <a:ext uri="{FF2B5EF4-FFF2-40B4-BE49-F238E27FC236}">
                <a16:creationId xmlns:a16="http://schemas.microsoft.com/office/drawing/2014/main" id="{6A6043A3-11D5-43A4-8E0A-82C4CA6A5B2E}"/>
              </a:ext>
            </a:extLst>
          </p:cNvPr>
          <p:cNvSpPr txBox="1"/>
          <p:nvPr/>
        </p:nvSpPr>
        <p:spPr>
          <a:xfrm>
            <a:off x="115010" y="1245834"/>
            <a:ext cx="2904321" cy="369332"/>
          </a:xfrm>
          <a:prstGeom prst="rect">
            <a:avLst/>
          </a:prstGeom>
          <a:noFill/>
        </p:spPr>
        <p:txBody>
          <a:bodyPr wrap="none" rtlCol="0">
            <a:spAutoFit/>
          </a:bodyPr>
          <a:lstStyle/>
          <a:p>
            <a:r>
              <a:rPr lang="en-US" dirty="0">
                <a:solidFill>
                  <a:srgbClr val="FF0000"/>
                </a:solidFill>
              </a:rPr>
              <a:t>Data available for regression:</a:t>
            </a:r>
          </a:p>
        </p:txBody>
      </p:sp>
    </p:spTree>
    <p:extLst>
      <p:ext uri="{BB962C8B-B14F-4D97-AF65-F5344CB8AC3E}">
        <p14:creationId xmlns:p14="http://schemas.microsoft.com/office/powerpoint/2010/main" val="558408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D29F-926D-4C0D-B4D5-D327A427C450}"/>
              </a:ext>
            </a:extLst>
          </p:cNvPr>
          <p:cNvSpPr>
            <a:spLocks noGrp="1"/>
          </p:cNvSpPr>
          <p:nvPr>
            <p:ph type="title"/>
          </p:nvPr>
        </p:nvSpPr>
        <p:spPr>
          <a:xfrm>
            <a:off x="657131" y="46990"/>
            <a:ext cx="8229600" cy="1143000"/>
          </a:xfrm>
        </p:spPr>
        <p:txBody>
          <a:bodyPr>
            <a:normAutofit fontScale="90000"/>
          </a:bodyPr>
          <a:lstStyle/>
          <a:p>
            <a:r>
              <a:rPr lang="en-US" dirty="0"/>
              <a:t>Cross-validation with 5 folds example: (continued)</a:t>
            </a:r>
          </a:p>
        </p:txBody>
      </p:sp>
      <p:sp>
        <p:nvSpPr>
          <p:cNvPr id="6" name="TextBox 5">
            <a:extLst>
              <a:ext uri="{FF2B5EF4-FFF2-40B4-BE49-F238E27FC236}">
                <a16:creationId xmlns:a16="http://schemas.microsoft.com/office/drawing/2014/main" id="{4117D503-6488-4E34-AD0C-70F5FBB5ADBB}"/>
              </a:ext>
            </a:extLst>
          </p:cNvPr>
          <p:cNvSpPr txBox="1"/>
          <p:nvPr/>
        </p:nvSpPr>
        <p:spPr>
          <a:xfrm>
            <a:off x="5943600" y="1958054"/>
            <a:ext cx="2286000" cy="3139321"/>
          </a:xfrm>
          <a:prstGeom prst="rect">
            <a:avLst/>
          </a:prstGeom>
          <a:noFill/>
        </p:spPr>
        <p:txBody>
          <a:bodyPr wrap="square" rtlCol="0">
            <a:spAutoFit/>
          </a:bodyPr>
          <a:lstStyle/>
          <a:p>
            <a:r>
              <a:rPr lang="en-US" dirty="0">
                <a:solidFill>
                  <a:srgbClr val="FF0000"/>
                </a:solidFill>
              </a:rPr>
              <a:t>The regression model will be fit 5 times, the first time, folds 1-4 will be used to build the regression model to predict </a:t>
            </a:r>
            <a:r>
              <a:rPr lang="en-US" dirty="0" err="1">
                <a:solidFill>
                  <a:srgbClr val="FF0000"/>
                </a:solidFill>
              </a:rPr>
              <a:t>saleprice</a:t>
            </a:r>
            <a:r>
              <a:rPr lang="en-US" dirty="0">
                <a:solidFill>
                  <a:srgbClr val="FF0000"/>
                </a:solidFill>
              </a:rPr>
              <a:t> from </a:t>
            </a:r>
            <a:r>
              <a:rPr lang="en-US" dirty="0" err="1">
                <a:solidFill>
                  <a:srgbClr val="FF0000"/>
                </a:solidFill>
              </a:rPr>
              <a:t>sqft</a:t>
            </a:r>
            <a:r>
              <a:rPr lang="en-US" dirty="0">
                <a:solidFill>
                  <a:srgbClr val="FF0000"/>
                </a:solidFill>
              </a:rPr>
              <a:t> and fold 5 will be used as the test data (OOS error will be calculated for the test data)</a:t>
            </a:r>
          </a:p>
        </p:txBody>
      </p:sp>
      <p:graphicFrame>
        <p:nvGraphicFramePr>
          <p:cNvPr id="7" name="Content Placeholder 4">
            <a:extLst>
              <a:ext uri="{FF2B5EF4-FFF2-40B4-BE49-F238E27FC236}">
                <a16:creationId xmlns:a16="http://schemas.microsoft.com/office/drawing/2014/main" id="{837DC48F-3D78-4A28-AD38-EFB2D58C1D2A}"/>
              </a:ext>
            </a:extLst>
          </p:cNvPr>
          <p:cNvGraphicFramePr>
            <a:graphicFrameLocks/>
          </p:cNvGraphicFramePr>
          <p:nvPr>
            <p:extLst>
              <p:ext uri="{D42A27DB-BD31-4B8C-83A1-F6EECF244321}">
                <p14:modId xmlns:p14="http://schemas.microsoft.com/office/powerpoint/2010/main" val="1928300989"/>
              </p:ext>
            </p:extLst>
          </p:nvPr>
        </p:nvGraphicFramePr>
        <p:xfrm>
          <a:off x="1066800" y="1752600"/>
          <a:ext cx="1905000" cy="4079240"/>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479456041"/>
                    </a:ext>
                  </a:extLst>
                </a:gridCol>
                <a:gridCol w="952500">
                  <a:extLst>
                    <a:ext uri="{9D8B030D-6E8A-4147-A177-3AD203B41FA5}">
                      <a16:colId xmlns:a16="http://schemas.microsoft.com/office/drawing/2014/main" val="3831102708"/>
                    </a:ext>
                  </a:extLst>
                </a:gridCol>
              </a:tblGrid>
              <a:tr h="370840">
                <a:tc>
                  <a:txBody>
                    <a:bodyPr/>
                    <a:lstStyle/>
                    <a:p>
                      <a:pPr algn="ctr" fontAlgn="b"/>
                      <a:r>
                        <a:rPr lang="en-US" sz="2000" b="0" i="0" u="none" strike="noStrike">
                          <a:solidFill>
                            <a:srgbClr val="000000"/>
                          </a:solidFill>
                          <a:effectLst/>
                          <a:latin typeface="Calibri" panose="020F0502020204030204" pitchFamily="34" charset="0"/>
                        </a:rPr>
                        <a:t>sqft</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saleprice</a:t>
                      </a:r>
                    </a:p>
                  </a:txBody>
                  <a:tcPr marL="9525" marR="9525" marT="9525" marB="0" anchor="b"/>
                </a:tc>
                <a:extLst>
                  <a:ext uri="{0D108BD9-81ED-4DB2-BD59-A6C34878D82A}">
                    <a16:rowId xmlns:a16="http://schemas.microsoft.com/office/drawing/2014/main" val="4024499558"/>
                  </a:ext>
                </a:extLst>
              </a:tr>
              <a:tr h="370840">
                <a:tc>
                  <a:txBody>
                    <a:bodyPr/>
                    <a:lstStyle/>
                    <a:p>
                      <a:pPr algn="ctr" fontAlgn="b"/>
                      <a:r>
                        <a:rPr lang="en-US" sz="2000" b="0" i="0" u="none" strike="noStrike">
                          <a:solidFill>
                            <a:srgbClr val="000000"/>
                          </a:solidFill>
                          <a:effectLst/>
                          <a:latin typeface="Calibri" panose="020F0502020204030204" pitchFamily="34" charset="0"/>
                        </a:rPr>
                        <a:t>1326</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66960</a:t>
                      </a:r>
                    </a:p>
                  </a:txBody>
                  <a:tcPr marL="9525" marR="9525" marT="9525" marB="0" anchor="b"/>
                </a:tc>
                <a:extLst>
                  <a:ext uri="{0D108BD9-81ED-4DB2-BD59-A6C34878D82A}">
                    <a16:rowId xmlns:a16="http://schemas.microsoft.com/office/drawing/2014/main" val="1299772918"/>
                  </a:ext>
                </a:extLst>
              </a:tr>
              <a:tr h="370840">
                <a:tc>
                  <a:txBody>
                    <a:bodyPr/>
                    <a:lstStyle/>
                    <a:p>
                      <a:pPr algn="ctr" fontAlgn="b"/>
                      <a:r>
                        <a:rPr lang="en-US" sz="2000" b="0" i="0" u="none" strike="noStrike">
                          <a:solidFill>
                            <a:srgbClr val="000000"/>
                          </a:solidFill>
                          <a:effectLst/>
                          <a:latin typeface="Calibri" panose="020F0502020204030204" pitchFamily="34" charset="0"/>
                        </a:rPr>
                        <a:t>1391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80400</a:t>
                      </a:r>
                    </a:p>
                  </a:txBody>
                  <a:tcPr marL="9525" marR="9525" marT="9525" marB="0" anchor="b"/>
                </a:tc>
                <a:extLst>
                  <a:ext uri="{0D108BD9-81ED-4DB2-BD59-A6C34878D82A}">
                    <a16:rowId xmlns:a16="http://schemas.microsoft.com/office/drawing/2014/main" val="11948399"/>
                  </a:ext>
                </a:extLst>
              </a:tr>
              <a:tr h="370840">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45600</a:t>
                      </a:r>
                    </a:p>
                  </a:txBody>
                  <a:tcPr marL="9525" marR="9525" marT="9525" marB="0" anchor="b"/>
                </a:tc>
                <a:extLst>
                  <a:ext uri="{0D108BD9-81ED-4DB2-BD59-A6C34878D82A}">
                    <a16:rowId xmlns:a16="http://schemas.microsoft.com/office/drawing/2014/main" val="2211645596"/>
                  </a:ext>
                </a:extLst>
              </a:tr>
              <a:tr h="370840">
                <a:tc>
                  <a:txBody>
                    <a:bodyPr/>
                    <a:lstStyle/>
                    <a:p>
                      <a:pPr algn="ctr" fontAlgn="b"/>
                      <a:r>
                        <a:rPr lang="en-US" sz="2000" b="0" i="0" u="none" strike="noStrike">
                          <a:solidFill>
                            <a:srgbClr val="000000"/>
                          </a:solidFill>
                          <a:effectLst/>
                          <a:latin typeface="Calibri" panose="020F0502020204030204" pitchFamily="34" charset="0"/>
                        </a:rPr>
                        <a:t>1542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74400</a:t>
                      </a:r>
                    </a:p>
                  </a:txBody>
                  <a:tcPr marL="9525" marR="9525" marT="9525" marB="0" anchor="b"/>
                </a:tc>
                <a:extLst>
                  <a:ext uri="{0D108BD9-81ED-4DB2-BD59-A6C34878D82A}">
                    <a16:rowId xmlns:a16="http://schemas.microsoft.com/office/drawing/2014/main" val="3758980523"/>
                  </a:ext>
                </a:extLst>
              </a:tr>
              <a:tr h="370840">
                <a:tc>
                  <a:txBody>
                    <a:bodyPr/>
                    <a:lstStyle/>
                    <a:p>
                      <a:pPr algn="ctr" fontAlgn="b"/>
                      <a:r>
                        <a:rPr lang="en-US" sz="2000" b="0" i="0" u="none" strike="noStrike">
                          <a:solidFill>
                            <a:srgbClr val="000000"/>
                          </a:solidFill>
                          <a:effectLst/>
                          <a:latin typeface="Calibri" panose="020F0502020204030204" pitchFamily="34" charset="0"/>
                        </a:rPr>
                        <a:t>735</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45360</a:t>
                      </a:r>
                    </a:p>
                  </a:txBody>
                  <a:tcPr marL="9525" marR="9525" marT="9525" marB="0" anchor="b"/>
                </a:tc>
                <a:extLst>
                  <a:ext uri="{0D108BD9-81ED-4DB2-BD59-A6C34878D82A}">
                    <a16:rowId xmlns:a16="http://schemas.microsoft.com/office/drawing/2014/main" val="3101464958"/>
                  </a:ext>
                </a:extLst>
              </a:tr>
              <a:tr h="370840">
                <a:tc>
                  <a:txBody>
                    <a:bodyPr/>
                    <a:lstStyle/>
                    <a:p>
                      <a:pPr algn="ctr" fontAlgn="b"/>
                      <a:r>
                        <a:rPr lang="en-US" sz="2000" b="0" i="0" u="none" strike="noStrike">
                          <a:solidFill>
                            <a:srgbClr val="000000"/>
                          </a:solidFill>
                          <a:effectLst/>
                          <a:latin typeface="Calibri" panose="020F0502020204030204" pitchFamily="34" charset="0"/>
                        </a:rPr>
                        <a:t>1444</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91920</a:t>
                      </a:r>
                    </a:p>
                  </a:txBody>
                  <a:tcPr marL="9525" marR="9525" marT="9525" marB="0" anchor="b"/>
                </a:tc>
                <a:extLst>
                  <a:ext uri="{0D108BD9-81ED-4DB2-BD59-A6C34878D82A}">
                    <a16:rowId xmlns:a16="http://schemas.microsoft.com/office/drawing/2014/main" val="2388342843"/>
                  </a:ext>
                </a:extLst>
              </a:tr>
              <a:tr h="370840">
                <a:tc>
                  <a:txBody>
                    <a:bodyPr/>
                    <a:lstStyle/>
                    <a:p>
                      <a:pPr algn="ctr" fontAlgn="b"/>
                      <a:r>
                        <a:rPr lang="en-US" sz="2000" b="0" i="0" u="none" strike="noStrike">
                          <a:solidFill>
                            <a:srgbClr val="000000"/>
                          </a:solidFill>
                          <a:effectLst/>
                          <a:latin typeface="Calibri" panose="020F0502020204030204" pitchFamily="34" charset="0"/>
                        </a:rPr>
                        <a:t>1796</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108000</a:t>
                      </a:r>
                    </a:p>
                  </a:txBody>
                  <a:tcPr marL="9525" marR="9525" marT="9525" marB="0" anchor="b"/>
                </a:tc>
                <a:extLst>
                  <a:ext uri="{0D108BD9-81ED-4DB2-BD59-A6C34878D82A}">
                    <a16:rowId xmlns:a16="http://schemas.microsoft.com/office/drawing/2014/main" val="3374584900"/>
                  </a:ext>
                </a:extLst>
              </a:tr>
              <a:tr h="370840">
                <a:tc>
                  <a:txBody>
                    <a:bodyPr/>
                    <a:lstStyle/>
                    <a:p>
                      <a:pPr algn="ctr" fontAlgn="b"/>
                      <a:r>
                        <a:rPr lang="en-US" sz="2000" b="0" i="0" u="none" strike="noStrike">
                          <a:solidFill>
                            <a:srgbClr val="000000"/>
                          </a:solidFill>
                          <a:effectLst/>
                          <a:latin typeface="Calibri" panose="020F0502020204030204" pitchFamily="34" charset="0"/>
                        </a:rPr>
                        <a:t>1770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104400</a:t>
                      </a:r>
                    </a:p>
                  </a:txBody>
                  <a:tcPr marL="9525" marR="9525" marT="9525" marB="0" anchor="b"/>
                </a:tc>
                <a:extLst>
                  <a:ext uri="{0D108BD9-81ED-4DB2-BD59-A6C34878D82A}">
                    <a16:rowId xmlns:a16="http://schemas.microsoft.com/office/drawing/2014/main" val="494521374"/>
                  </a:ext>
                </a:extLst>
              </a:tr>
              <a:tr h="370840">
                <a:tc>
                  <a:txBody>
                    <a:bodyPr/>
                    <a:lstStyle/>
                    <a:p>
                      <a:pPr algn="ctr" fontAlgn="b"/>
                      <a:r>
                        <a:rPr lang="en-US" sz="2000" b="0" i="0" u="none" strike="noStrike">
                          <a:solidFill>
                            <a:srgbClr val="000000"/>
                          </a:solidFill>
                          <a:effectLst/>
                          <a:latin typeface="Calibri" panose="020F0502020204030204" pitchFamily="34" charset="0"/>
                        </a:rPr>
                        <a:t>1708</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99600</a:t>
                      </a:r>
                    </a:p>
                  </a:txBody>
                  <a:tcPr marL="9525" marR="9525" marT="9525" marB="0" anchor="b"/>
                </a:tc>
                <a:extLst>
                  <a:ext uri="{0D108BD9-81ED-4DB2-BD59-A6C34878D82A}">
                    <a16:rowId xmlns:a16="http://schemas.microsoft.com/office/drawing/2014/main" val="2804242388"/>
                  </a:ext>
                </a:extLst>
              </a:tr>
              <a:tr h="370840">
                <a:tc>
                  <a:txBody>
                    <a:bodyPr/>
                    <a:lstStyle/>
                    <a:p>
                      <a:pPr algn="ctr" fontAlgn="b"/>
                      <a:r>
                        <a:rPr lang="en-US" sz="2000" b="0" i="0" u="none" strike="noStrike">
                          <a:solidFill>
                            <a:srgbClr val="000000"/>
                          </a:solidFill>
                          <a:effectLst/>
                          <a:latin typeface="Calibri" panose="020F0502020204030204" pitchFamily="34" charset="0"/>
                        </a:rPr>
                        <a:t>1529</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85200</a:t>
                      </a:r>
                    </a:p>
                  </a:txBody>
                  <a:tcPr marL="9525" marR="9525" marT="9525" marB="0" anchor="b"/>
                </a:tc>
                <a:extLst>
                  <a:ext uri="{0D108BD9-81ED-4DB2-BD59-A6C34878D82A}">
                    <a16:rowId xmlns:a16="http://schemas.microsoft.com/office/drawing/2014/main" val="3710858753"/>
                  </a:ext>
                </a:extLst>
              </a:tr>
            </a:tbl>
          </a:graphicData>
        </a:graphic>
      </p:graphicFrame>
      <p:sp>
        <p:nvSpPr>
          <p:cNvPr id="8" name="Rectangle: Rounded Corners 7">
            <a:extLst>
              <a:ext uri="{FF2B5EF4-FFF2-40B4-BE49-F238E27FC236}">
                <a16:creationId xmlns:a16="http://schemas.microsoft.com/office/drawing/2014/main" id="{F2210CF0-1C14-463C-AFBF-AA0756A49447}"/>
              </a:ext>
            </a:extLst>
          </p:cNvPr>
          <p:cNvSpPr/>
          <p:nvPr/>
        </p:nvSpPr>
        <p:spPr>
          <a:xfrm>
            <a:off x="647700" y="2133600"/>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6633C1E-2758-4813-8680-3C1B2F5709A4}"/>
              </a:ext>
            </a:extLst>
          </p:cNvPr>
          <p:cNvSpPr/>
          <p:nvPr/>
        </p:nvSpPr>
        <p:spPr>
          <a:xfrm>
            <a:off x="677124" y="289532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EEF096E-3BC8-4498-9FAF-B67359AF33CE}"/>
              </a:ext>
            </a:extLst>
          </p:cNvPr>
          <p:cNvSpPr/>
          <p:nvPr/>
        </p:nvSpPr>
        <p:spPr>
          <a:xfrm>
            <a:off x="677124" y="3657042"/>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BC2BE11-FD84-41F1-8C8C-8D6284B121E7}"/>
              </a:ext>
            </a:extLst>
          </p:cNvPr>
          <p:cNvSpPr/>
          <p:nvPr/>
        </p:nvSpPr>
        <p:spPr>
          <a:xfrm>
            <a:off x="695231" y="440154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FAC16D8-DED3-4CF8-93B2-213F42E1D63A}"/>
              </a:ext>
            </a:extLst>
          </p:cNvPr>
          <p:cNvSpPr/>
          <p:nvPr/>
        </p:nvSpPr>
        <p:spPr>
          <a:xfrm>
            <a:off x="695231" y="5126777"/>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966F1B-8E6F-403C-AE25-4A16CB3B1530}"/>
              </a:ext>
            </a:extLst>
          </p:cNvPr>
          <p:cNvSpPr txBox="1"/>
          <p:nvPr/>
        </p:nvSpPr>
        <p:spPr>
          <a:xfrm>
            <a:off x="276131" y="2133600"/>
            <a:ext cx="562069" cy="3693319"/>
          </a:xfrm>
          <a:prstGeom prst="rect">
            <a:avLst/>
          </a:prstGeom>
          <a:noFill/>
        </p:spPr>
        <p:txBody>
          <a:bodyPr wrap="square" rtlCol="0">
            <a:spAutoFit/>
          </a:bodyPr>
          <a:lstStyle/>
          <a:p>
            <a:r>
              <a:rPr lang="en-US" dirty="0">
                <a:solidFill>
                  <a:srgbClr val="FF0000"/>
                </a:solidFill>
              </a:rPr>
              <a:t>1.</a:t>
            </a:r>
          </a:p>
          <a:p>
            <a:endParaRPr lang="en-US" dirty="0">
              <a:solidFill>
                <a:srgbClr val="FF0000"/>
              </a:solidFill>
            </a:endParaRPr>
          </a:p>
          <a:p>
            <a:endParaRPr lang="en-US" dirty="0">
              <a:solidFill>
                <a:srgbClr val="FF0000"/>
              </a:solidFill>
            </a:endParaRPr>
          </a:p>
          <a:p>
            <a:r>
              <a:rPr lang="en-US" dirty="0">
                <a:solidFill>
                  <a:srgbClr val="FF0000"/>
                </a:solidFill>
              </a:rPr>
              <a:t>2.</a:t>
            </a:r>
          </a:p>
          <a:p>
            <a:endParaRPr lang="en-US" dirty="0">
              <a:solidFill>
                <a:srgbClr val="FF0000"/>
              </a:solidFill>
            </a:endParaRPr>
          </a:p>
          <a:p>
            <a:endParaRPr lang="en-US" dirty="0">
              <a:solidFill>
                <a:srgbClr val="FF0000"/>
              </a:solidFill>
            </a:endParaRPr>
          </a:p>
          <a:p>
            <a:r>
              <a:rPr lang="en-US" dirty="0">
                <a:solidFill>
                  <a:srgbClr val="FF0000"/>
                </a:solidFill>
              </a:rPr>
              <a:t>3.</a:t>
            </a:r>
          </a:p>
          <a:p>
            <a:endParaRPr lang="en-US" dirty="0">
              <a:solidFill>
                <a:srgbClr val="FF0000"/>
              </a:solidFill>
            </a:endParaRPr>
          </a:p>
          <a:p>
            <a:endParaRPr lang="en-US" dirty="0">
              <a:solidFill>
                <a:srgbClr val="FF0000"/>
              </a:solidFill>
            </a:endParaRPr>
          </a:p>
          <a:p>
            <a:r>
              <a:rPr lang="en-US" dirty="0">
                <a:solidFill>
                  <a:srgbClr val="FF0000"/>
                </a:solidFill>
              </a:rPr>
              <a:t>4.</a:t>
            </a:r>
          </a:p>
          <a:p>
            <a:endParaRPr lang="en-US" dirty="0">
              <a:solidFill>
                <a:srgbClr val="FF0000"/>
              </a:solidFill>
            </a:endParaRPr>
          </a:p>
          <a:p>
            <a:endParaRPr lang="en-US" dirty="0">
              <a:solidFill>
                <a:srgbClr val="FF0000"/>
              </a:solidFill>
            </a:endParaRPr>
          </a:p>
          <a:p>
            <a:r>
              <a:rPr lang="en-US" dirty="0">
                <a:solidFill>
                  <a:srgbClr val="FF0000"/>
                </a:solidFill>
              </a:rPr>
              <a:t>5.</a:t>
            </a:r>
          </a:p>
        </p:txBody>
      </p:sp>
      <p:sp>
        <p:nvSpPr>
          <p:cNvPr id="15" name="Right Brace 14">
            <a:extLst>
              <a:ext uri="{FF2B5EF4-FFF2-40B4-BE49-F238E27FC236}">
                <a16:creationId xmlns:a16="http://schemas.microsoft.com/office/drawing/2014/main" id="{2BA01CA6-2841-44C9-A372-ADFD43A4E85E}"/>
              </a:ext>
            </a:extLst>
          </p:cNvPr>
          <p:cNvSpPr/>
          <p:nvPr/>
        </p:nvSpPr>
        <p:spPr>
          <a:xfrm>
            <a:off x="3648924" y="2149960"/>
            <a:ext cx="523969" cy="2862322"/>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p>
        </p:txBody>
      </p:sp>
      <p:sp>
        <p:nvSpPr>
          <p:cNvPr id="16" name="Right Brace 15">
            <a:extLst>
              <a:ext uri="{FF2B5EF4-FFF2-40B4-BE49-F238E27FC236}">
                <a16:creationId xmlns:a16="http://schemas.microsoft.com/office/drawing/2014/main" id="{76A53459-5D81-4322-A105-8EC4062FA60D}"/>
              </a:ext>
            </a:extLst>
          </p:cNvPr>
          <p:cNvSpPr/>
          <p:nvPr/>
        </p:nvSpPr>
        <p:spPr>
          <a:xfrm>
            <a:off x="3687192" y="5155174"/>
            <a:ext cx="351408" cy="685801"/>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p>
        </p:txBody>
      </p:sp>
      <p:sp>
        <p:nvSpPr>
          <p:cNvPr id="17" name="TextBox 16">
            <a:extLst>
              <a:ext uri="{FF2B5EF4-FFF2-40B4-BE49-F238E27FC236}">
                <a16:creationId xmlns:a16="http://schemas.microsoft.com/office/drawing/2014/main" id="{3F25FCD7-1ECE-4AC0-99FF-269B05293BB8}"/>
              </a:ext>
            </a:extLst>
          </p:cNvPr>
          <p:cNvSpPr txBox="1"/>
          <p:nvPr/>
        </p:nvSpPr>
        <p:spPr>
          <a:xfrm>
            <a:off x="4297567" y="3119456"/>
            <a:ext cx="1104900" cy="923330"/>
          </a:xfrm>
          <a:prstGeom prst="rect">
            <a:avLst/>
          </a:prstGeom>
          <a:noFill/>
        </p:spPr>
        <p:txBody>
          <a:bodyPr wrap="square" rtlCol="0">
            <a:spAutoFit/>
          </a:bodyPr>
          <a:lstStyle/>
          <a:p>
            <a:r>
              <a:rPr lang="en-US" dirty="0">
                <a:solidFill>
                  <a:srgbClr val="00B050"/>
                </a:solidFill>
              </a:rPr>
              <a:t>Use as training data</a:t>
            </a:r>
          </a:p>
        </p:txBody>
      </p:sp>
      <p:sp>
        <p:nvSpPr>
          <p:cNvPr id="18" name="TextBox 17">
            <a:extLst>
              <a:ext uri="{FF2B5EF4-FFF2-40B4-BE49-F238E27FC236}">
                <a16:creationId xmlns:a16="http://schemas.microsoft.com/office/drawing/2014/main" id="{5C2017E9-EAC5-4874-8244-EA84C6C6AC14}"/>
              </a:ext>
            </a:extLst>
          </p:cNvPr>
          <p:cNvSpPr txBox="1"/>
          <p:nvPr/>
        </p:nvSpPr>
        <p:spPr>
          <a:xfrm>
            <a:off x="4219481" y="5194644"/>
            <a:ext cx="1104900" cy="646331"/>
          </a:xfrm>
          <a:prstGeom prst="rect">
            <a:avLst/>
          </a:prstGeom>
          <a:noFill/>
        </p:spPr>
        <p:txBody>
          <a:bodyPr wrap="square" rtlCol="0">
            <a:spAutoFit/>
          </a:bodyPr>
          <a:lstStyle/>
          <a:p>
            <a:r>
              <a:rPr lang="en-US" dirty="0">
                <a:solidFill>
                  <a:srgbClr val="00B050"/>
                </a:solidFill>
              </a:rPr>
              <a:t>Use as test data</a:t>
            </a:r>
          </a:p>
        </p:txBody>
      </p:sp>
    </p:spTree>
    <p:extLst>
      <p:ext uri="{BB962C8B-B14F-4D97-AF65-F5344CB8AC3E}">
        <p14:creationId xmlns:p14="http://schemas.microsoft.com/office/powerpoint/2010/main" val="1283498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D29F-926D-4C0D-B4D5-D327A427C450}"/>
              </a:ext>
            </a:extLst>
          </p:cNvPr>
          <p:cNvSpPr>
            <a:spLocks noGrp="1"/>
          </p:cNvSpPr>
          <p:nvPr>
            <p:ph type="title"/>
          </p:nvPr>
        </p:nvSpPr>
        <p:spPr>
          <a:xfrm>
            <a:off x="657131" y="46990"/>
            <a:ext cx="8229600" cy="1143000"/>
          </a:xfrm>
        </p:spPr>
        <p:txBody>
          <a:bodyPr>
            <a:normAutofit fontScale="90000"/>
          </a:bodyPr>
          <a:lstStyle/>
          <a:p>
            <a:r>
              <a:rPr lang="en-US" dirty="0"/>
              <a:t>Cross-validation with 5 folds example: (continued)</a:t>
            </a:r>
          </a:p>
        </p:txBody>
      </p:sp>
      <p:sp>
        <p:nvSpPr>
          <p:cNvPr id="6" name="TextBox 5">
            <a:extLst>
              <a:ext uri="{FF2B5EF4-FFF2-40B4-BE49-F238E27FC236}">
                <a16:creationId xmlns:a16="http://schemas.microsoft.com/office/drawing/2014/main" id="{4117D503-6488-4E34-AD0C-70F5FBB5ADBB}"/>
              </a:ext>
            </a:extLst>
          </p:cNvPr>
          <p:cNvSpPr txBox="1"/>
          <p:nvPr/>
        </p:nvSpPr>
        <p:spPr>
          <a:xfrm>
            <a:off x="6858000" y="2222559"/>
            <a:ext cx="1752600" cy="3139321"/>
          </a:xfrm>
          <a:prstGeom prst="rect">
            <a:avLst/>
          </a:prstGeom>
          <a:noFill/>
        </p:spPr>
        <p:txBody>
          <a:bodyPr wrap="square" rtlCol="0">
            <a:spAutoFit/>
          </a:bodyPr>
          <a:lstStyle/>
          <a:p>
            <a:r>
              <a:rPr lang="en-US" dirty="0">
                <a:solidFill>
                  <a:srgbClr val="FF0000"/>
                </a:solidFill>
              </a:rPr>
              <a:t>The second time, folds 1,2,3, and 5 will be used to build the regression model and fold 4 will be used as the test data (OOS error again only calculated from fold 4).  </a:t>
            </a:r>
          </a:p>
        </p:txBody>
      </p:sp>
      <p:graphicFrame>
        <p:nvGraphicFramePr>
          <p:cNvPr id="7" name="Content Placeholder 4">
            <a:extLst>
              <a:ext uri="{FF2B5EF4-FFF2-40B4-BE49-F238E27FC236}">
                <a16:creationId xmlns:a16="http://schemas.microsoft.com/office/drawing/2014/main" id="{837DC48F-3D78-4A28-AD38-EFB2D58C1D2A}"/>
              </a:ext>
            </a:extLst>
          </p:cNvPr>
          <p:cNvGraphicFramePr>
            <a:graphicFrameLocks/>
          </p:cNvGraphicFramePr>
          <p:nvPr/>
        </p:nvGraphicFramePr>
        <p:xfrm>
          <a:off x="1066800" y="1752600"/>
          <a:ext cx="1905000" cy="4079240"/>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479456041"/>
                    </a:ext>
                  </a:extLst>
                </a:gridCol>
                <a:gridCol w="952500">
                  <a:extLst>
                    <a:ext uri="{9D8B030D-6E8A-4147-A177-3AD203B41FA5}">
                      <a16:colId xmlns:a16="http://schemas.microsoft.com/office/drawing/2014/main" val="3831102708"/>
                    </a:ext>
                  </a:extLst>
                </a:gridCol>
              </a:tblGrid>
              <a:tr h="370840">
                <a:tc>
                  <a:txBody>
                    <a:bodyPr/>
                    <a:lstStyle/>
                    <a:p>
                      <a:pPr algn="ctr" fontAlgn="b"/>
                      <a:r>
                        <a:rPr lang="en-US" sz="2000" b="0" i="0" u="none" strike="noStrike">
                          <a:solidFill>
                            <a:srgbClr val="000000"/>
                          </a:solidFill>
                          <a:effectLst/>
                          <a:latin typeface="Calibri" panose="020F0502020204030204" pitchFamily="34" charset="0"/>
                        </a:rPr>
                        <a:t>sqft</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saleprice</a:t>
                      </a:r>
                    </a:p>
                  </a:txBody>
                  <a:tcPr marL="9525" marR="9525" marT="9525" marB="0" anchor="b"/>
                </a:tc>
                <a:extLst>
                  <a:ext uri="{0D108BD9-81ED-4DB2-BD59-A6C34878D82A}">
                    <a16:rowId xmlns:a16="http://schemas.microsoft.com/office/drawing/2014/main" val="4024499558"/>
                  </a:ext>
                </a:extLst>
              </a:tr>
              <a:tr h="370840">
                <a:tc>
                  <a:txBody>
                    <a:bodyPr/>
                    <a:lstStyle/>
                    <a:p>
                      <a:pPr algn="ctr" fontAlgn="b"/>
                      <a:r>
                        <a:rPr lang="en-US" sz="2000" b="0" i="0" u="none" strike="noStrike">
                          <a:solidFill>
                            <a:srgbClr val="000000"/>
                          </a:solidFill>
                          <a:effectLst/>
                          <a:latin typeface="Calibri" panose="020F0502020204030204" pitchFamily="34" charset="0"/>
                        </a:rPr>
                        <a:t>1326</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66960</a:t>
                      </a:r>
                    </a:p>
                  </a:txBody>
                  <a:tcPr marL="9525" marR="9525" marT="9525" marB="0" anchor="b"/>
                </a:tc>
                <a:extLst>
                  <a:ext uri="{0D108BD9-81ED-4DB2-BD59-A6C34878D82A}">
                    <a16:rowId xmlns:a16="http://schemas.microsoft.com/office/drawing/2014/main" val="1299772918"/>
                  </a:ext>
                </a:extLst>
              </a:tr>
              <a:tr h="370840">
                <a:tc>
                  <a:txBody>
                    <a:bodyPr/>
                    <a:lstStyle/>
                    <a:p>
                      <a:pPr algn="ctr" fontAlgn="b"/>
                      <a:r>
                        <a:rPr lang="en-US" sz="2000" b="0" i="0" u="none" strike="noStrike">
                          <a:solidFill>
                            <a:srgbClr val="000000"/>
                          </a:solidFill>
                          <a:effectLst/>
                          <a:latin typeface="Calibri" panose="020F0502020204030204" pitchFamily="34" charset="0"/>
                        </a:rPr>
                        <a:t>1391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80400</a:t>
                      </a:r>
                    </a:p>
                  </a:txBody>
                  <a:tcPr marL="9525" marR="9525" marT="9525" marB="0" anchor="b"/>
                </a:tc>
                <a:extLst>
                  <a:ext uri="{0D108BD9-81ED-4DB2-BD59-A6C34878D82A}">
                    <a16:rowId xmlns:a16="http://schemas.microsoft.com/office/drawing/2014/main" val="11948399"/>
                  </a:ext>
                </a:extLst>
              </a:tr>
              <a:tr h="370840">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45600</a:t>
                      </a:r>
                    </a:p>
                  </a:txBody>
                  <a:tcPr marL="9525" marR="9525" marT="9525" marB="0" anchor="b"/>
                </a:tc>
                <a:extLst>
                  <a:ext uri="{0D108BD9-81ED-4DB2-BD59-A6C34878D82A}">
                    <a16:rowId xmlns:a16="http://schemas.microsoft.com/office/drawing/2014/main" val="2211645596"/>
                  </a:ext>
                </a:extLst>
              </a:tr>
              <a:tr h="370840">
                <a:tc>
                  <a:txBody>
                    <a:bodyPr/>
                    <a:lstStyle/>
                    <a:p>
                      <a:pPr algn="ctr" fontAlgn="b"/>
                      <a:r>
                        <a:rPr lang="en-US" sz="2000" b="0" i="0" u="none" strike="noStrike">
                          <a:solidFill>
                            <a:srgbClr val="000000"/>
                          </a:solidFill>
                          <a:effectLst/>
                          <a:latin typeface="Calibri" panose="020F0502020204030204" pitchFamily="34" charset="0"/>
                        </a:rPr>
                        <a:t>1542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74400</a:t>
                      </a:r>
                    </a:p>
                  </a:txBody>
                  <a:tcPr marL="9525" marR="9525" marT="9525" marB="0" anchor="b"/>
                </a:tc>
                <a:extLst>
                  <a:ext uri="{0D108BD9-81ED-4DB2-BD59-A6C34878D82A}">
                    <a16:rowId xmlns:a16="http://schemas.microsoft.com/office/drawing/2014/main" val="3758980523"/>
                  </a:ext>
                </a:extLst>
              </a:tr>
              <a:tr h="370840">
                <a:tc>
                  <a:txBody>
                    <a:bodyPr/>
                    <a:lstStyle/>
                    <a:p>
                      <a:pPr algn="ctr" fontAlgn="b"/>
                      <a:r>
                        <a:rPr lang="en-US" sz="2000" b="0" i="0" u="none" strike="noStrike">
                          <a:solidFill>
                            <a:srgbClr val="000000"/>
                          </a:solidFill>
                          <a:effectLst/>
                          <a:latin typeface="Calibri" panose="020F0502020204030204" pitchFamily="34" charset="0"/>
                        </a:rPr>
                        <a:t>735</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45360</a:t>
                      </a:r>
                    </a:p>
                  </a:txBody>
                  <a:tcPr marL="9525" marR="9525" marT="9525" marB="0" anchor="b"/>
                </a:tc>
                <a:extLst>
                  <a:ext uri="{0D108BD9-81ED-4DB2-BD59-A6C34878D82A}">
                    <a16:rowId xmlns:a16="http://schemas.microsoft.com/office/drawing/2014/main" val="3101464958"/>
                  </a:ext>
                </a:extLst>
              </a:tr>
              <a:tr h="370840">
                <a:tc>
                  <a:txBody>
                    <a:bodyPr/>
                    <a:lstStyle/>
                    <a:p>
                      <a:pPr algn="ctr" fontAlgn="b"/>
                      <a:r>
                        <a:rPr lang="en-US" sz="2000" b="0" i="0" u="none" strike="noStrike">
                          <a:solidFill>
                            <a:srgbClr val="000000"/>
                          </a:solidFill>
                          <a:effectLst/>
                          <a:latin typeface="Calibri" panose="020F0502020204030204" pitchFamily="34" charset="0"/>
                        </a:rPr>
                        <a:t>1444</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91920</a:t>
                      </a:r>
                    </a:p>
                  </a:txBody>
                  <a:tcPr marL="9525" marR="9525" marT="9525" marB="0" anchor="b"/>
                </a:tc>
                <a:extLst>
                  <a:ext uri="{0D108BD9-81ED-4DB2-BD59-A6C34878D82A}">
                    <a16:rowId xmlns:a16="http://schemas.microsoft.com/office/drawing/2014/main" val="2388342843"/>
                  </a:ext>
                </a:extLst>
              </a:tr>
              <a:tr h="370840">
                <a:tc>
                  <a:txBody>
                    <a:bodyPr/>
                    <a:lstStyle/>
                    <a:p>
                      <a:pPr algn="ctr" fontAlgn="b"/>
                      <a:r>
                        <a:rPr lang="en-US" sz="2000" b="0" i="0" u="none" strike="noStrike">
                          <a:solidFill>
                            <a:srgbClr val="000000"/>
                          </a:solidFill>
                          <a:effectLst/>
                          <a:latin typeface="Calibri" panose="020F0502020204030204" pitchFamily="34" charset="0"/>
                        </a:rPr>
                        <a:t>1796</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108000</a:t>
                      </a:r>
                    </a:p>
                  </a:txBody>
                  <a:tcPr marL="9525" marR="9525" marT="9525" marB="0" anchor="b"/>
                </a:tc>
                <a:extLst>
                  <a:ext uri="{0D108BD9-81ED-4DB2-BD59-A6C34878D82A}">
                    <a16:rowId xmlns:a16="http://schemas.microsoft.com/office/drawing/2014/main" val="3374584900"/>
                  </a:ext>
                </a:extLst>
              </a:tr>
              <a:tr h="370840">
                <a:tc>
                  <a:txBody>
                    <a:bodyPr/>
                    <a:lstStyle/>
                    <a:p>
                      <a:pPr algn="ctr" fontAlgn="b"/>
                      <a:r>
                        <a:rPr lang="en-US" sz="2000" b="0" i="0" u="none" strike="noStrike">
                          <a:solidFill>
                            <a:srgbClr val="000000"/>
                          </a:solidFill>
                          <a:effectLst/>
                          <a:latin typeface="Calibri" panose="020F0502020204030204" pitchFamily="34" charset="0"/>
                        </a:rPr>
                        <a:t>1770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104400</a:t>
                      </a:r>
                    </a:p>
                  </a:txBody>
                  <a:tcPr marL="9525" marR="9525" marT="9525" marB="0" anchor="b"/>
                </a:tc>
                <a:extLst>
                  <a:ext uri="{0D108BD9-81ED-4DB2-BD59-A6C34878D82A}">
                    <a16:rowId xmlns:a16="http://schemas.microsoft.com/office/drawing/2014/main" val="494521374"/>
                  </a:ext>
                </a:extLst>
              </a:tr>
              <a:tr h="370840">
                <a:tc>
                  <a:txBody>
                    <a:bodyPr/>
                    <a:lstStyle/>
                    <a:p>
                      <a:pPr algn="ctr" fontAlgn="b"/>
                      <a:r>
                        <a:rPr lang="en-US" sz="2000" b="0" i="0" u="none" strike="noStrike">
                          <a:solidFill>
                            <a:srgbClr val="000000"/>
                          </a:solidFill>
                          <a:effectLst/>
                          <a:latin typeface="Calibri" panose="020F0502020204030204" pitchFamily="34" charset="0"/>
                        </a:rPr>
                        <a:t>1708</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99600</a:t>
                      </a:r>
                    </a:p>
                  </a:txBody>
                  <a:tcPr marL="9525" marR="9525" marT="9525" marB="0" anchor="b"/>
                </a:tc>
                <a:extLst>
                  <a:ext uri="{0D108BD9-81ED-4DB2-BD59-A6C34878D82A}">
                    <a16:rowId xmlns:a16="http://schemas.microsoft.com/office/drawing/2014/main" val="2804242388"/>
                  </a:ext>
                </a:extLst>
              </a:tr>
              <a:tr h="370840">
                <a:tc>
                  <a:txBody>
                    <a:bodyPr/>
                    <a:lstStyle/>
                    <a:p>
                      <a:pPr algn="ctr" fontAlgn="b"/>
                      <a:r>
                        <a:rPr lang="en-US" sz="2000" b="0" i="0" u="none" strike="noStrike">
                          <a:solidFill>
                            <a:srgbClr val="000000"/>
                          </a:solidFill>
                          <a:effectLst/>
                          <a:latin typeface="Calibri" panose="020F0502020204030204" pitchFamily="34" charset="0"/>
                        </a:rPr>
                        <a:t>1529</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85200</a:t>
                      </a:r>
                    </a:p>
                  </a:txBody>
                  <a:tcPr marL="9525" marR="9525" marT="9525" marB="0" anchor="b"/>
                </a:tc>
                <a:extLst>
                  <a:ext uri="{0D108BD9-81ED-4DB2-BD59-A6C34878D82A}">
                    <a16:rowId xmlns:a16="http://schemas.microsoft.com/office/drawing/2014/main" val="3710858753"/>
                  </a:ext>
                </a:extLst>
              </a:tr>
            </a:tbl>
          </a:graphicData>
        </a:graphic>
      </p:graphicFrame>
      <p:sp>
        <p:nvSpPr>
          <p:cNvPr id="8" name="Rectangle: Rounded Corners 7">
            <a:extLst>
              <a:ext uri="{FF2B5EF4-FFF2-40B4-BE49-F238E27FC236}">
                <a16:creationId xmlns:a16="http://schemas.microsoft.com/office/drawing/2014/main" id="{F2210CF0-1C14-463C-AFBF-AA0756A49447}"/>
              </a:ext>
            </a:extLst>
          </p:cNvPr>
          <p:cNvSpPr/>
          <p:nvPr/>
        </p:nvSpPr>
        <p:spPr>
          <a:xfrm>
            <a:off x="647700" y="2133600"/>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6633C1E-2758-4813-8680-3C1B2F5709A4}"/>
              </a:ext>
            </a:extLst>
          </p:cNvPr>
          <p:cNvSpPr/>
          <p:nvPr/>
        </p:nvSpPr>
        <p:spPr>
          <a:xfrm>
            <a:off x="677124" y="289532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EEF096E-3BC8-4498-9FAF-B67359AF33CE}"/>
              </a:ext>
            </a:extLst>
          </p:cNvPr>
          <p:cNvSpPr/>
          <p:nvPr/>
        </p:nvSpPr>
        <p:spPr>
          <a:xfrm>
            <a:off x="677124" y="3657042"/>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BC2BE11-FD84-41F1-8C8C-8D6284B121E7}"/>
              </a:ext>
            </a:extLst>
          </p:cNvPr>
          <p:cNvSpPr/>
          <p:nvPr/>
        </p:nvSpPr>
        <p:spPr>
          <a:xfrm>
            <a:off x="695231" y="440154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FAC16D8-DED3-4CF8-93B2-213F42E1D63A}"/>
              </a:ext>
            </a:extLst>
          </p:cNvPr>
          <p:cNvSpPr/>
          <p:nvPr/>
        </p:nvSpPr>
        <p:spPr>
          <a:xfrm>
            <a:off x="695231" y="5126777"/>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966F1B-8E6F-403C-AE25-4A16CB3B1530}"/>
              </a:ext>
            </a:extLst>
          </p:cNvPr>
          <p:cNvSpPr txBox="1"/>
          <p:nvPr/>
        </p:nvSpPr>
        <p:spPr>
          <a:xfrm>
            <a:off x="276131" y="2133600"/>
            <a:ext cx="562069" cy="3693319"/>
          </a:xfrm>
          <a:prstGeom prst="rect">
            <a:avLst/>
          </a:prstGeom>
          <a:noFill/>
        </p:spPr>
        <p:txBody>
          <a:bodyPr wrap="square" rtlCol="0">
            <a:spAutoFit/>
          </a:bodyPr>
          <a:lstStyle/>
          <a:p>
            <a:r>
              <a:rPr lang="en-US" dirty="0">
                <a:solidFill>
                  <a:srgbClr val="FF0000"/>
                </a:solidFill>
              </a:rPr>
              <a:t>1.</a:t>
            </a:r>
          </a:p>
          <a:p>
            <a:endParaRPr lang="en-US" dirty="0">
              <a:solidFill>
                <a:srgbClr val="FF0000"/>
              </a:solidFill>
            </a:endParaRPr>
          </a:p>
          <a:p>
            <a:endParaRPr lang="en-US" dirty="0">
              <a:solidFill>
                <a:srgbClr val="FF0000"/>
              </a:solidFill>
            </a:endParaRPr>
          </a:p>
          <a:p>
            <a:r>
              <a:rPr lang="en-US" dirty="0">
                <a:solidFill>
                  <a:srgbClr val="FF0000"/>
                </a:solidFill>
              </a:rPr>
              <a:t>2.</a:t>
            </a:r>
          </a:p>
          <a:p>
            <a:endParaRPr lang="en-US" dirty="0">
              <a:solidFill>
                <a:srgbClr val="FF0000"/>
              </a:solidFill>
            </a:endParaRPr>
          </a:p>
          <a:p>
            <a:endParaRPr lang="en-US" dirty="0">
              <a:solidFill>
                <a:srgbClr val="FF0000"/>
              </a:solidFill>
            </a:endParaRPr>
          </a:p>
          <a:p>
            <a:r>
              <a:rPr lang="en-US" dirty="0">
                <a:solidFill>
                  <a:srgbClr val="FF0000"/>
                </a:solidFill>
              </a:rPr>
              <a:t>3.</a:t>
            </a:r>
          </a:p>
          <a:p>
            <a:endParaRPr lang="en-US" dirty="0">
              <a:solidFill>
                <a:srgbClr val="FF0000"/>
              </a:solidFill>
            </a:endParaRPr>
          </a:p>
          <a:p>
            <a:endParaRPr lang="en-US" dirty="0">
              <a:solidFill>
                <a:srgbClr val="FF0000"/>
              </a:solidFill>
            </a:endParaRPr>
          </a:p>
          <a:p>
            <a:r>
              <a:rPr lang="en-US" dirty="0">
                <a:solidFill>
                  <a:srgbClr val="FF0000"/>
                </a:solidFill>
              </a:rPr>
              <a:t>4.</a:t>
            </a:r>
          </a:p>
          <a:p>
            <a:endParaRPr lang="en-US" dirty="0">
              <a:solidFill>
                <a:srgbClr val="FF0000"/>
              </a:solidFill>
            </a:endParaRPr>
          </a:p>
          <a:p>
            <a:endParaRPr lang="en-US" dirty="0">
              <a:solidFill>
                <a:srgbClr val="FF0000"/>
              </a:solidFill>
            </a:endParaRPr>
          </a:p>
          <a:p>
            <a:r>
              <a:rPr lang="en-US" dirty="0">
                <a:solidFill>
                  <a:srgbClr val="FF0000"/>
                </a:solidFill>
              </a:rPr>
              <a:t>5.</a:t>
            </a:r>
          </a:p>
        </p:txBody>
      </p:sp>
      <p:sp>
        <p:nvSpPr>
          <p:cNvPr id="17" name="TextBox 16">
            <a:extLst>
              <a:ext uri="{FF2B5EF4-FFF2-40B4-BE49-F238E27FC236}">
                <a16:creationId xmlns:a16="http://schemas.microsoft.com/office/drawing/2014/main" id="{3F25FCD7-1ECE-4AC0-99FF-269B05293BB8}"/>
              </a:ext>
            </a:extLst>
          </p:cNvPr>
          <p:cNvSpPr txBox="1"/>
          <p:nvPr/>
        </p:nvSpPr>
        <p:spPr>
          <a:xfrm>
            <a:off x="5684856" y="3633368"/>
            <a:ext cx="1104900" cy="923330"/>
          </a:xfrm>
          <a:prstGeom prst="rect">
            <a:avLst/>
          </a:prstGeom>
          <a:noFill/>
        </p:spPr>
        <p:txBody>
          <a:bodyPr wrap="square" rtlCol="0">
            <a:spAutoFit/>
          </a:bodyPr>
          <a:lstStyle/>
          <a:p>
            <a:r>
              <a:rPr lang="en-US" dirty="0">
                <a:solidFill>
                  <a:srgbClr val="00B050"/>
                </a:solidFill>
              </a:rPr>
              <a:t>Use as training data</a:t>
            </a:r>
          </a:p>
        </p:txBody>
      </p:sp>
      <p:sp>
        <p:nvSpPr>
          <p:cNvPr id="18" name="TextBox 17">
            <a:extLst>
              <a:ext uri="{FF2B5EF4-FFF2-40B4-BE49-F238E27FC236}">
                <a16:creationId xmlns:a16="http://schemas.microsoft.com/office/drawing/2014/main" id="{5C2017E9-EAC5-4874-8244-EA84C6C6AC14}"/>
              </a:ext>
            </a:extLst>
          </p:cNvPr>
          <p:cNvSpPr txBox="1"/>
          <p:nvPr/>
        </p:nvSpPr>
        <p:spPr>
          <a:xfrm>
            <a:off x="3732848" y="4379294"/>
            <a:ext cx="1104900" cy="646331"/>
          </a:xfrm>
          <a:prstGeom prst="rect">
            <a:avLst/>
          </a:prstGeom>
          <a:noFill/>
        </p:spPr>
        <p:txBody>
          <a:bodyPr wrap="square" rtlCol="0">
            <a:spAutoFit/>
          </a:bodyPr>
          <a:lstStyle/>
          <a:p>
            <a:r>
              <a:rPr lang="en-US" dirty="0">
                <a:solidFill>
                  <a:srgbClr val="00B050"/>
                </a:solidFill>
              </a:rPr>
              <a:t>Use as test data</a:t>
            </a:r>
          </a:p>
        </p:txBody>
      </p:sp>
      <p:cxnSp>
        <p:nvCxnSpPr>
          <p:cNvPr id="4" name="Straight Arrow Connector 3">
            <a:extLst>
              <a:ext uri="{FF2B5EF4-FFF2-40B4-BE49-F238E27FC236}">
                <a16:creationId xmlns:a16="http://schemas.microsoft.com/office/drawing/2014/main" id="{9A669926-ADE3-4654-9603-ABB30956E8ED}"/>
              </a:ext>
            </a:extLst>
          </p:cNvPr>
          <p:cNvCxnSpPr/>
          <p:nvPr/>
        </p:nvCxnSpPr>
        <p:spPr>
          <a:xfrm flipH="1" flipV="1">
            <a:off x="3577901" y="2590800"/>
            <a:ext cx="2017622" cy="120141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165D14F-618E-4292-8711-CB3CE1B38C22}"/>
              </a:ext>
            </a:extLst>
          </p:cNvPr>
          <p:cNvCxnSpPr>
            <a:cxnSpLocks/>
          </p:cNvCxnSpPr>
          <p:nvPr/>
        </p:nvCxnSpPr>
        <p:spPr>
          <a:xfrm flipH="1" flipV="1">
            <a:off x="3648924" y="3224632"/>
            <a:ext cx="2103149" cy="95719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E6FE71D-5AC0-41FF-9586-B9E1DC871BE3}"/>
              </a:ext>
            </a:extLst>
          </p:cNvPr>
          <p:cNvCxnSpPr>
            <a:cxnSpLocks/>
          </p:cNvCxnSpPr>
          <p:nvPr/>
        </p:nvCxnSpPr>
        <p:spPr>
          <a:xfrm flipH="1" flipV="1">
            <a:off x="3645762" y="3922941"/>
            <a:ext cx="1970850" cy="344259"/>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918DCFD-D59C-4D2A-91C0-EAFF0DFC9DF0}"/>
              </a:ext>
            </a:extLst>
          </p:cNvPr>
          <p:cNvCxnSpPr>
            <a:cxnSpLocks/>
          </p:cNvCxnSpPr>
          <p:nvPr/>
        </p:nvCxnSpPr>
        <p:spPr>
          <a:xfrm flipH="1">
            <a:off x="3535138" y="4490528"/>
            <a:ext cx="2484662" cy="1247346"/>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CF331CA1-7D46-4843-8DAB-B92602A0D30E}"/>
              </a:ext>
            </a:extLst>
          </p:cNvPr>
          <p:cNvSpPr/>
          <p:nvPr/>
        </p:nvSpPr>
        <p:spPr>
          <a:xfrm>
            <a:off x="276131" y="4342842"/>
            <a:ext cx="4561617" cy="78151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6896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4D29F-926D-4C0D-B4D5-D327A427C450}"/>
              </a:ext>
            </a:extLst>
          </p:cNvPr>
          <p:cNvSpPr>
            <a:spLocks noGrp="1"/>
          </p:cNvSpPr>
          <p:nvPr>
            <p:ph type="title"/>
          </p:nvPr>
        </p:nvSpPr>
        <p:spPr>
          <a:xfrm>
            <a:off x="657131" y="46990"/>
            <a:ext cx="8229600" cy="1143000"/>
          </a:xfrm>
        </p:spPr>
        <p:txBody>
          <a:bodyPr>
            <a:normAutofit fontScale="90000"/>
          </a:bodyPr>
          <a:lstStyle/>
          <a:p>
            <a:r>
              <a:rPr lang="en-US" dirty="0"/>
              <a:t>Cross-validation with 5 folds example: (continued)</a:t>
            </a:r>
          </a:p>
        </p:txBody>
      </p:sp>
      <p:sp>
        <p:nvSpPr>
          <p:cNvPr id="6" name="TextBox 5">
            <a:extLst>
              <a:ext uri="{FF2B5EF4-FFF2-40B4-BE49-F238E27FC236}">
                <a16:creationId xmlns:a16="http://schemas.microsoft.com/office/drawing/2014/main" id="{4117D503-6488-4E34-AD0C-70F5FBB5ADBB}"/>
              </a:ext>
            </a:extLst>
          </p:cNvPr>
          <p:cNvSpPr txBox="1"/>
          <p:nvPr/>
        </p:nvSpPr>
        <p:spPr>
          <a:xfrm>
            <a:off x="5943600" y="1958054"/>
            <a:ext cx="2286000" cy="2585323"/>
          </a:xfrm>
          <a:prstGeom prst="rect">
            <a:avLst/>
          </a:prstGeom>
          <a:noFill/>
        </p:spPr>
        <p:txBody>
          <a:bodyPr wrap="square" rtlCol="0">
            <a:spAutoFit/>
          </a:bodyPr>
          <a:lstStyle/>
          <a:p>
            <a:r>
              <a:rPr lang="en-US" dirty="0">
                <a:solidFill>
                  <a:srgbClr val="FF0000"/>
                </a:solidFill>
              </a:rPr>
              <a:t>This process is repeated until each fold has been used as the test data once.  The OOS error is then averaged to provide an accurate </a:t>
            </a:r>
            <a:r>
              <a:rPr lang="en-US" dirty="0" err="1">
                <a:solidFill>
                  <a:srgbClr val="FF0000"/>
                </a:solidFill>
              </a:rPr>
              <a:t>estiate</a:t>
            </a:r>
            <a:r>
              <a:rPr lang="en-US" dirty="0">
                <a:solidFill>
                  <a:srgbClr val="FF0000"/>
                </a:solidFill>
              </a:rPr>
              <a:t> of how the model will make predictions.  </a:t>
            </a:r>
          </a:p>
        </p:txBody>
      </p:sp>
      <p:graphicFrame>
        <p:nvGraphicFramePr>
          <p:cNvPr id="7" name="Content Placeholder 4">
            <a:extLst>
              <a:ext uri="{FF2B5EF4-FFF2-40B4-BE49-F238E27FC236}">
                <a16:creationId xmlns:a16="http://schemas.microsoft.com/office/drawing/2014/main" id="{837DC48F-3D78-4A28-AD38-EFB2D58C1D2A}"/>
              </a:ext>
            </a:extLst>
          </p:cNvPr>
          <p:cNvGraphicFramePr>
            <a:graphicFrameLocks/>
          </p:cNvGraphicFramePr>
          <p:nvPr/>
        </p:nvGraphicFramePr>
        <p:xfrm>
          <a:off x="1066800" y="1752600"/>
          <a:ext cx="1905000" cy="4079240"/>
        </p:xfrm>
        <a:graphic>
          <a:graphicData uri="http://schemas.openxmlformats.org/drawingml/2006/table">
            <a:tbl>
              <a:tblPr firstRow="1" bandRow="1">
                <a:tableStyleId>{5940675A-B579-460E-94D1-54222C63F5DA}</a:tableStyleId>
              </a:tblPr>
              <a:tblGrid>
                <a:gridCol w="952500">
                  <a:extLst>
                    <a:ext uri="{9D8B030D-6E8A-4147-A177-3AD203B41FA5}">
                      <a16:colId xmlns:a16="http://schemas.microsoft.com/office/drawing/2014/main" val="479456041"/>
                    </a:ext>
                  </a:extLst>
                </a:gridCol>
                <a:gridCol w="952500">
                  <a:extLst>
                    <a:ext uri="{9D8B030D-6E8A-4147-A177-3AD203B41FA5}">
                      <a16:colId xmlns:a16="http://schemas.microsoft.com/office/drawing/2014/main" val="3831102708"/>
                    </a:ext>
                  </a:extLst>
                </a:gridCol>
              </a:tblGrid>
              <a:tr h="370840">
                <a:tc>
                  <a:txBody>
                    <a:bodyPr/>
                    <a:lstStyle/>
                    <a:p>
                      <a:pPr algn="ctr" fontAlgn="b"/>
                      <a:r>
                        <a:rPr lang="en-US" sz="2000" b="0" i="0" u="none" strike="noStrike">
                          <a:solidFill>
                            <a:srgbClr val="000000"/>
                          </a:solidFill>
                          <a:effectLst/>
                          <a:latin typeface="Calibri" panose="020F0502020204030204" pitchFamily="34" charset="0"/>
                        </a:rPr>
                        <a:t>sqft</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saleprice</a:t>
                      </a:r>
                    </a:p>
                  </a:txBody>
                  <a:tcPr marL="9525" marR="9525" marT="9525" marB="0" anchor="b"/>
                </a:tc>
                <a:extLst>
                  <a:ext uri="{0D108BD9-81ED-4DB2-BD59-A6C34878D82A}">
                    <a16:rowId xmlns:a16="http://schemas.microsoft.com/office/drawing/2014/main" val="4024499558"/>
                  </a:ext>
                </a:extLst>
              </a:tr>
              <a:tr h="370840">
                <a:tc>
                  <a:txBody>
                    <a:bodyPr/>
                    <a:lstStyle/>
                    <a:p>
                      <a:pPr algn="ctr" fontAlgn="b"/>
                      <a:r>
                        <a:rPr lang="en-US" sz="2000" b="0" i="0" u="none" strike="noStrike">
                          <a:solidFill>
                            <a:srgbClr val="000000"/>
                          </a:solidFill>
                          <a:effectLst/>
                          <a:latin typeface="Calibri" panose="020F0502020204030204" pitchFamily="34" charset="0"/>
                        </a:rPr>
                        <a:t>1326</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66960</a:t>
                      </a:r>
                    </a:p>
                  </a:txBody>
                  <a:tcPr marL="9525" marR="9525" marT="9525" marB="0" anchor="b"/>
                </a:tc>
                <a:extLst>
                  <a:ext uri="{0D108BD9-81ED-4DB2-BD59-A6C34878D82A}">
                    <a16:rowId xmlns:a16="http://schemas.microsoft.com/office/drawing/2014/main" val="1299772918"/>
                  </a:ext>
                </a:extLst>
              </a:tr>
              <a:tr h="370840">
                <a:tc>
                  <a:txBody>
                    <a:bodyPr/>
                    <a:lstStyle/>
                    <a:p>
                      <a:pPr algn="ctr" fontAlgn="b"/>
                      <a:r>
                        <a:rPr lang="en-US" sz="2000" b="0" i="0" u="none" strike="noStrike">
                          <a:solidFill>
                            <a:srgbClr val="000000"/>
                          </a:solidFill>
                          <a:effectLst/>
                          <a:latin typeface="Calibri" panose="020F0502020204030204" pitchFamily="34" charset="0"/>
                        </a:rPr>
                        <a:t>1391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80400</a:t>
                      </a:r>
                    </a:p>
                  </a:txBody>
                  <a:tcPr marL="9525" marR="9525" marT="9525" marB="0" anchor="b"/>
                </a:tc>
                <a:extLst>
                  <a:ext uri="{0D108BD9-81ED-4DB2-BD59-A6C34878D82A}">
                    <a16:rowId xmlns:a16="http://schemas.microsoft.com/office/drawing/2014/main" val="11948399"/>
                  </a:ext>
                </a:extLst>
              </a:tr>
              <a:tr h="370840">
                <a:tc>
                  <a:txBody>
                    <a:bodyPr/>
                    <a:lstStyle/>
                    <a:p>
                      <a:pPr algn="ctr" fontAlgn="b"/>
                      <a:r>
                        <a:rPr lang="en-US" sz="2000" b="0" i="0" u="none" strike="noStrike">
                          <a:solidFill>
                            <a:srgbClr val="000000"/>
                          </a:solidFill>
                          <a:effectLst/>
                          <a:latin typeface="Calibri" panose="020F0502020204030204" pitchFamily="34" charset="0"/>
                        </a:rPr>
                        <a:t>1000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45600</a:t>
                      </a:r>
                    </a:p>
                  </a:txBody>
                  <a:tcPr marL="9525" marR="9525" marT="9525" marB="0" anchor="b"/>
                </a:tc>
                <a:extLst>
                  <a:ext uri="{0D108BD9-81ED-4DB2-BD59-A6C34878D82A}">
                    <a16:rowId xmlns:a16="http://schemas.microsoft.com/office/drawing/2014/main" val="2211645596"/>
                  </a:ext>
                </a:extLst>
              </a:tr>
              <a:tr h="370840">
                <a:tc>
                  <a:txBody>
                    <a:bodyPr/>
                    <a:lstStyle/>
                    <a:p>
                      <a:pPr algn="ctr" fontAlgn="b"/>
                      <a:r>
                        <a:rPr lang="en-US" sz="2000" b="0" i="0" u="none" strike="noStrike">
                          <a:solidFill>
                            <a:srgbClr val="000000"/>
                          </a:solidFill>
                          <a:effectLst/>
                          <a:latin typeface="Calibri" panose="020F0502020204030204" pitchFamily="34" charset="0"/>
                        </a:rPr>
                        <a:t>1542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74400</a:t>
                      </a:r>
                    </a:p>
                  </a:txBody>
                  <a:tcPr marL="9525" marR="9525" marT="9525" marB="0" anchor="b"/>
                </a:tc>
                <a:extLst>
                  <a:ext uri="{0D108BD9-81ED-4DB2-BD59-A6C34878D82A}">
                    <a16:rowId xmlns:a16="http://schemas.microsoft.com/office/drawing/2014/main" val="3758980523"/>
                  </a:ext>
                </a:extLst>
              </a:tr>
              <a:tr h="370840">
                <a:tc>
                  <a:txBody>
                    <a:bodyPr/>
                    <a:lstStyle/>
                    <a:p>
                      <a:pPr algn="ctr" fontAlgn="b"/>
                      <a:r>
                        <a:rPr lang="en-US" sz="2000" b="0" i="0" u="none" strike="noStrike">
                          <a:solidFill>
                            <a:srgbClr val="000000"/>
                          </a:solidFill>
                          <a:effectLst/>
                          <a:latin typeface="Calibri" panose="020F0502020204030204" pitchFamily="34" charset="0"/>
                        </a:rPr>
                        <a:t>735</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45360</a:t>
                      </a:r>
                    </a:p>
                  </a:txBody>
                  <a:tcPr marL="9525" marR="9525" marT="9525" marB="0" anchor="b"/>
                </a:tc>
                <a:extLst>
                  <a:ext uri="{0D108BD9-81ED-4DB2-BD59-A6C34878D82A}">
                    <a16:rowId xmlns:a16="http://schemas.microsoft.com/office/drawing/2014/main" val="3101464958"/>
                  </a:ext>
                </a:extLst>
              </a:tr>
              <a:tr h="370840">
                <a:tc>
                  <a:txBody>
                    <a:bodyPr/>
                    <a:lstStyle/>
                    <a:p>
                      <a:pPr algn="ctr" fontAlgn="b"/>
                      <a:r>
                        <a:rPr lang="en-US" sz="2000" b="0" i="0" u="none" strike="noStrike">
                          <a:solidFill>
                            <a:srgbClr val="000000"/>
                          </a:solidFill>
                          <a:effectLst/>
                          <a:latin typeface="Calibri" panose="020F0502020204030204" pitchFamily="34" charset="0"/>
                        </a:rPr>
                        <a:t>1444</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91920</a:t>
                      </a:r>
                    </a:p>
                  </a:txBody>
                  <a:tcPr marL="9525" marR="9525" marT="9525" marB="0" anchor="b"/>
                </a:tc>
                <a:extLst>
                  <a:ext uri="{0D108BD9-81ED-4DB2-BD59-A6C34878D82A}">
                    <a16:rowId xmlns:a16="http://schemas.microsoft.com/office/drawing/2014/main" val="2388342843"/>
                  </a:ext>
                </a:extLst>
              </a:tr>
              <a:tr h="370840">
                <a:tc>
                  <a:txBody>
                    <a:bodyPr/>
                    <a:lstStyle/>
                    <a:p>
                      <a:pPr algn="ctr" fontAlgn="b"/>
                      <a:r>
                        <a:rPr lang="en-US" sz="2000" b="0" i="0" u="none" strike="noStrike">
                          <a:solidFill>
                            <a:srgbClr val="000000"/>
                          </a:solidFill>
                          <a:effectLst/>
                          <a:latin typeface="Calibri" panose="020F0502020204030204" pitchFamily="34" charset="0"/>
                        </a:rPr>
                        <a:t>1796</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108000</a:t>
                      </a:r>
                    </a:p>
                  </a:txBody>
                  <a:tcPr marL="9525" marR="9525" marT="9525" marB="0" anchor="b"/>
                </a:tc>
                <a:extLst>
                  <a:ext uri="{0D108BD9-81ED-4DB2-BD59-A6C34878D82A}">
                    <a16:rowId xmlns:a16="http://schemas.microsoft.com/office/drawing/2014/main" val="3374584900"/>
                  </a:ext>
                </a:extLst>
              </a:tr>
              <a:tr h="370840">
                <a:tc>
                  <a:txBody>
                    <a:bodyPr/>
                    <a:lstStyle/>
                    <a:p>
                      <a:pPr algn="ctr" fontAlgn="b"/>
                      <a:r>
                        <a:rPr lang="en-US" sz="2000" b="0" i="0" u="none" strike="noStrike">
                          <a:solidFill>
                            <a:srgbClr val="000000"/>
                          </a:solidFill>
                          <a:effectLst/>
                          <a:latin typeface="Calibri" panose="020F0502020204030204" pitchFamily="34" charset="0"/>
                        </a:rPr>
                        <a:t>1770</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104400</a:t>
                      </a:r>
                    </a:p>
                  </a:txBody>
                  <a:tcPr marL="9525" marR="9525" marT="9525" marB="0" anchor="b"/>
                </a:tc>
                <a:extLst>
                  <a:ext uri="{0D108BD9-81ED-4DB2-BD59-A6C34878D82A}">
                    <a16:rowId xmlns:a16="http://schemas.microsoft.com/office/drawing/2014/main" val="494521374"/>
                  </a:ext>
                </a:extLst>
              </a:tr>
              <a:tr h="370840">
                <a:tc>
                  <a:txBody>
                    <a:bodyPr/>
                    <a:lstStyle/>
                    <a:p>
                      <a:pPr algn="ctr" fontAlgn="b"/>
                      <a:r>
                        <a:rPr lang="en-US" sz="2000" b="0" i="0" u="none" strike="noStrike">
                          <a:solidFill>
                            <a:srgbClr val="000000"/>
                          </a:solidFill>
                          <a:effectLst/>
                          <a:latin typeface="Calibri" panose="020F0502020204030204" pitchFamily="34" charset="0"/>
                        </a:rPr>
                        <a:t>1708</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99600</a:t>
                      </a:r>
                    </a:p>
                  </a:txBody>
                  <a:tcPr marL="9525" marR="9525" marT="9525" marB="0" anchor="b"/>
                </a:tc>
                <a:extLst>
                  <a:ext uri="{0D108BD9-81ED-4DB2-BD59-A6C34878D82A}">
                    <a16:rowId xmlns:a16="http://schemas.microsoft.com/office/drawing/2014/main" val="2804242388"/>
                  </a:ext>
                </a:extLst>
              </a:tr>
              <a:tr h="370840">
                <a:tc>
                  <a:txBody>
                    <a:bodyPr/>
                    <a:lstStyle/>
                    <a:p>
                      <a:pPr algn="ctr" fontAlgn="b"/>
                      <a:r>
                        <a:rPr lang="en-US" sz="2000" b="0" i="0" u="none" strike="noStrike">
                          <a:solidFill>
                            <a:srgbClr val="000000"/>
                          </a:solidFill>
                          <a:effectLst/>
                          <a:latin typeface="Calibri" panose="020F0502020204030204" pitchFamily="34" charset="0"/>
                        </a:rPr>
                        <a:t>1529</a:t>
                      </a:r>
                    </a:p>
                  </a:txBody>
                  <a:tcPr marL="9525" marR="9525" marT="9525" marB="0" anchor="b"/>
                </a:tc>
                <a:tc>
                  <a:txBody>
                    <a:bodyPr/>
                    <a:lstStyle/>
                    <a:p>
                      <a:pPr algn="ctr" fontAlgn="b"/>
                      <a:r>
                        <a:rPr lang="en-US" sz="2000" b="0" i="0" u="none" strike="noStrike" dirty="0">
                          <a:solidFill>
                            <a:srgbClr val="000000"/>
                          </a:solidFill>
                          <a:effectLst/>
                          <a:latin typeface="Calibri" panose="020F0502020204030204" pitchFamily="34" charset="0"/>
                        </a:rPr>
                        <a:t>85200</a:t>
                      </a:r>
                    </a:p>
                  </a:txBody>
                  <a:tcPr marL="9525" marR="9525" marT="9525" marB="0" anchor="b"/>
                </a:tc>
                <a:extLst>
                  <a:ext uri="{0D108BD9-81ED-4DB2-BD59-A6C34878D82A}">
                    <a16:rowId xmlns:a16="http://schemas.microsoft.com/office/drawing/2014/main" val="3710858753"/>
                  </a:ext>
                </a:extLst>
              </a:tr>
            </a:tbl>
          </a:graphicData>
        </a:graphic>
      </p:graphicFrame>
      <p:sp>
        <p:nvSpPr>
          <p:cNvPr id="8" name="Rectangle: Rounded Corners 7">
            <a:extLst>
              <a:ext uri="{FF2B5EF4-FFF2-40B4-BE49-F238E27FC236}">
                <a16:creationId xmlns:a16="http://schemas.microsoft.com/office/drawing/2014/main" id="{F2210CF0-1C14-463C-AFBF-AA0756A49447}"/>
              </a:ext>
            </a:extLst>
          </p:cNvPr>
          <p:cNvSpPr/>
          <p:nvPr/>
        </p:nvSpPr>
        <p:spPr>
          <a:xfrm>
            <a:off x="647700" y="2133600"/>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F6633C1E-2758-4813-8680-3C1B2F5709A4}"/>
              </a:ext>
            </a:extLst>
          </p:cNvPr>
          <p:cNvSpPr/>
          <p:nvPr/>
        </p:nvSpPr>
        <p:spPr>
          <a:xfrm>
            <a:off x="677124" y="289532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EEF096E-3BC8-4498-9FAF-B67359AF33CE}"/>
              </a:ext>
            </a:extLst>
          </p:cNvPr>
          <p:cNvSpPr/>
          <p:nvPr/>
        </p:nvSpPr>
        <p:spPr>
          <a:xfrm>
            <a:off x="677124" y="3657042"/>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2BC2BE11-FD84-41F1-8C8C-8D6284B121E7}"/>
              </a:ext>
            </a:extLst>
          </p:cNvPr>
          <p:cNvSpPr/>
          <p:nvPr/>
        </p:nvSpPr>
        <p:spPr>
          <a:xfrm>
            <a:off x="695231" y="4401541"/>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7FAC16D8-DED3-4CF8-93B2-213F42E1D63A}"/>
              </a:ext>
            </a:extLst>
          </p:cNvPr>
          <p:cNvSpPr/>
          <p:nvPr/>
        </p:nvSpPr>
        <p:spPr>
          <a:xfrm>
            <a:off x="695231" y="5126777"/>
            <a:ext cx="2743200" cy="6858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C966F1B-8E6F-403C-AE25-4A16CB3B1530}"/>
              </a:ext>
            </a:extLst>
          </p:cNvPr>
          <p:cNvSpPr txBox="1"/>
          <p:nvPr/>
        </p:nvSpPr>
        <p:spPr>
          <a:xfrm>
            <a:off x="276131" y="2133600"/>
            <a:ext cx="562069" cy="3693319"/>
          </a:xfrm>
          <a:prstGeom prst="rect">
            <a:avLst/>
          </a:prstGeom>
          <a:noFill/>
        </p:spPr>
        <p:txBody>
          <a:bodyPr wrap="square" rtlCol="0">
            <a:spAutoFit/>
          </a:bodyPr>
          <a:lstStyle/>
          <a:p>
            <a:r>
              <a:rPr lang="en-US" dirty="0">
                <a:solidFill>
                  <a:srgbClr val="FF0000"/>
                </a:solidFill>
              </a:rPr>
              <a:t>1.</a:t>
            </a:r>
          </a:p>
          <a:p>
            <a:endParaRPr lang="en-US" dirty="0">
              <a:solidFill>
                <a:srgbClr val="FF0000"/>
              </a:solidFill>
            </a:endParaRPr>
          </a:p>
          <a:p>
            <a:endParaRPr lang="en-US" dirty="0">
              <a:solidFill>
                <a:srgbClr val="FF0000"/>
              </a:solidFill>
            </a:endParaRPr>
          </a:p>
          <a:p>
            <a:r>
              <a:rPr lang="en-US" dirty="0">
                <a:solidFill>
                  <a:srgbClr val="FF0000"/>
                </a:solidFill>
              </a:rPr>
              <a:t>2.</a:t>
            </a:r>
          </a:p>
          <a:p>
            <a:endParaRPr lang="en-US" dirty="0">
              <a:solidFill>
                <a:srgbClr val="FF0000"/>
              </a:solidFill>
            </a:endParaRPr>
          </a:p>
          <a:p>
            <a:endParaRPr lang="en-US" dirty="0">
              <a:solidFill>
                <a:srgbClr val="FF0000"/>
              </a:solidFill>
            </a:endParaRPr>
          </a:p>
          <a:p>
            <a:r>
              <a:rPr lang="en-US" dirty="0">
                <a:solidFill>
                  <a:srgbClr val="FF0000"/>
                </a:solidFill>
              </a:rPr>
              <a:t>3.</a:t>
            </a:r>
          </a:p>
          <a:p>
            <a:endParaRPr lang="en-US" dirty="0">
              <a:solidFill>
                <a:srgbClr val="FF0000"/>
              </a:solidFill>
            </a:endParaRPr>
          </a:p>
          <a:p>
            <a:endParaRPr lang="en-US" dirty="0">
              <a:solidFill>
                <a:srgbClr val="FF0000"/>
              </a:solidFill>
            </a:endParaRPr>
          </a:p>
          <a:p>
            <a:r>
              <a:rPr lang="en-US" dirty="0">
                <a:solidFill>
                  <a:srgbClr val="FF0000"/>
                </a:solidFill>
              </a:rPr>
              <a:t>4.</a:t>
            </a:r>
          </a:p>
          <a:p>
            <a:endParaRPr lang="en-US" dirty="0">
              <a:solidFill>
                <a:srgbClr val="FF0000"/>
              </a:solidFill>
            </a:endParaRPr>
          </a:p>
          <a:p>
            <a:endParaRPr lang="en-US" dirty="0">
              <a:solidFill>
                <a:srgbClr val="FF0000"/>
              </a:solidFill>
            </a:endParaRPr>
          </a:p>
          <a:p>
            <a:r>
              <a:rPr lang="en-US" dirty="0">
                <a:solidFill>
                  <a:srgbClr val="FF0000"/>
                </a:solidFill>
              </a:rPr>
              <a:t>5.</a:t>
            </a:r>
          </a:p>
        </p:txBody>
      </p:sp>
      <p:sp>
        <p:nvSpPr>
          <p:cNvPr id="15" name="Right Brace 14">
            <a:extLst>
              <a:ext uri="{FF2B5EF4-FFF2-40B4-BE49-F238E27FC236}">
                <a16:creationId xmlns:a16="http://schemas.microsoft.com/office/drawing/2014/main" id="{2BA01CA6-2841-44C9-A372-ADFD43A4E85E}"/>
              </a:ext>
            </a:extLst>
          </p:cNvPr>
          <p:cNvSpPr/>
          <p:nvPr/>
        </p:nvSpPr>
        <p:spPr>
          <a:xfrm>
            <a:off x="3695512" y="2964597"/>
            <a:ext cx="523969" cy="2862322"/>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p>
        </p:txBody>
      </p:sp>
      <p:sp>
        <p:nvSpPr>
          <p:cNvPr id="16" name="Right Brace 15">
            <a:extLst>
              <a:ext uri="{FF2B5EF4-FFF2-40B4-BE49-F238E27FC236}">
                <a16:creationId xmlns:a16="http://schemas.microsoft.com/office/drawing/2014/main" id="{76A53459-5D81-4322-A105-8EC4062FA60D}"/>
              </a:ext>
            </a:extLst>
          </p:cNvPr>
          <p:cNvSpPr/>
          <p:nvPr/>
        </p:nvSpPr>
        <p:spPr>
          <a:xfrm>
            <a:off x="3805745" y="2131381"/>
            <a:ext cx="351408" cy="685801"/>
          </a:xfrm>
          <a:prstGeom prst="rightBrace">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b="1" dirty="0"/>
          </a:p>
        </p:txBody>
      </p:sp>
      <p:sp>
        <p:nvSpPr>
          <p:cNvPr id="17" name="TextBox 16">
            <a:extLst>
              <a:ext uri="{FF2B5EF4-FFF2-40B4-BE49-F238E27FC236}">
                <a16:creationId xmlns:a16="http://schemas.microsoft.com/office/drawing/2014/main" id="{3F25FCD7-1ECE-4AC0-99FF-269B05293BB8}"/>
              </a:ext>
            </a:extLst>
          </p:cNvPr>
          <p:cNvSpPr txBox="1"/>
          <p:nvPr/>
        </p:nvSpPr>
        <p:spPr>
          <a:xfrm>
            <a:off x="4242955" y="3897046"/>
            <a:ext cx="1104900" cy="923330"/>
          </a:xfrm>
          <a:prstGeom prst="rect">
            <a:avLst/>
          </a:prstGeom>
          <a:noFill/>
        </p:spPr>
        <p:txBody>
          <a:bodyPr wrap="square" rtlCol="0">
            <a:spAutoFit/>
          </a:bodyPr>
          <a:lstStyle/>
          <a:p>
            <a:r>
              <a:rPr lang="en-US" dirty="0">
                <a:solidFill>
                  <a:srgbClr val="00B050"/>
                </a:solidFill>
              </a:rPr>
              <a:t>Use as training data</a:t>
            </a:r>
          </a:p>
        </p:txBody>
      </p:sp>
      <p:sp>
        <p:nvSpPr>
          <p:cNvPr id="18" name="TextBox 17">
            <a:extLst>
              <a:ext uri="{FF2B5EF4-FFF2-40B4-BE49-F238E27FC236}">
                <a16:creationId xmlns:a16="http://schemas.microsoft.com/office/drawing/2014/main" id="{5C2017E9-EAC5-4874-8244-EA84C6C6AC14}"/>
              </a:ext>
            </a:extLst>
          </p:cNvPr>
          <p:cNvSpPr txBox="1"/>
          <p:nvPr/>
        </p:nvSpPr>
        <p:spPr>
          <a:xfrm>
            <a:off x="4182301" y="2200085"/>
            <a:ext cx="1104900" cy="646331"/>
          </a:xfrm>
          <a:prstGeom prst="rect">
            <a:avLst/>
          </a:prstGeom>
          <a:noFill/>
        </p:spPr>
        <p:txBody>
          <a:bodyPr wrap="square" rtlCol="0">
            <a:spAutoFit/>
          </a:bodyPr>
          <a:lstStyle/>
          <a:p>
            <a:r>
              <a:rPr lang="en-US" dirty="0">
                <a:solidFill>
                  <a:srgbClr val="00B050"/>
                </a:solidFill>
              </a:rPr>
              <a:t>Use as test data</a:t>
            </a:r>
          </a:p>
        </p:txBody>
      </p:sp>
    </p:spTree>
    <p:extLst>
      <p:ext uri="{BB962C8B-B14F-4D97-AF65-F5344CB8AC3E}">
        <p14:creationId xmlns:p14="http://schemas.microsoft.com/office/powerpoint/2010/main" val="2383765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63DCEA-48CA-43D3-BB1A-758EC7400722}"/>
              </a:ext>
            </a:extLst>
          </p:cNvPr>
          <p:cNvSpPr>
            <a:spLocks noGrp="1"/>
          </p:cNvSpPr>
          <p:nvPr>
            <p:ph type="ctrTitle"/>
          </p:nvPr>
        </p:nvSpPr>
        <p:spPr/>
        <p:txBody>
          <a:bodyPr/>
          <a:lstStyle/>
          <a:p>
            <a:r>
              <a:rPr lang="en-US" dirty="0"/>
              <a:t>Using R to build our regression model</a:t>
            </a:r>
          </a:p>
        </p:txBody>
      </p:sp>
    </p:spTree>
    <p:extLst>
      <p:ext uri="{BB962C8B-B14F-4D97-AF65-F5344CB8AC3E}">
        <p14:creationId xmlns:p14="http://schemas.microsoft.com/office/powerpoint/2010/main" val="3578042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EDB2E-2EFC-4C3A-8E4C-7D5138329832}"/>
              </a:ext>
            </a:extLst>
          </p:cNvPr>
          <p:cNvSpPr>
            <a:spLocks noGrp="1"/>
          </p:cNvSpPr>
          <p:nvPr>
            <p:ph type="title"/>
          </p:nvPr>
        </p:nvSpPr>
        <p:spPr/>
        <p:txBody>
          <a:bodyPr>
            <a:noAutofit/>
          </a:bodyPr>
          <a:lstStyle/>
          <a:p>
            <a:r>
              <a:rPr lang="en-US" sz="3600" dirty="0"/>
              <a:t>Housing Data</a:t>
            </a:r>
          </a:p>
        </p:txBody>
      </p:sp>
      <p:sp>
        <p:nvSpPr>
          <p:cNvPr id="3" name="Content Placeholder 2">
            <a:extLst>
              <a:ext uri="{FF2B5EF4-FFF2-40B4-BE49-F238E27FC236}">
                <a16:creationId xmlns:a16="http://schemas.microsoft.com/office/drawing/2014/main" id="{A6F34EA4-FFE8-4BCF-A439-F0B9A5B0204D}"/>
              </a:ext>
            </a:extLst>
          </p:cNvPr>
          <p:cNvSpPr>
            <a:spLocks noGrp="1"/>
          </p:cNvSpPr>
          <p:nvPr>
            <p:ph idx="1"/>
          </p:nvPr>
        </p:nvSpPr>
        <p:spPr/>
        <p:txBody>
          <a:bodyPr/>
          <a:lstStyle/>
          <a:p>
            <a:r>
              <a:rPr lang="en-US" dirty="0"/>
              <a:t>housing.csv </a:t>
            </a:r>
          </a:p>
        </p:txBody>
      </p:sp>
    </p:spTree>
    <p:extLst>
      <p:ext uri="{BB962C8B-B14F-4D97-AF65-F5344CB8AC3E}">
        <p14:creationId xmlns:p14="http://schemas.microsoft.com/office/powerpoint/2010/main" val="3214169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00BE-0530-4C4C-AFEB-680C678E0258}"/>
              </a:ext>
            </a:extLst>
          </p:cNvPr>
          <p:cNvSpPr>
            <a:spLocks noGrp="1"/>
          </p:cNvSpPr>
          <p:nvPr>
            <p:ph type="title"/>
          </p:nvPr>
        </p:nvSpPr>
        <p:spPr/>
        <p:txBody>
          <a:bodyPr>
            <a:normAutofit fontScale="90000"/>
          </a:bodyPr>
          <a:lstStyle/>
          <a:p>
            <a:r>
              <a:rPr lang="en-US" dirty="0"/>
              <a:t>R Code to set up the cross-validation</a:t>
            </a:r>
          </a:p>
        </p:txBody>
      </p:sp>
      <p:sp>
        <p:nvSpPr>
          <p:cNvPr id="3" name="Content Placeholder 2">
            <a:extLst>
              <a:ext uri="{FF2B5EF4-FFF2-40B4-BE49-F238E27FC236}">
                <a16:creationId xmlns:a16="http://schemas.microsoft.com/office/drawing/2014/main" id="{350A5752-3E86-4DDF-92A7-90AF4ED26F2E}"/>
              </a:ext>
            </a:extLst>
          </p:cNvPr>
          <p:cNvSpPr>
            <a:spLocks noGrp="1"/>
          </p:cNvSpPr>
          <p:nvPr>
            <p:ph idx="1"/>
          </p:nvPr>
        </p:nvSpPr>
        <p:spPr>
          <a:xfrm>
            <a:off x="457200" y="1295400"/>
            <a:ext cx="8229600" cy="5105400"/>
          </a:xfrm>
        </p:spPr>
        <p:txBody>
          <a:bodyPr>
            <a:normAutofit lnSpcReduction="10000"/>
          </a:bodyPr>
          <a:lstStyle/>
          <a:p>
            <a:pPr marL="0" indent="0">
              <a:buNone/>
            </a:pPr>
            <a:r>
              <a:rPr lang="en-US" sz="1800" dirty="0"/>
              <a:t>#house &lt;-read.csv("C:/Users/hbrown11/Desktop/housing.csv", header=TRUE)</a:t>
            </a:r>
          </a:p>
          <a:p>
            <a:pPr marL="0" indent="0">
              <a:buNone/>
            </a:pPr>
            <a:r>
              <a:rPr lang="en-US" sz="1800" dirty="0"/>
              <a:t>head(house)</a:t>
            </a:r>
          </a:p>
          <a:p>
            <a:pPr marL="0" indent="0">
              <a:buNone/>
            </a:pPr>
            <a:endParaRPr lang="en-US" sz="1800" dirty="0"/>
          </a:p>
          <a:p>
            <a:pPr marL="0" indent="0">
              <a:buNone/>
            </a:pPr>
            <a:r>
              <a:rPr lang="en-US" sz="1800" dirty="0" err="1"/>
              <a:t>install.packages</a:t>
            </a:r>
            <a:r>
              <a:rPr lang="en-US" sz="1800" dirty="0"/>
              <a:t>("caret") #only needs to be installed once</a:t>
            </a:r>
          </a:p>
          <a:p>
            <a:pPr marL="0" indent="0">
              <a:buNone/>
            </a:pPr>
            <a:r>
              <a:rPr lang="en-US" sz="1800" dirty="0"/>
              <a:t>library(caret)</a:t>
            </a:r>
          </a:p>
          <a:p>
            <a:pPr marL="0" indent="0">
              <a:buNone/>
            </a:pPr>
            <a:r>
              <a:rPr lang="en-US" sz="1800" dirty="0"/>
              <a:t> </a:t>
            </a:r>
          </a:p>
          <a:p>
            <a:pPr marL="0" indent="0">
              <a:buNone/>
            </a:pPr>
            <a:r>
              <a:rPr lang="en-US" sz="1800" dirty="0"/>
              <a:t>#we set a seed so that the random sampling will be repeatable</a:t>
            </a:r>
          </a:p>
          <a:p>
            <a:pPr marL="0" indent="0">
              <a:buNone/>
            </a:pPr>
            <a:r>
              <a:rPr lang="en-US" sz="1800" dirty="0" err="1"/>
              <a:t>set.seed</a:t>
            </a:r>
            <a:r>
              <a:rPr lang="en-US" sz="1800" dirty="0"/>
              <a:t>(42)</a:t>
            </a:r>
          </a:p>
          <a:p>
            <a:pPr marL="0" indent="0">
              <a:buNone/>
            </a:pPr>
            <a:r>
              <a:rPr lang="en-US" sz="1800" dirty="0"/>
              <a:t> </a:t>
            </a:r>
          </a:p>
          <a:p>
            <a:pPr marL="0" indent="0">
              <a:buNone/>
            </a:pPr>
            <a:r>
              <a:rPr lang="en-US" sz="1800" dirty="0"/>
              <a:t># Set up 5-fold cross-validation</a:t>
            </a:r>
          </a:p>
          <a:p>
            <a:pPr marL="0" indent="0">
              <a:buNone/>
            </a:pPr>
            <a:r>
              <a:rPr lang="en-US" sz="1800" dirty="0" err="1"/>
              <a:t>train_control</a:t>
            </a:r>
            <a:r>
              <a:rPr lang="en-US" sz="1800" dirty="0"/>
              <a:t> &lt;- </a:t>
            </a:r>
            <a:r>
              <a:rPr lang="en-US" sz="1800" dirty="0" err="1"/>
              <a:t>trainControl</a:t>
            </a:r>
            <a:r>
              <a:rPr lang="en-US" sz="1800" dirty="0"/>
              <a:t>(method = "</a:t>
            </a:r>
            <a:r>
              <a:rPr lang="en-US" sz="1800" dirty="0" err="1"/>
              <a:t>cv",number</a:t>
            </a:r>
            <a:r>
              <a:rPr lang="en-US" sz="1800" dirty="0"/>
              <a:t> = 5)</a:t>
            </a:r>
          </a:p>
          <a:p>
            <a:pPr marL="0" indent="0">
              <a:buNone/>
            </a:pPr>
            <a:r>
              <a:rPr lang="en-US" sz="1800" dirty="0"/>
              <a:t> </a:t>
            </a:r>
          </a:p>
          <a:p>
            <a:pPr marL="0" indent="0">
              <a:buNone/>
            </a:pPr>
            <a:r>
              <a:rPr lang="en-US" sz="1800" dirty="0"/>
              <a:t># fit the model</a:t>
            </a:r>
          </a:p>
          <a:p>
            <a:pPr marL="0" indent="0">
              <a:buNone/>
            </a:pPr>
            <a:r>
              <a:rPr lang="en-US" sz="1800" dirty="0"/>
              <a:t>model &lt;- train(</a:t>
            </a:r>
            <a:r>
              <a:rPr lang="en-US" sz="1800" dirty="0" err="1"/>
              <a:t>saleprice</a:t>
            </a:r>
            <a:r>
              <a:rPr lang="en-US" sz="1800" dirty="0"/>
              <a:t> ~</a:t>
            </a:r>
            <a:r>
              <a:rPr lang="en-US" sz="1800" dirty="0" err="1"/>
              <a:t>sqft</a:t>
            </a:r>
            <a:r>
              <a:rPr lang="en-US" sz="1800" dirty="0"/>
              <a:t>, data = house,</a:t>
            </a:r>
          </a:p>
          <a:p>
            <a:pPr marL="0" indent="0">
              <a:buNone/>
            </a:pPr>
            <a:r>
              <a:rPr lang="en-US" sz="1800" dirty="0"/>
              <a:t>               method = "</a:t>
            </a:r>
            <a:r>
              <a:rPr lang="en-US" sz="1800" dirty="0" err="1"/>
              <a:t>lm</a:t>
            </a:r>
            <a:r>
              <a:rPr lang="en-US" sz="1800" dirty="0"/>
              <a:t>",</a:t>
            </a:r>
          </a:p>
          <a:p>
            <a:pPr marL="0" indent="0">
              <a:buNone/>
            </a:pPr>
            <a:r>
              <a:rPr lang="en-US" sz="1800" dirty="0"/>
              <a:t>               </a:t>
            </a:r>
            <a:r>
              <a:rPr lang="en-US" sz="1800" dirty="0" err="1"/>
              <a:t>trControl</a:t>
            </a:r>
            <a:r>
              <a:rPr lang="en-US" sz="1800" dirty="0"/>
              <a:t> = </a:t>
            </a:r>
            <a:r>
              <a:rPr lang="en-US" sz="1800" dirty="0" err="1"/>
              <a:t>train_control</a:t>
            </a:r>
            <a:r>
              <a:rPr lang="en-US" sz="1800" dirty="0"/>
              <a:t>)</a:t>
            </a:r>
          </a:p>
          <a:p>
            <a:pPr marL="0" indent="0">
              <a:buNone/>
            </a:pPr>
            <a:endParaRPr lang="en-US" sz="1800" dirty="0"/>
          </a:p>
        </p:txBody>
      </p:sp>
    </p:spTree>
    <p:extLst>
      <p:ext uri="{BB962C8B-B14F-4D97-AF65-F5344CB8AC3E}">
        <p14:creationId xmlns:p14="http://schemas.microsoft.com/office/powerpoint/2010/main" val="3364925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8D542-8B42-425F-8BD6-90EEB20EE2A2}"/>
              </a:ext>
            </a:extLst>
          </p:cNvPr>
          <p:cNvSpPr>
            <a:spLocks noGrp="1"/>
          </p:cNvSpPr>
          <p:nvPr>
            <p:ph type="title"/>
          </p:nvPr>
        </p:nvSpPr>
        <p:spPr/>
        <p:txBody>
          <a:bodyPr>
            <a:normAutofit/>
          </a:bodyPr>
          <a:lstStyle/>
          <a:p>
            <a:pPr marL="0" indent="0"/>
            <a:r>
              <a:rPr lang="en-US" dirty="0"/>
              <a:t>Evaluating the model</a:t>
            </a:r>
          </a:p>
        </p:txBody>
      </p:sp>
      <p:sp>
        <p:nvSpPr>
          <p:cNvPr id="3" name="Content Placeholder 2">
            <a:extLst>
              <a:ext uri="{FF2B5EF4-FFF2-40B4-BE49-F238E27FC236}">
                <a16:creationId xmlns:a16="http://schemas.microsoft.com/office/drawing/2014/main" id="{0535AB21-CF35-47C6-AFDD-472A94DF0F4F}"/>
              </a:ext>
            </a:extLst>
          </p:cNvPr>
          <p:cNvSpPr>
            <a:spLocks noGrp="1"/>
          </p:cNvSpPr>
          <p:nvPr>
            <p:ph idx="1"/>
          </p:nvPr>
        </p:nvSpPr>
        <p:spPr/>
        <p:txBody>
          <a:bodyPr>
            <a:normAutofit fontScale="70000" lnSpcReduction="20000"/>
          </a:bodyPr>
          <a:lstStyle/>
          <a:p>
            <a:pPr marL="0" indent="0">
              <a:buNone/>
            </a:pPr>
            <a:r>
              <a:rPr lang="en-US" dirty="0">
                <a:solidFill>
                  <a:srgbClr val="FF0000"/>
                </a:solidFill>
              </a:rPr>
              <a:t>&gt; print(model)</a:t>
            </a:r>
          </a:p>
          <a:p>
            <a:pPr marL="0" indent="0">
              <a:buNone/>
            </a:pPr>
            <a:r>
              <a:rPr lang="en-US" dirty="0"/>
              <a:t>Linear Regression </a:t>
            </a:r>
          </a:p>
          <a:p>
            <a:pPr marL="0" indent="0">
              <a:buNone/>
            </a:pPr>
            <a:endParaRPr lang="en-US" dirty="0"/>
          </a:p>
          <a:p>
            <a:pPr marL="0" indent="0">
              <a:buNone/>
            </a:pPr>
            <a:r>
              <a:rPr lang="en-US" dirty="0"/>
              <a:t>60 samples</a:t>
            </a:r>
          </a:p>
          <a:p>
            <a:pPr marL="0" indent="0">
              <a:buNone/>
            </a:pPr>
            <a:r>
              <a:rPr lang="en-US" dirty="0"/>
              <a:t> 1 predictor</a:t>
            </a:r>
          </a:p>
          <a:p>
            <a:pPr marL="0" indent="0">
              <a:buNone/>
            </a:pPr>
            <a:endParaRPr lang="en-US" dirty="0"/>
          </a:p>
          <a:p>
            <a:pPr marL="0" indent="0">
              <a:buNone/>
            </a:pPr>
            <a:r>
              <a:rPr lang="en-US" dirty="0"/>
              <a:t>No pre-processing</a:t>
            </a:r>
          </a:p>
          <a:p>
            <a:pPr marL="0" indent="0">
              <a:buNone/>
            </a:pPr>
            <a:r>
              <a:rPr lang="en-US" dirty="0"/>
              <a:t>Resampling: Cross-Validated (5 fold) </a:t>
            </a:r>
          </a:p>
          <a:p>
            <a:pPr marL="0" indent="0">
              <a:buNone/>
            </a:pPr>
            <a:r>
              <a:rPr lang="en-US" dirty="0"/>
              <a:t>Summary of sample sizes: 48, 48, 48, 48, 48 </a:t>
            </a:r>
          </a:p>
          <a:p>
            <a:pPr marL="0" indent="0">
              <a:buNone/>
            </a:pPr>
            <a:r>
              <a:rPr lang="en-US" dirty="0"/>
              <a:t>Resampling results:</a:t>
            </a:r>
          </a:p>
          <a:p>
            <a:pPr marL="0" indent="0">
              <a:buNone/>
            </a:pPr>
            <a:endParaRPr lang="en-US" dirty="0"/>
          </a:p>
          <a:p>
            <a:pPr marL="0" indent="0">
              <a:buNone/>
            </a:pPr>
            <a:r>
              <a:rPr lang="en-US" dirty="0"/>
              <a:t>  RMSE      </a:t>
            </a:r>
            <a:r>
              <a:rPr lang="en-US" dirty="0" err="1"/>
              <a:t>Rsquared</a:t>
            </a:r>
            <a:r>
              <a:rPr lang="en-US" dirty="0"/>
              <a:t>   MAE     </a:t>
            </a:r>
          </a:p>
          <a:p>
            <a:pPr marL="0" indent="0">
              <a:buNone/>
            </a:pPr>
            <a:r>
              <a:rPr lang="en-US" dirty="0"/>
              <a:t>  8081.006  0.9614087  6023.899</a:t>
            </a:r>
          </a:p>
          <a:p>
            <a:pPr marL="0" indent="0">
              <a:buNone/>
            </a:pPr>
            <a:endParaRPr lang="en-US" dirty="0"/>
          </a:p>
        </p:txBody>
      </p:sp>
    </p:spTree>
    <p:extLst>
      <p:ext uri="{BB962C8B-B14F-4D97-AF65-F5344CB8AC3E}">
        <p14:creationId xmlns:p14="http://schemas.microsoft.com/office/powerpoint/2010/main" val="2123155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the model</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t>All three are calculated for you in R using the out of sample data (test data):</a:t>
            </a:r>
          </a:p>
          <a:p>
            <a:pPr marL="0" indent="0">
              <a:buNone/>
            </a:pPr>
            <a:endParaRPr lang="en-US" b="1" dirty="0"/>
          </a:p>
          <a:p>
            <a:pPr marL="0" indent="0">
              <a:buNone/>
            </a:pPr>
            <a:r>
              <a:rPr lang="en-US" b="1" dirty="0"/>
              <a:t>Root mean square error</a:t>
            </a:r>
          </a:p>
          <a:p>
            <a:pPr marL="0" indent="0">
              <a:buNone/>
            </a:pPr>
            <a:r>
              <a:rPr lang="en-US" b="1" dirty="0"/>
              <a:t>R</a:t>
            </a:r>
            <a:r>
              <a:rPr lang="en-US" b="1" baseline="30000" dirty="0"/>
              <a:t>2</a:t>
            </a:r>
            <a:endParaRPr lang="en-US" b="1" dirty="0"/>
          </a:p>
          <a:p>
            <a:pPr marL="0" indent="0">
              <a:buNone/>
            </a:pPr>
            <a:r>
              <a:rPr lang="en-US" b="1" dirty="0"/>
              <a:t>Mean absolute error</a:t>
            </a:r>
          </a:p>
          <a:p>
            <a:pPr marL="0" indent="0">
              <a:buNone/>
            </a:pPr>
            <a:endParaRPr lang="en-US" b="1" dirty="0"/>
          </a:p>
          <a:p>
            <a:pPr marL="0" indent="0">
              <a:buNone/>
            </a:pPr>
            <a:r>
              <a:rPr lang="en-US" b="1" dirty="0"/>
              <a:t>Without cross-validation (using only the data used to build the model), these three values will inaccurately represent the predictive ability of the model</a:t>
            </a:r>
          </a:p>
          <a:p>
            <a:pPr marL="0" indent="0">
              <a:buNone/>
            </a:pPr>
            <a:endParaRPr lang="en-US" b="1" dirty="0"/>
          </a:p>
        </p:txBody>
      </p:sp>
    </p:spTree>
    <p:extLst>
      <p:ext uri="{BB962C8B-B14F-4D97-AF65-F5344CB8AC3E}">
        <p14:creationId xmlns:p14="http://schemas.microsoft.com/office/powerpoint/2010/main" val="2739676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582E2-CDDA-485D-ACB8-872A4C71D4F4}"/>
              </a:ext>
            </a:extLst>
          </p:cNvPr>
          <p:cNvSpPr>
            <a:spLocks noGrp="1"/>
          </p:cNvSpPr>
          <p:nvPr>
            <p:ph type="title"/>
          </p:nvPr>
        </p:nvSpPr>
        <p:spPr/>
        <p:txBody>
          <a:bodyPr>
            <a:normAutofit fontScale="90000"/>
          </a:bodyPr>
          <a:lstStyle/>
          <a:p>
            <a:r>
              <a:rPr lang="en-US" dirty="0"/>
              <a:t>Root Mean Square Error (RMSE) for Test Data</a:t>
            </a:r>
            <a:br>
              <a:rPr lang="en-US" dirty="0"/>
            </a:br>
            <a:endParaRPr lang="en-US" dirty="0"/>
          </a:p>
        </p:txBody>
      </p:sp>
      <p:sp>
        <p:nvSpPr>
          <p:cNvPr id="3" name="Content Placeholder 2">
            <a:extLst>
              <a:ext uri="{FF2B5EF4-FFF2-40B4-BE49-F238E27FC236}">
                <a16:creationId xmlns:a16="http://schemas.microsoft.com/office/drawing/2014/main" id="{EE060999-6C52-4277-A22F-505A2FFBAE9F}"/>
              </a:ext>
            </a:extLst>
          </p:cNvPr>
          <p:cNvSpPr>
            <a:spLocks noGrp="1"/>
          </p:cNvSpPr>
          <p:nvPr>
            <p:ph idx="1"/>
          </p:nvPr>
        </p:nvSpPr>
        <p:spPr/>
        <p:txBody>
          <a:bodyPr>
            <a:normAutofit/>
          </a:bodyPr>
          <a:lstStyle/>
          <a:p>
            <a:pPr marL="0" indent="0">
              <a:buNone/>
            </a:pPr>
            <a:r>
              <a:rPr lang="en-US" sz="2800" dirty="0"/>
              <a:t>RMSE = square root of </a:t>
            </a:r>
            <a:r>
              <a:rPr lang="en-US" sz="2800" dirty="0">
                <a:latin typeface="Symbol" panose="05050102010706020507" pitchFamily="18" charset="2"/>
              </a:rPr>
              <a:t>S((</a:t>
            </a:r>
            <a:r>
              <a:rPr lang="en-US" sz="2800" dirty="0"/>
              <a:t>observed –predicted)</a:t>
            </a:r>
            <a:r>
              <a:rPr lang="en-US" sz="2800" baseline="30000" dirty="0"/>
              <a:t>2</a:t>
            </a:r>
            <a:r>
              <a:rPr lang="en-US" sz="2800" dirty="0"/>
              <a:t>/n)</a:t>
            </a:r>
          </a:p>
          <a:p>
            <a:pPr marL="0" indent="0">
              <a:buNone/>
            </a:pPr>
            <a:endParaRPr lang="en-US" dirty="0"/>
          </a:p>
          <a:p>
            <a:pPr marL="0" indent="0">
              <a:buNone/>
            </a:pPr>
            <a:r>
              <a:rPr lang="en-US" dirty="0"/>
              <a:t>Subtract each predicted value from the test data from the observed (true) value, square it, take the average and then the square root.</a:t>
            </a:r>
          </a:p>
          <a:p>
            <a:pPr marL="0" indent="0">
              <a:buNone/>
            </a:pPr>
            <a:endParaRPr lang="en-US" dirty="0"/>
          </a:p>
          <a:p>
            <a:pPr marL="0" indent="0">
              <a:buNone/>
            </a:pPr>
            <a:r>
              <a:rPr lang="en-US" dirty="0"/>
              <a:t>It is analogous to the “standard deviation” of prediction errors</a:t>
            </a:r>
          </a:p>
        </p:txBody>
      </p:sp>
    </p:spTree>
    <p:extLst>
      <p:ext uri="{BB962C8B-B14F-4D97-AF65-F5344CB8AC3E}">
        <p14:creationId xmlns:p14="http://schemas.microsoft.com/office/powerpoint/2010/main" val="18443547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E9D4-F82C-4343-A25E-FA529673851A}"/>
              </a:ext>
            </a:extLst>
          </p:cNvPr>
          <p:cNvSpPr>
            <a:spLocks noGrp="1"/>
          </p:cNvSpPr>
          <p:nvPr>
            <p:ph type="title"/>
          </p:nvPr>
        </p:nvSpPr>
        <p:spPr/>
        <p:txBody>
          <a:bodyPr>
            <a:normAutofit/>
          </a:bodyPr>
          <a:lstStyle/>
          <a:p>
            <a:r>
              <a:rPr lang="en-US" b="1" dirty="0"/>
              <a:t>R</a:t>
            </a:r>
            <a:r>
              <a:rPr lang="en-US" b="1" baseline="30000" dirty="0"/>
              <a:t>2</a:t>
            </a:r>
            <a:endParaRPr lang="en-US" dirty="0"/>
          </a:p>
        </p:txBody>
      </p:sp>
      <p:sp>
        <p:nvSpPr>
          <p:cNvPr id="3" name="Content Placeholder 2">
            <a:extLst>
              <a:ext uri="{FF2B5EF4-FFF2-40B4-BE49-F238E27FC236}">
                <a16:creationId xmlns:a16="http://schemas.microsoft.com/office/drawing/2014/main" id="{3B744680-BE86-468C-956B-241BA1603E1A}"/>
              </a:ext>
            </a:extLst>
          </p:cNvPr>
          <p:cNvSpPr>
            <a:spLocks noGrp="1"/>
          </p:cNvSpPr>
          <p:nvPr>
            <p:ph idx="1"/>
          </p:nvPr>
        </p:nvSpPr>
        <p:spPr/>
        <p:txBody>
          <a:bodyPr>
            <a:normAutofit lnSpcReduction="10000"/>
          </a:bodyPr>
          <a:lstStyle/>
          <a:p>
            <a:pPr marL="0" indent="0">
              <a:buNone/>
            </a:pPr>
            <a:r>
              <a:rPr lang="en-US" dirty="0"/>
              <a:t>It is the correlation coefficient squared.</a:t>
            </a:r>
          </a:p>
          <a:p>
            <a:pPr marL="0" indent="0">
              <a:buNone/>
            </a:pPr>
            <a:r>
              <a:rPr lang="en-US" dirty="0"/>
              <a:t>It is calculated by </a:t>
            </a:r>
            <a:r>
              <a:rPr lang="en-US" b="1" dirty="0"/>
              <a:t>dividing the sum of the squares of the residuals by the sum of the squares of the observations:</a:t>
            </a:r>
          </a:p>
          <a:p>
            <a:pPr marL="0" indent="0">
              <a:buNone/>
            </a:pPr>
            <a:endParaRPr lang="en-US" sz="2400" b="1" dirty="0"/>
          </a:p>
          <a:p>
            <a:pPr marL="0" indent="0">
              <a:buNone/>
            </a:pPr>
            <a:r>
              <a:rPr lang="en-US" sz="2400" b="1" dirty="0"/>
              <a:t>1 - </a:t>
            </a:r>
            <a:r>
              <a:rPr lang="en-US" sz="2400" dirty="0">
                <a:latin typeface="Symbol" panose="05050102010706020507" pitchFamily="18" charset="2"/>
              </a:rPr>
              <a:t>S((</a:t>
            </a:r>
            <a:r>
              <a:rPr lang="en-US" sz="2400" dirty="0"/>
              <a:t>observed –predicted)</a:t>
            </a:r>
            <a:r>
              <a:rPr lang="en-US" sz="2400" baseline="30000" dirty="0"/>
              <a:t>2</a:t>
            </a:r>
            <a:r>
              <a:rPr lang="en-US" sz="2400" dirty="0"/>
              <a:t>/</a:t>
            </a:r>
            <a:r>
              <a:rPr lang="en-US" sz="2400" dirty="0">
                <a:latin typeface="Symbol" panose="05050102010706020507" pitchFamily="18" charset="2"/>
              </a:rPr>
              <a:t> S(</a:t>
            </a:r>
            <a:r>
              <a:rPr lang="en-US" sz="2400" dirty="0"/>
              <a:t>observed –mean of observed))</a:t>
            </a:r>
            <a:r>
              <a:rPr lang="en-US" sz="2400" baseline="30000" dirty="0"/>
              <a:t>2</a:t>
            </a:r>
          </a:p>
          <a:p>
            <a:pPr marL="0" indent="0">
              <a:buNone/>
            </a:pPr>
            <a:endParaRPr lang="en-US" sz="2400" baseline="30000" dirty="0"/>
          </a:p>
          <a:p>
            <a:pPr marL="0" indent="0">
              <a:buNone/>
            </a:pPr>
            <a:r>
              <a:rPr lang="en-US" sz="2400" dirty="0"/>
              <a:t>The closer to 1 the higher proportion of the variation in the data is explained by the model (a value of 1 means 100% of variation is explained by the model; a value of 0 means 0% of variation is explained by the model</a:t>
            </a:r>
          </a:p>
          <a:p>
            <a:pPr marL="0" indent="0">
              <a:buNone/>
            </a:pPr>
            <a:endParaRPr lang="en-US" sz="2400" dirty="0"/>
          </a:p>
        </p:txBody>
      </p:sp>
    </p:spTree>
    <p:extLst>
      <p:ext uri="{BB962C8B-B14F-4D97-AF65-F5344CB8AC3E}">
        <p14:creationId xmlns:p14="http://schemas.microsoft.com/office/powerpoint/2010/main" val="164412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582E2-CDDA-485D-ACB8-872A4C71D4F4}"/>
              </a:ext>
            </a:extLst>
          </p:cNvPr>
          <p:cNvSpPr>
            <a:spLocks noGrp="1"/>
          </p:cNvSpPr>
          <p:nvPr>
            <p:ph type="title"/>
          </p:nvPr>
        </p:nvSpPr>
        <p:spPr/>
        <p:txBody>
          <a:bodyPr>
            <a:normAutofit fontScale="90000"/>
          </a:bodyPr>
          <a:lstStyle/>
          <a:p>
            <a:r>
              <a:rPr lang="en-US" dirty="0"/>
              <a:t>Mean Absolute Error </a:t>
            </a:r>
            <a:br>
              <a:rPr lang="en-US" dirty="0"/>
            </a:br>
            <a:r>
              <a:rPr lang="en-US" dirty="0"/>
              <a:t>(MAE)</a:t>
            </a:r>
          </a:p>
        </p:txBody>
      </p:sp>
      <p:sp>
        <p:nvSpPr>
          <p:cNvPr id="3" name="Content Placeholder 2">
            <a:extLst>
              <a:ext uri="{FF2B5EF4-FFF2-40B4-BE49-F238E27FC236}">
                <a16:creationId xmlns:a16="http://schemas.microsoft.com/office/drawing/2014/main" id="{EE060999-6C52-4277-A22F-505A2FFBAE9F}"/>
              </a:ext>
            </a:extLst>
          </p:cNvPr>
          <p:cNvSpPr>
            <a:spLocks noGrp="1"/>
          </p:cNvSpPr>
          <p:nvPr>
            <p:ph idx="1"/>
          </p:nvPr>
        </p:nvSpPr>
        <p:spPr>
          <a:xfrm>
            <a:off x="628650" y="2272892"/>
            <a:ext cx="7886700" cy="3217080"/>
          </a:xfrm>
        </p:spPr>
        <p:txBody>
          <a:bodyPr>
            <a:normAutofit fontScale="70000" lnSpcReduction="20000"/>
          </a:bodyPr>
          <a:lstStyle/>
          <a:p>
            <a:pPr marL="0" indent="0">
              <a:buNone/>
            </a:pPr>
            <a:r>
              <a:rPr lang="en-US" dirty="0"/>
              <a:t>MAE = </a:t>
            </a:r>
            <a:r>
              <a:rPr lang="en-US" dirty="0">
                <a:latin typeface="Symbol" panose="05050102010706020507" pitchFamily="18" charset="2"/>
              </a:rPr>
              <a:t>S(</a:t>
            </a:r>
            <a:r>
              <a:rPr lang="en-US" dirty="0"/>
              <a:t>|observed –predicted|/n</a:t>
            </a:r>
          </a:p>
          <a:p>
            <a:pPr marL="0" indent="0">
              <a:buNone/>
            </a:pPr>
            <a:endParaRPr lang="en-US" dirty="0"/>
          </a:p>
          <a:p>
            <a:pPr marL="0" indent="0">
              <a:buNone/>
            </a:pPr>
            <a:r>
              <a:rPr lang="en-US" dirty="0"/>
              <a:t>Subtract each predicted value from the test data from the observed (true) value, take the absolute value.  Take the average.</a:t>
            </a:r>
          </a:p>
          <a:p>
            <a:pPr marL="0" indent="0">
              <a:buNone/>
            </a:pPr>
            <a:endParaRPr lang="en-US" dirty="0"/>
          </a:p>
          <a:p>
            <a:pPr marL="0" indent="0">
              <a:buNone/>
            </a:pPr>
            <a:r>
              <a:rPr lang="en-US" dirty="0"/>
              <a:t>Can be interpreted as on average how wrong a single prediction will be</a:t>
            </a:r>
          </a:p>
          <a:p>
            <a:pPr marL="0" indent="0">
              <a:buNone/>
            </a:pPr>
            <a:endParaRPr lang="en-US" dirty="0"/>
          </a:p>
          <a:p>
            <a:pPr marL="0" indent="0">
              <a:buNone/>
            </a:pPr>
            <a:r>
              <a:rPr lang="en-US" dirty="0"/>
              <a:t>(MAPE is similar, but converts MAE to a percentage)</a:t>
            </a:r>
          </a:p>
        </p:txBody>
      </p:sp>
    </p:spTree>
    <p:extLst>
      <p:ext uri="{BB962C8B-B14F-4D97-AF65-F5344CB8AC3E}">
        <p14:creationId xmlns:p14="http://schemas.microsoft.com/office/powerpoint/2010/main" val="259627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Evaluating our real estate model</a:t>
            </a:r>
          </a:p>
        </p:txBody>
      </p:sp>
      <p:sp>
        <p:nvSpPr>
          <p:cNvPr id="3" name="Content Placeholder 2"/>
          <p:cNvSpPr>
            <a:spLocks noGrp="1"/>
          </p:cNvSpPr>
          <p:nvPr>
            <p:ph idx="1"/>
          </p:nvPr>
        </p:nvSpPr>
        <p:spPr/>
        <p:txBody>
          <a:bodyPr>
            <a:normAutofit fontScale="92500" lnSpcReduction="20000"/>
          </a:bodyPr>
          <a:lstStyle/>
          <a:p>
            <a:pPr marL="0" indent="0">
              <a:buNone/>
            </a:pPr>
            <a:r>
              <a:rPr lang="en-US" sz="2400" dirty="0"/>
              <a:t>For our, out of sample results:</a:t>
            </a:r>
          </a:p>
          <a:p>
            <a:pPr marL="0" indent="0">
              <a:buNone/>
            </a:pPr>
            <a:r>
              <a:rPr lang="en-US" sz="2400" dirty="0"/>
              <a:t>Root mean square error = 8081</a:t>
            </a:r>
          </a:p>
          <a:p>
            <a:pPr marL="0" indent="0">
              <a:buNone/>
            </a:pPr>
            <a:r>
              <a:rPr lang="en-US" sz="2400" dirty="0"/>
              <a:t>R</a:t>
            </a:r>
            <a:r>
              <a:rPr lang="en-US" sz="2400" baseline="30000" dirty="0"/>
              <a:t>2</a:t>
            </a:r>
            <a:r>
              <a:rPr lang="en-US" sz="2400" dirty="0"/>
              <a:t> = 0.961</a:t>
            </a:r>
          </a:p>
          <a:p>
            <a:pPr marL="0" indent="0">
              <a:buNone/>
            </a:pPr>
            <a:r>
              <a:rPr lang="en-US" sz="2400" dirty="0"/>
              <a:t>Mean absolute error = 6024</a:t>
            </a:r>
          </a:p>
          <a:p>
            <a:pPr marL="0" indent="0">
              <a:buNone/>
            </a:pPr>
            <a:r>
              <a:rPr lang="en-US" sz="2400" b="1" dirty="0"/>
              <a:t>The mean absolute error means that, on average, we would expect a house sale price prediction made by our model to be wrong by $6,024.  </a:t>
            </a:r>
          </a:p>
          <a:p>
            <a:pPr marL="0" indent="0">
              <a:buNone/>
            </a:pPr>
            <a:r>
              <a:rPr lang="en-US" sz="2400" b="1" dirty="0"/>
              <a:t>The r-square indicates our model explains about 96% of the variation in the data.  </a:t>
            </a:r>
          </a:p>
          <a:p>
            <a:pPr marL="0" indent="0">
              <a:buNone/>
            </a:pPr>
            <a:r>
              <a:rPr lang="en-US" sz="2400" b="1" dirty="0"/>
              <a:t>The root mean square error can be used to provide rough confidence bounds for the prediction; multiple the RMSE by 2 and add and subtract it from a prediction to get a rough 95% prediction bound $8,081*2 = $16,162; a prediction we make using this model for a home sale price we would expect  to be within +/- $16,162 of the true selling price 95% of the time</a:t>
            </a:r>
          </a:p>
        </p:txBody>
      </p:sp>
    </p:spTree>
    <p:extLst>
      <p:ext uri="{BB962C8B-B14F-4D97-AF65-F5344CB8AC3E}">
        <p14:creationId xmlns:p14="http://schemas.microsoft.com/office/powerpoint/2010/main" val="706638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Evaluating our real estate model…based on the OOS Error Metrics is this a good model?</a:t>
            </a:r>
          </a:p>
        </p:txBody>
      </p:sp>
      <p:sp>
        <p:nvSpPr>
          <p:cNvPr id="3" name="Content Placeholder 2"/>
          <p:cNvSpPr>
            <a:spLocks noGrp="1"/>
          </p:cNvSpPr>
          <p:nvPr>
            <p:ph idx="1"/>
          </p:nvPr>
        </p:nvSpPr>
        <p:spPr>
          <a:xfrm>
            <a:off x="457200" y="1524000"/>
            <a:ext cx="8229600" cy="4724400"/>
          </a:xfrm>
        </p:spPr>
        <p:txBody>
          <a:bodyPr>
            <a:normAutofit fontScale="92500" lnSpcReduction="10000"/>
          </a:bodyPr>
          <a:lstStyle/>
          <a:p>
            <a:pPr marL="0" indent="0">
              <a:buNone/>
            </a:pPr>
            <a:r>
              <a:rPr lang="en-US" sz="2400" dirty="0"/>
              <a:t>What is considered a “good” model is completely relative—it depends on the business context.</a:t>
            </a:r>
          </a:p>
          <a:p>
            <a:pPr marL="0" indent="0">
              <a:buNone/>
            </a:pPr>
            <a:r>
              <a:rPr lang="en-US" sz="2400" dirty="0"/>
              <a:t>There is nothing in our hypothesis tests or OOS error to indicate this model should not be used, but if it is a good model depends on questions such as:</a:t>
            </a:r>
          </a:p>
          <a:p>
            <a:pPr marL="0" indent="0">
              <a:buNone/>
            </a:pPr>
            <a:r>
              <a:rPr lang="en-US" sz="2400" dirty="0"/>
              <a:t>What is the business currently using to make predictions of home sale prices?  Is this better?  How good are our competitors’ models?  What kind of error rates can our decision makers live with?</a:t>
            </a:r>
          </a:p>
          <a:p>
            <a:pPr marL="0" indent="0">
              <a:buNone/>
            </a:pPr>
            <a:r>
              <a:rPr lang="en-US" sz="2400" dirty="0"/>
              <a:t>Said another way, your model should be better than a random guess, but other than that, there are no “absolutes” when it comes using MSE, R-square, and MAE to evaluate a model.  (For one situation a OOS R-square of 0.96 may be too inaccurate to be a useful model; in another completely different situation, using a model with an OOS R-square of 0.39 might significant improve profits for a company.)</a:t>
            </a:r>
          </a:p>
        </p:txBody>
      </p:sp>
    </p:spTree>
    <p:extLst>
      <p:ext uri="{BB962C8B-B14F-4D97-AF65-F5344CB8AC3E}">
        <p14:creationId xmlns:p14="http://schemas.microsoft.com/office/powerpoint/2010/main" val="42045210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00BE-0530-4C4C-AFEB-680C678E0258}"/>
              </a:ext>
            </a:extLst>
          </p:cNvPr>
          <p:cNvSpPr>
            <a:spLocks noGrp="1"/>
          </p:cNvSpPr>
          <p:nvPr>
            <p:ph type="title"/>
          </p:nvPr>
        </p:nvSpPr>
        <p:spPr/>
        <p:txBody>
          <a:bodyPr>
            <a:normAutofit fontScale="90000"/>
          </a:bodyPr>
          <a:lstStyle/>
          <a:p>
            <a:r>
              <a:rPr lang="en-US" dirty="0"/>
              <a:t>Viewing the model </a:t>
            </a:r>
            <a:br>
              <a:rPr lang="en-US" dirty="0"/>
            </a:br>
            <a:r>
              <a:rPr lang="en-US" dirty="0"/>
              <a:t>(and hypothesis tests)</a:t>
            </a:r>
          </a:p>
        </p:txBody>
      </p:sp>
      <p:sp>
        <p:nvSpPr>
          <p:cNvPr id="3" name="Content Placeholder 2">
            <a:extLst>
              <a:ext uri="{FF2B5EF4-FFF2-40B4-BE49-F238E27FC236}">
                <a16:creationId xmlns:a16="http://schemas.microsoft.com/office/drawing/2014/main" id="{350A5752-3E86-4DDF-92A7-90AF4ED26F2E}"/>
              </a:ext>
            </a:extLst>
          </p:cNvPr>
          <p:cNvSpPr>
            <a:spLocks noGrp="1"/>
          </p:cNvSpPr>
          <p:nvPr>
            <p:ph idx="1"/>
          </p:nvPr>
        </p:nvSpPr>
        <p:spPr>
          <a:xfrm>
            <a:off x="427608" y="1570580"/>
            <a:ext cx="8229600" cy="990600"/>
          </a:xfrm>
        </p:spPr>
        <p:txBody>
          <a:bodyPr>
            <a:normAutofit/>
          </a:bodyPr>
          <a:lstStyle/>
          <a:p>
            <a:pPr marL="0" indent="0">
              <a:buNone/>
            </a:pPr>
            <a:r>
              <a:rPr lang="en-US" sz="1800" dirty="0"/>
              <a:t>summary(model)</a:t>
            </a:r>
          </a:p>
        </p:txBody>
      </p:sp>
      <p:sp>
        <p:nvSpPr>
          <p:cNvPr id="4" name="TextBox 3">
            <a:extLst>
              <a:ext uri="{FF2B5EF4-FFF2-40B4-BE49-F238E27FC236}">
                <a16:creationId xmlns:a16="http://schemas.microsoft.com/office/drawing/2014/main" id="{3332252F-CD9E-4E79-8429-0FEE15BA31BD}"/>
              </a:ext>
            </a:extLst>
          </p:cNvPr>
          <p:cNvSpPr txBox="1"/>
          <p:nvPr/>
        </p:nvSpPr>
        <p:spPr>
          <a:xfrm>
            <a:off x="381000" y="2743200"/>
            <a:ext cx="8382000" cy="369332"/>
          </a:xfrm>
          <a:prstGeom prst="rect">
            <a:avLst/>
          </a:prstGeom>
          <a:noFill/>
        </p:spPr>
        <p:txBody>
          <a:bodyPr wrap="square" rtlCol="0">
            <a:spAutoFit/>
          </a:bodyPr>
          <a:lstStyle/>
          <a:p>
            <a:r>
              <a:rPr lang="en-US" dirty="0">
                <a:solidFill>
                  <a:srgbClr val="FF0000"/>
                </a:solidFill>
              </a:rPr>
              <a:t>The output from this code should look like:</a:t>
            </a:r>
          </a:p>
        </p:txBody>
      </p:sp>
      <p:sp>
        <p:nvSpPr>
          <p:cNvPr id="5" name="Content Placeholder 2">
            <a:extLst>
              <a:ext uri="{FF2B5EF4-FFF2-40B4-BE49-F238E27FC236}">
                <a16:creationId xmlns:a16="http://schemas.microsoft.com/office/drawing/2014/main" id="{ED6AE3A8-B2BB-4C84-AF59-FEB60C54A7BC}"/>
              </a:ext>
            </a:extLst>
          </p:cNvPr>
          <p:cNvSpPr txBox="1">
            <a:spLocks/>
          </p:cNvSpPr>
          <p:nvPr/>
        </p:nvSpPr>
        <p:spPr>
          <a:xfrm>
            <a:off x="457200" y="3429000"/>
            <a:ext cx="6400800" cy="2697163"/>
          </a:xfrm>
          <a:prstGeom prst="rect">
            <a:avLst/>
          </a:prstGeom>
        </p:spPr>
        <p:txBody>
          <a:bodyPr vert="horz" lIns="91440" tIns="45720" rIns="91440" bIns="45720"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400" dirty="0">
                <a:solidFill>
                  <a:schemeClr val="accent4">
                    <a:lumMod val="50000"/>
                  </a:schemeClr>
                </a:solidFill>
              </a:rPr>
              <a:t>Residuals:</a:t>
            </a:r>
          </a:p>
          <a:p>
            <a:pPr marL="0" indent="0">
              <a:buNone/>
            </a:pPr>
            <a:r>
              <a:rPr lang="en-US" sz="1400" dirty="0">
                <a:solidFill>
                  <a:schemeClr val="accent4">
                    <a:lumMod val="50000"/>
                  </a:schemeClr>
                </a:solidFill>
              </a:rPr>
              <a:t>   Min     1Q Median     3Q    Max </a:t>
            </a:r>
          </a:p>
          <a:p>
            <a:pPr marL="0" indent="0">
              <a:buNone/>
            </a:pPr>
            <a:r>
              <a:rPr lang="en-US" sz="1400" dirty="0">
                <a:solidFill>
                  <a:schemeClr val="accent4">
                    <a:lumMod val="50000"/>
                  </a:schemeClr>
                </a:solidFill>
              </a:rPr>
              <a:t>-20448  -3536  -2110   2285  21115 </a:t>
            </a:r>
          </a:p>
          <a:p>
            <a:pPr marL="0" indent="0">
              <a:buNone/>
            </a:pPr>
            <a:endParaRPr lang="en-US" sz="1400" dirty="0">
              <a:solidFill>
                <a:schemeClr val="accent4">
                  <a:lumMod val="50000"/>
                </a:schemeClr>
              </a:solidFill>
            </a:endParaRPr>
          </a:p>
          <a:p>
            <a:pPr marL="0" indent="0">
              <a:buNone/>
            </a:pPr>
            <a:r>
              <a:rPr lang="en-US" sz="1400" dirty="0">
                <a:solidFill>
                  <a:schemeClr val="accent4">
                    <a:lumMod val="50000"/>
                  </a:schemeClr>
                </a:solidFill>
              </a:rPr>
              <a:t>Coefficients:</a:t>
            </a:r>
          </a:p>
          <a:p>
            <a:pPr marL="0" indent="0">
              <a:buNone/>
            </a:pPr>
            <a:r>
              <a:rPr lang="en-US" sz="1400" dirty="0">
                <a:solidFill>
                  <a:schemeClr val="accent4">
                    <a:lumMod val="50000"/>
                  </a:schemeClr>
                </a:solidFill>
              </a:rPr>
              <a:t>              Estimate Std. Error t value </a:t>
            </a:r>
            <a:r>
              <a:rPr lang="en-US" sz="1400" dirty="0" err="1">
                <a:solidFill>
                  <a:schemeClr val="accent4">
                    <a:lumMod val="50000"/>
                  </a:schemeClr>
                </a:solidFill>
              </a:rPr>
              <a:t>Pr</a:t>
            </a:r>
            <a:r>
              <a:rPr lang="en-US" sz="1400" dirty="0">
                <a:solidFill>
                  <a:schemeClr val="accent4">
                    <a:lumMod val="50000"/>
                  </a:schemeClr>
                </a:solidFill>
              </a:rPr>
              <a:t>(&gt;|t|)    </a:t>
            </a:r>
          </a:p>
          <a:p>
            <a:pPr marL="0" indent="0">
              <a:buNone/>
            </a:pPr>
            <a:r>
              <a:rPr lang="en-US" sz="1400" dirty="0">
                <a:solidFill>
                  <a:schemeClr val="accent4">
                    <a:lumMod val="50000"/>
                  </a:schemeClr>
                </a:solidFill>
              </a:rPr>
              <a:t>(Intercept) -31246.873   3485.634  -8.964 1.52e-12 ***</a:t>
            </a:r>
          </a:p>
          <a:p>
            <a:pPr marL="0" indent="0">
              <a:buNone/>
            </a:pPr>
            <a:r>
              <a:rPr lang="en-US" sz="1400" dirty="0" err="1">
                <a:solidFill>
                  <a:schemeClr val="accent4">
                    <a:lumMod val="50000"/>
                  </a:schemeClr>
                </a:solidFill>
              </a:rPr>
              <a:t>sqft</a:t>
            </a:r>
            <a:r>
              <a:rPr lang="en-US" sz="1400" dirty="0">
                <a:solidFill>
                  <a:schemeClr val="accent4">
                    <a:lumMod val="50000"/>
                  </a:schemeClr>
                </a:solidFill>
              </a:rPr>
              <a:t>            78.812      2.221  35.483  &lt; 2e-16 ***</a:t>
            </a:r>
          </a:p>
          <a:p>
            <a:pPr marL="0" indent="0">
              <a:buNone/>
            </a:pPr>
            <a:r>
              <a:rPr lang="en-US" sz="1400" dirty="0">
                <a:solidFill>
                  <a:schemeClr val="accent4">
                    <a:lumMod val="50000"/>
                  </a:schemeClr>
                </a:solidFill>
              </a:rPr>
              <a:t>---</a:t>
            </a:r>
          </a:p>
          <a:p>
            <a:pPr marL="0" indent="0">
              <a:buNone/>
            </a:pPr>
            <a:r>
              <a:rPr lang="en-US" sz="1400" dirty="0" err="1">
                <a:solidFill>
                  <a:schemeClr val="accent4">
                    <a:lumMod val="50000"/>
                  </a:schemeClr>
                </a:solidFill>
              </a:rPr>
              <a:t>Signif</a:t>
            </a:r>
            <a:r>
              <a:rPr lang="en-US" sz="1400" dirty="0">
                <a:solidFill>
                  <a:schemeClr val="accent4">
                    <a:lumMod val="50000"/>
                  </a:schemeClr>
                </a:solidFill>
              </a:rPr>
              <a:t>. codes:  0 ‘***’ 0.001 ‘**’ 0.01 ‘*’ 0.05 ‘.’ 0.1 ‘ ’ 1</a:t>
            </a:r>
          </a:p>
          <a:p>
            <a:pPr marL="0" indent="0">
              <a:buNone/>
            </a:pPr>
            <a:endParaRPr lang="en-US" sz="1400" dirty="0">
              <a:solidFill>
                <a:schemeClr val="accent4">
                  <a:lumMod val="50000"/>
                </a:schemeClr>
              </a:solidFill>
            </a:endParaRPr>
          </a:p>
          <a:p>
            <a:pPr marL="0" indent="0">
              <a:buNone/>
            </a:pPr>
            <a:r>
              <a:rPr lang="en-US" sz="1400" dirty="0">
                <a:solidFill>
                  <a:schemeClr val="accent4">
                    <a:lumMod val="50000"/>
                  </a:schemeClr>
                </a:solidFill>
              </a:rPr>
              <a:t>Residual standard error: 8030 on 58 degrees of freedom</a:t>
            </a:r>
          </a:p>
          <a:p>
            <a:pPr marL="0" indent="0">
              <a:buNone/>
            </a:pPr>
            <a:r>
              <a:rPr lang="en-US" sz="1400" dirty="0">
                <a:solidFill>
                  <a:schemeClr val="accent4">
                    <a:lumMod val="50000"/>
                  </a:schemeClr>
                </a:solidFill>
              </a:rPr>
              <a:t>Multiple R-squared:  0.956,     Adjusted R-squared:  0.9552 </a:t>
            </a:r>
          </a:p>
          <a:p>
            <a:pPr marL="0" indent="0">
              <a:buNone/>
            </a:pPr>
            <a:r>
              <a:rPr lang="en-US" sz="1400" dirty="0">
                <a:solidFill>
                  <a:schemeClr val="accent4">
                    <a:lumMod val="50000"/>
                  </a:schemeClr>
                </a:solidFill>
              </a:rPr>
              <a:t>F-statistic:  1259 on 1 and 58 DF,  p-value: &lt; 2.2e-16</a:t>
            </a:r>
          </a:p>
        </p:txBody>
      </p:sp>
      <p:cxnSp>
        <p:nvCxnSpPr>
          <p:cNvPr id="7" name="Straight Arrow Connector 6">
            <a:extLst>
              <a:ext uri="{FF2B5EF4-FFF2-40B4-BE49-F238E27FC236}">
                <a16:creationId xmlns:a16="http://schemas.microsoft.com/office/drawing/2014/main" id="{FB9022B7-D84C-44B5-BAE6-4F8B986E0BEC}"/>
              </a:ext>
            </a:extLst>
          </p:cNvPr>
          <p:cNvCxnSpPr>
            <a:cxnSpLocks/>
          </p:cNvCxnSpPr>
          <p:nvPr/>
        </p:nvCxnSpPr>
        <p:spPr>
          <a:xfrm flipH="1">
            <a:off x="1927167" y="4343400"/>
            <a:ext cx="3102033" cy="3048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B02102B-80A3-499A-A131-B345FC37A3F0}"/>
              </a:ext>
            </a:extLst>
          </p:cNvPr>
          <p:cNvSpPr txBox="1"/>
          <p:nvPr/>
        </p:nvSpPr>
        <p:spPr>
          <a:xfrm>
            <a:off x="4838700" y="2944572"/>
            <a:ext cx="4038600" cy="830997"/>
          </a:xfrm>
          <a:prstGeom prst="rect">
            <a:avLst/>
          </a:prstGeom>
          <a:noFill/>
        </p:spPr>
        <p:txBody>
          <a:bodyPr wrap="square" rtlCol="0">
            <a:spAutoFit/>
          </a:bodyPr>
          <a:lstStyle/>
          <a:p>
            <a:r>
              <a:rPr lang="en-US" sz="1600" dirty="0">
                <a:solidFill>
                  <a:srgbClr val="FF0000"/>
                </a:solidFill>
              </a:rPr>
              <a:t>Residual information that we will ignore because we will look at a plot that will tell us more than this</a:t>
            </a:r>
          </a:p>
        </p:txBody>
      </p:sp>
      <p:cxnSp>
        <p:nvCxnSpPr>
          <p:cNvPr id="11" name="Straight Arrow Connector 10">
            <a:extLst>
              <a:ext uri="{FF2B5EF4-FFF2-40B4-BE49-F238E27FC236}">
                <a16:creationId xmlns:a16="http://schemas.microsoft.com/office/drawing/2014/main" id="{DB23DFAF-2EBB-4028-A75C-38547CF9ABD0}"/>
              </a:ext>
            </a:extLst>
          </p:cNvPr>
          <p:cNvCxnSpPr>
            <a:cxnSpLocks/>
          </p:cNvCxnSpPr>
          <p:nvPr/>
        </p:nvCxnSpPr>
        <p:spPr>
          <a:xfrm flipH="1">
            <a:off x="1676401" y="4343400"/>
            <a:ext cx="3428999" cy="48682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2253ED35-A0FD-461C-BEFE-3C887CC18065}"/>
              </a:ext>
            </a:extLst>
          </p:cNvPr>
          <p:cNvCxnSpPr>
            <a:cxnSpLocks/>
          </p:cNvCxnSpPr>
          <p:nvPr/>
        </p:nvCxnSpPr>
        <p:spPr>
          <a:xfrm flipH="1">
            <a:off x="2743201" y="3361776"/>
            <a:ext cx="2007523" cy="34804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24ECB33-9555-4CC5-A777-9D4466F2ACA8}"/>
              </a:ext>
            </a:extLst>
          </p:cNvPr>
          <p:cNvSpPr txBox="1"/>
          <p:nvPr/>
        </p:nvSpPr>
        <p:spPr>
          <a:xfrm>
            <a:off x="4994564" y="4080301"/>
            <a:ext cx="4038600" cy="2062103"/>
          </a:xfrm>
          <a:prstGeom prst="rect">
            <a:avLst/>
          </a:prstGeom>
          <a:noFill/>
        </p:spPr>
        <p:txBody>
          <a:bodyPr wrap="square" rtlCol="0">
            <a:spAutoFit/>
          </a:bodyPr>
          <a:lstStyle/>
          <a:p>
            <a:r>
              <a:rPr lang="en-US" sz="1600" dirty="0">
                <a:solidFill>
                  <a:srgbClr val="FF0000"/>
                </a:solidFill>
              </a:rPr>
              <a:t>These are the coefficients (or slope and intercept) of our regression model</a:t>
            </a:r>
          </a:p>
          <a:p>
            <a:r>
              <a:rPr lang="en-US" sz="1600" dirty="0">
                <a:solidFill>
                  <a:srgbClr val="FF0000"/>
                </a:solidFill>
              </a:rPr>
              <a:t>The values to the right with *** next to it, signify that the slope and intercept are significant</a:t>
            </a:r>
          </a:p>
          <a:p>
            <a:endParaRPr lang="en-US" sz="1600" dirty="0">
              <a:solidFill>
                <a:srgbClr val="FF0000"/>
              </a:solidFill>
            </a:endParaRPr>
          </a:p>
          <a:p>
            <a:r>
              <a:rPr lang="en-US" sz="1600" dirty="0">
                <a:solidFill>
                  <a:srgbClr val="FF0000"/>
                </a:solidFill>
              </a:rPr>
              <a:t>The p-value of the F-statistics also tells us the regression model is significant</a:t>
            </a:r>
          </a:p>
        </p:txBody>
      </p:sp>
      <p:cxnSp>
        <p:nvCxnSpPr>
          <p:cNvPr id="16" name="Straight Arrow Connector 15">
            <a:extLst>
              <a:ext uri="{FF2B5EF4-FFF2-40B4-BE49-F238E27FC236}">
                <a16:creationId xmlns:a16="http://schemas.microsoft.com/office/drawing/2014/main" id="{4DC801AB-A31F-48CF-A94D-DF0CC26305BF}"/>
              </a:ext>
            </a:extLst>
          </p:cNvPr>
          <p:cNvCxnSpPr>
            <a:cxnSpLocks/>
          </p:cNvCxnSpPr>
          <p:nvPr/>
        </p:nvCxnSpPr>
        <p:spPr>
          <a:xfrm flipH="1">
            <a:off x="3784370" y="5867400"/>
            <a:ext cx="1244830" cy="512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651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36AFB-9330-4468-8B14-BFB84F414554}"/>
              </a:ext>
            </a:extLst>
          </p:cNvPr>
          <p:cNvSpPr>
            <a:spLocks noGrp="1"/>
          </p:cNvSpPr>
          <p:nvPr>
            <p:ph type="title"/>
          </p:nvPr>
        </p:nvSpPr>
        <p:spPr/>
        <p:txBody>
          <a:bodyPr/>
          <a:lstStyle/>
          <a:p>
            <a:r>
              <a:rPr lang="en-US" dirty="0"/>
              <a:t>A note on hypothesis tests</a:t>
            </a:r>
          </a:p>
        </p:txBody>
      </p:sp>
      <p:sp>
        <p:nvSpPr>
          <p:cNvPr id="3" name="Content Placeholder 2">
            <a:extLst>
              <a:ext uri="{FF2B5EF4-FFF2-40B4-BE49-F238E27FC236}">
                <a16:creationId xmlns:a16="http://schemas.microsoft.com/office/drawing/2014/main" id="{D778F947-DAD9-4DAC-892B-A03BF9A6043E}"/>
              </a:ext>
            </a:extLst>
          </p:cNvPr>
          <p:cNvSpPr>
            <a:spLocks noGrp="1"/>
          </p:cNvSpPr>
          <p:nvPr>
            <p:ph idx="1"/>
          </p:nvPr>
        </p:nvSpPr>
        <p:spPr/>
        <p:txBody>
          <a:bodyPr/>
          <a:lstStyle/>
          <a:p>
            <a:r>
              <a:rPr lang="en-US" dirty="0"/>
              <a:t>In a traditional statistical experiment where regression is used to test a hypothesis, the t-tests and F-test play the key role.</a:t>
            </a:r>
          </a:p>
          <a:p>
            <a:r>
              <a:rPr lang="en-US" dirty="0"/>
              <a:t>In predictive modeling, while we generally want to see a significant F-test and significant slope, we place more emphasis on evaluating the model with the test data set</a:t>
            </a:r>
          </a:p>
        </p:txBody>
      </p:sp>
    </p:spTree>
    <p:extLst>
      <p:ext uri="{BB962C8B-B14F-4D97-AF65-F5344CB8AC3E}">
        <p14:creationId xmlns:p14="http://schemas.microsoft.com/office/powerpoint/2010/main" val="29127188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t>Interpreting the results and using the model</a:t>
            </a:r>
          </a:p>
        </p:txBody>
      </p:sp>
      <p:sp>
        <p:nvSpPr>
          <p:cNvPr id="3" name="Content Placeholder 2"/>
          <p:cNvSpPr>
            <a:spLocks noGrp="1"/>
          </p:cNvSpPr>
          <p:nvPr>
            <p:ph idx="1"/>
          </p:nvPr>
        </p:nvSpPr>
        <p:spPr>
          <a:xfrm>
            <a:off x="685800" y="1295400"/>
            <a:ext cx="8229600" cy="5181600"/>
          </a:xfrm>
        </p:spPr>
        <p:txBody>
          <a:bodyPr>
            <a:normAutofit lnSpcReduction="10000"/>
          </a:bodyPr>
          <a:lstStyle/>
          <a:p>
            <a:pPr marL="0" indent="0">
              <a:buNone/>
            </a:pPr>
            <a:r>
              <a:rPr lang="en-US" sz="2400" dirty="0"/>
              <a:t>house price estimate = -31246.873 + 78.812 *(square footage)</a:t>
            </a:r>
          </a:p>
          <a:p>
            <a:pPr marL="0" indent="0">
              <a:buNone/>
            </a:pPr>
            <a:endParaRPr lang="en-US" sz="2400" dirty="0"/>
          </a:p>
          <a:p>
            <a:pPr marL="0" indent="0">
              <a:buNone/>
            </a:pPr>
            <a:r>
              <a:rPr lang="en-US" sz="2400" dirty="0"/>
              <a:t>For a 1200 </a:t>
            </a:r>
            <a:r>
              <a:rPr lang="en-US" sz="2400" dirty="0" err="1"/>
              <a:t>sqft</a:t>
            </a:r>
            <a:r>
              <a:rPr lang="en-US" sz="2400" dirty="0"/>
              <a:t> house, we could estimate a sale price of:</a:t>
            </a:r>
          </a:p>
          <a:p>
            <a:pPr marL="0" indent="0">
              <a:buNone/>
            </a:pPr>
            <a:r>
              <a:rPr lang="en-US" sz="2400" dirty="0"/>
              <a:t>House price estimate = -31246.873 + 78.812 *(1200)</a:t>
            </a:r>
          </a:p>
          <a:p>
            <a:pPr marL="0" indent="0">
              <a:buNone/>
            </a:pPr>
            <a:r>
              <a:rPr lang="en-US" sz="2400" dirty="0"/>
              <a:t>House price estimate = $63,327.53</a:t>
            </a:r>
          </a:p>
          <a:p>
            <a:pPr marL="0" indent="0">
              <a:buNone/>
            </a:pPr>
            <a:endParaRPr lang="en-US" sz="2400" dirty="0"/>
          </a:p>
          <a:p>
            <a:pPr marL="0" indent="0">
              <a:buNone/>
            </a:pPr>
            <a:r>
              <a:rPr lang="en-US" sz="2400" dirty="0"/>
              <a:t>Note: we should only make predictions for values of square-footage that were within the range of square-footages that were used to build the model (use summary(house) to find the max and min).  Making a prediction for a value out side the range used to build the model is </a:t>
            </a:r>
            <a:r>
              <a:rPr lang="en-US" sz="2400" b="1" u="sng" dirty="0"/>
              <a:t>extrapolation</a:t>
            </a:r>
            <a:r>
              <a:rPr lang="en-US" sz="2400" dirty="0"/>
              <a:t> and will give untested and unreliable results (for example, plugging 300 in for </a:t>
            </a:r>
            <a:r>
              <a:rPr lang="en-US" sz="2400" dirty="0" err="1"/>
              <a:t>sqft</a:t>
            </a:r>
            <a:r>
              <a:rPr lang="en-US" sz="2400" dirty="0"/>
              <a:t> in our model gives a negative selling price)</a:t>
            </a:r>
          </a:p>
          <a:p>
            <a:pPr marL="0" indent="0">
              <a:buNone/>
            </a:pPr>
            <a:endParaRPr lang="en-US" sz="2400" dirty="0"/>
          </a:p>
        </p:txBody>
      </p:sp>
    </p:spTree>
    <p:extLst>
      <p:ext uri="{BB962C8B-B14F-4D97-AF65-F5344CB8AC3E}">
        <p14:creationId xmlns:p14="http://schemas.microsoft.com/office/powerpoint/2010/main" val="3176475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Autofit/>
          </a:bodyPr>
          <a:lstStyle/>
          <a:p>
            <a:r>
              <a:rPr lang="en-US" sz="2400" b="1" dirty="0"/>
              <a:t>Visualizing how regression works</a:t>
            </a:r>
          </a:p>
        </p:txBody>
      </p:sp>
      <p:sp>
        <p:nvSpPr>
          <p:cNvPr id="3" name="Content Placeholder 2"/>
          <p:cNvSpPr>
            <a:spLocks noGrp="1"/>
          </p:cNvSpPr>
          <p:nvPr>
            <p:ph idx="1"/>
          </p:nvPr>
        </p:nvSpPr>
        <p:spPr>
          <a:xfrm>
            <a:off x="457200" y="1066800"/>
            <a:ext cx="8229600" cy="4906963"/>
          </a:xfrm>
        </p:spPr>
        <p:txBody>
          <a:bodyPr>
            <a:normAutofit/>
          </a:bodyPr>
          <a:lstStyle/>
          <a:p>
            <a:pPr marL="0" indent="0">
              <a:buNone/>
            </a:pPr>
            <a:r>
              <a:rPr lang="en-US" sz="2400" dirty="0"/>
              <a:t>The regression line is calculated so that the distance from each point to the line is minimized </a:t>
            </a:r>
          </a:p>
        </p:txBody>
      </p:sp>
      <p:pic>
        <p:nvPicPr>
          <p:cNvPr id="4" name="Picture 3" descr="Image of regression"/>
          <p:cNvPicPr>
            <a:picLocks noChangeAspect="1"/>
          </p:cNvPicPr>
          <p:nvPr/>
        </p:nvPicPr>
        <p:blipFill>
          <a:blip r:embed="rId2"/>
          <a:stretch>
            <a:fillRect/>
          </a:stretch>
        </p:blipFill>
        <p:spPr>
          <a:xfrm>
            <a:off x="381000" y="1858963"/>
            <a:ext cx="7264577" cy="4267200"/>
          </a:xfrm>
          <a:prstGeom prst="rect">
            <a:avLst/>
          </a:prstGeom>
        </p:spPr>
      </p:pic>
      <p:cxnSp>
        <p:nvCxnSpPr>
          <p:cNvPr id="8" name="Straight Arrow Connector 7"/>
          <p:cNvCxnSpPr/>
          <p:nvPr/>
        </p:nvCxnSpPr>
        <p:spPr>
          <a:xfrm>
            <a:off x="2971800" y="4800600"/>
            <a:ext cx="0" cy="22860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9" name="Straight Arrow Connector 8"/>
          <p:cNvCxnSpPr/>
          <p:nvPr/>
        </p:nvCxnSpPr>
        <p:spPr>
          <a:xfrm>
            <a:off x="4953000" y="3810000"/>
            <a:ext cx="0" cy="30480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p:cNvCxnSpPr/>
          <p:nvPr/>
        </p:nvCxnSpPr>
        <p:spPr>
          <a:xfrm>
            <a:off x="5105400" y="3505200"/>
            <a:ext cx="0" cy="22860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p:cNvCxnSpPr/>
          <p:nvPr/>
        </p:nvCxnSpPr>
        <p:spPr>
          <a:xfrm>
            <a:off x="4419600" y="4114800"/>
            <a:ext cx="0" cy="228600"/>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776880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dirty="0"/>
              <a:t>Prediction Intervals for Regression Algorithms</a:t>
            </a:r>
          </a:p>
        </p:txBody>
      </p:sp>
      <p:sp>
        <p:nvSpPr>
          <p:cNvPr id="3" name="Content Placeholder 2"/>
          <p:cNvSpPr>
            <a:spLocks noGrp="1"/>
          </p:cNvSpPr>
          <p:nvPr>
            <p:ph idx="1"/>
          </p:nvPr>
        </p:nvSpPr>
        <p:spPr>
          <a:xfrm>
            <a:off x="457200" y="1066800"/>
            <a:ext cx="8229600" cy="5059363"/>
          </a:xfrm>
        </p:spPr>
        <p:txBody>
          <a:bodyPr>
            <a:normAutofit/>
          </a:bodyPr>
          <a:lstStyle/>
          <a:p>
            <a:pPr>
              <a:buNone/>
            </a:pPr>
            <a:r>
              <a:rPr lang="en-US" sz="2800" dirty="0"/>
              <a:t>	</a:t>
            </a:r>
            <a:r>
              <a:rPr lang="en-US" sz="2000" dirty="0"/>
              <a:t>Ordinary least squares linear regression lines seek to fit a regression line (curve, plane, surface, hyper-plane, etc. when more than one input is involved) in a way that minimize the distance from the input points to the regression model.  Prediction intervals for an individual prediction can be calculated (some times call confidence intervals)</a:t>
            </a:r>
            <a:endParaRPr lang="en-US" sz="2400" dirty="0"/>
          </a:p>
        </p:txBody>
      </p:sp>
      <p:pic>
        <p:nvPicPr>
          <p:cNvPr id="1027" name="Picture 3" descr="image of regression"/>
          <p:cNvPicPr>
            <a:picLocks noChangeAspect="1" noChangeArrowheads="1"/>
          </p:cNvPicPr>
          <p:nvPr/>
        </p:nvPicPr>
        <p:blipFill>
          <a:blip r:embed="rId2" cstate="print"/>
          <a:srcRect/>
          <a:stretch>
            <a:fillRect/>
          </a:stretch>
        </p:blipFill>
        <p:spPr bwMode="auto">
          <a:xfrm>
            <a:off x="1295400" y="2971800"/>
            <a:ext cx="4248150" cy="3381375"/>
          </a:xfrm>
          <a:prstGeom prst="rect">
            <a:avLst/>
          </a:prstGeom>
          <a:noFill/>
          <a:ln w="9525">
            <a:noFill/>
            <a:miter lim="800000"/>
            <a:headEnd/>
            <a:tailEnd/>
          </a:ln>
          <a:effectLst/>
        </p:spPr>
      </p:pic>
      <p:cxnSp>
        <p:nvCxnSpPr>
          <p:cNvPr id="7" name="Straight Arrow Connector 6"/>
          <p:cNvCxnSpPr/>
          <p:nvPr/>
        </p:nvCxnSpPr>
        <p:spPr>
          <a:xfrm rot="5400000">
            <a:off x="3276600" y="4419600"/>
            <a:ext cx="304800" cy="158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2705894" y="5218906"/>
            <a:ext cx="228600" cy="158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 name="Freeform 10"/>
          <p:cNvSpPr/>
          <p:nvPr/>
        </p:nvSpPr>
        <p:spPr>
          <a:xfrm rot="5400000">
            <a:off x="3752946" y="3600546"/>
            <a:ext cx="1161288" cy="476819"/>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rot="5400000">
            <a:off x="2938084" y="4358827"/>
            <a:ext cx="1161288" cy="484257"/>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rot="5400000">
            <a:off x="2324766" y="4895946"/>
            <a:ext cx="1161288" cy="476819"/>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791200" y="3200400"/>
            <a:ext cx="2978892" cy="923330"/>
          </a:xfrm>
          <a:prstGeom prst="rect">
            <a:avLst/>
          </a:prstGeom>
          <a:noFill/>
        </p:spPr>
        <p:txBody>
          <a:bodyPr wrap="none" rtlCol="0">
            <a:spAutoFit/>
          </a:bodyPr>
          <a:lstStyle/>
          <a:p>
            <a:r>
              <a:rPr lang="en-US" dirty="0"/>
              <a:t>Confidence limits are</a:t>
            </a:r>
          </a:p>
          <a:p>
            <a:r>
              <a:rPr lang="en-US" dirty="0"/>
              <a:t>calculated assuming normally</a:t>
            </a:r>
          </a:p>
          <a:p>
            <a:r>
              <a:rPr lang="en-US" dirty="0"/>
              <a:t>distributed error</a:t>
            </a:r>
          </a:p>
        </p:txBody>
      </p:sp>
      <p:graphicFrame>
        <p:nvGraphicFramePr>
          <p:cNvPr id="21506" name="Object 2" descr="Confidence limits calculation"/>
          <p:cNvGraphicFramePr>
            <a:graphicFrameLocks noChangeAspect="1"/>
          </p:cNvGraphicFramePr>
          <p:nvPr>
            <p:extLst>
              <p:ext uri="{D42A27DB-BD31-4B8C-83A1-F6EECF244321}">
                <p14:modId xmlns:p14="http://schemas.microsoft.com/office/powerpoint/2010/main" val="2418058962"/>
              </p:ext>
            </p:extLst>
          </p:nvPr>
        </p:nvGraphicFramePr>
        <p:xfrm>
          <a:off x="5943600" y="4343400"/>
          <a:ext cx="2581275" cy="914400"/>
        </p:xfrm>
        <a:graphic>
          <a:graphicData uri="http://schemas.openxmlformats.org/presentationml/2006/ole">
            <mc:AlternateContent xmlns:mc="http://schemas.openxmlformats.org/markup-compatibility/2006">
              <mc:Choice xmlns:v="urn:schemas-microsoft-com:vml" Requires="v">
                <p:oleObj name="Equation" r:id="rId3" imgW="2070000" imgH="698400" progId="Equation.3">
                  <p:embed/>
                </p:oleObj>
              </mc:Choice>
              <mc:Fallback>
                <p:oleObj name="Equation" r:id="rId3" imgW="2070000" imgH="698400" progId="Equation.3">
                  <p:embed/>
                  <p:pic>
                    <p:nvPicPr>
                      <p:cNvPr id="21506" name="Object 2" descr="Confidence limits calculati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4343400"/>
                        <a:ext cx="2581275" cy="914400"/>
                      </a:xfrm>
                      <a:prstGeom prst="rect">
                        <a:avLst/>
                      </a:prstGeom>
                      <a:solidFill>
                        <a:srgbClr val="FFFFFF"/>
                      </a:solidFill>
                      <a:ln w="9525">
                        <a:solidFill>
                          <a:srgbClr val="000000"/>
                        </a:solidFill>
                        <a:miter lim="800000"/>
                        <a:headEnd/>
                        <a:tailEnd/>
                      </a:ln>
                    </p:spPr>
                  </p:pic>
                </p:oleObj>
              </mc:Fallback>
            </mc:AlternateContent>
          </a:graphicData>
        </a:graphic>
      </p:graphicFrame>
      <p:cxnSp>
        <p:nvCxnSpPr>
          <p:cNvPr id="18" name="Straight Connector 17"/>
          <p:cNvCxnSpPr/>
          <p:nvPr/>
        </p:nvCxnSpPr>
        <p:spPr>
          <a:xfrm>
            <a:off x="4267200" y="38100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429000" y="45720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819400" y="5105400"/>
            <a:ext cx="3048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Autofit/>
          </a:bodyPr>
          <a:lstStyle/>
          <a:p>
            <a:r>
              <a:rPr lang="en-US" sz="3200" dirty="0"/>
              <a:t>Prediction Intervals for Regression Algorithms</a:t>
            </a:r>
          </a:p>
        </p:txBody>
      </p:sp>
      <p:sp>
        <p:nvSpPr>
          <p:cNvPr id="3" name="Content Placeholder 2"/>
          <p:cNvSpPr>
            <a:spLocks noGrp="1"/>
          </p:cNvSpPr>
          <p:nvPr>
            <p:ph idx="1"/>
          </p:nvPr>
        </p:nvSpPr>
        <p:spPr>
          <a:xfrm>
            <a:off x="457200" y="1066801"/>
            <a:ext cx="8077200" cy="4267200"/>
          </a:xfrm>
        </p:spPr>
        <p:txBody>
          <a:bodyPr>
            <a:normAutofit/>
          </a:bodyPr>
          <a:lstStyle/>
          <a:p>
            <a:pPr>
              <a:buNone/>
            </a:pPr>
            <a:r>
              <a:rPr lang="en-US" sz="1800" dirty="0"/>
              <a:t>	So for our house sale price/square footage example, the red lines in the graph below would be the 95% prediction limits.  Quantifying uncertainty in this way is always better for supporting decisions.  So instead of just saying something like a  3000 square foot house will sale for $204,000, we can say we expect 95% of 3000 square foot houses to sell between $185,000 and $222,000</a:t>
            </a:r>
            <a:endParaRPr lang="en-US" sz="1600" dirty="0"/>
          </a:p>
        </p:txBody>
      </p:sp>
      <p:cxnSp>
        <p:nvCxnSpPr>
          <p:cNvPr id="7" name="Straight Arrow Connector 6"/>
          <p:cNvCxnSpPr/>
          <p:nvPr/>
        </p:nvCxnSpPr>
        <p:spPr>
          <a:xfrm rot="5400000">
            <a:off x="3276600" y="4419600"/>
            <a:ext cx="304800" cy="158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2705894" y="5218906"/>
            <a:ext cx="228600" cy="1588"/>
          </a:xfrm>
          <a:prstGeom prst="straightConnector1">
            <a:avLst/>
          </a:prstGeom>
          <a:ln>
            <a:solidFill>
              <a:srgbClr val="FF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1" name="Freeform 10"/>
          <p:cNvSpPr/>
          <p:nvPr/>
        </p:nvSpPr>
        <p:spPr>
          <a:xfrm rot="5400000">
            <a:off x="3752946" y="3600546"/>
            <a:ext cx="1161288" cy="476819"/>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rot="5400000">
            <a:off x="2938084" y="4358827"/>
            <a:ext cx="1161288" cy="484257"/>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rot="5400000">
            <a:off x="2324766" y="4895946"/>
            <a:ext cx="1161288" cy="476819"/>
          </a:xfrm>
          <a:custGeom>
            <a:avLst/>
            <a:gdLst>
              <a:gd name="connsiteX0" fmla="*/ 0 w 1161288"/>
              <a:gd name="connsiteY0" fmla="*/ 542544 h 550164"/>
              <a:gd name="connsiteX1" fmla="*/ 283464 w 1161288"/>
              <a:gd name="connsiteY1" fmla="*/ 460248 h 550164"/>
              <a:gd name="connsiteX2" fmla="*/ 557784 w 1161288"/>
              <a:gd name="connsiteY2" fmla="*/ 3048 h 550164"/>
              <a:gd name="connsiteX3" fmla="*/ 868680 w 1161288"/>
              <a:gd name="connsiteY3" fmla="*/ 441960 h 550164"/>
              <a:gd name="connsiteX4" fmla="*/ 1161288 w 1161288"/>
              <a:gd name="connsiteY4" fmla="*/ 524256 h 5501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1288" h="550164">
                <a:moveTo>
                  <a:pt x="0" y="542544"/>
                </a:moveTo>
                <a:cubicBezTo>
                  <a:pt x="95250" y="546354"/>
                  <a:pt x="190500" y="550164"/>
                  <a:pt x="283464" y="460248"/>
                </a:cubicBezTo>
                <a:cubicBezTo>
                  <a:pt x="376428" y="370332"/>
                  <a:pt x="460248" y="6096"/>
                  <a:pt x="557784" y="3048"/>
                </a:cubicBezTo>
                <a:cubicBezTo>
                  <a:pt x="655320" y="0"/>
                  <a:pt x="768096" y="355092"/>
                  <a:pt x="868680" y="441960"/>
                </a:cubicBezTo>
                <a:cubicBezTo>
                  <a:pt x="969264" y="528828"/>
                  <a:pt x="1065276" y="526542"/>
                  <a:pt x="1161288" y="524256"/>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8" name="Straight Connector 17"/>
          <p:cNvCxnSpPr/>
          <p:nvPr/>
        </p:nvCxnSpPr>
        <p:spPr>
          <a:xfrm>
            <a:off x="4267200" y="38100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429000" y="4572000"/>
            <a:ext cx="304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2819400" y="5105400"/>
            <a:ext cx="304800" cy="0"/>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descr="regression line with confidence intervals"/>
          <p:cNvPicPr>
            <a:picLocks noChangeAspect="1"/>
          </p:cNvPicPr>
          <p:nvPr/>
        </p:nvPicPr>
        <p:blipFill>
          <a:blip r:embed="rId2"/>
          <a:stretch>
            <a:fillRect/>
          </a:stretch>
        </p:blipFill>
        <p:spPr>
          <a:xfrm>
            <a:off x="652462" y="2686430"/>
            <a:ext cx="6162675" cy="3829050"/>
          </a:xfrm>
          <a:prstGeom prst="rect">
            <a:avLst/>
          </a:prstGeom>
        </p:spPr>
      </p:pic>
      <p:sp>
        <p:nvSpPr>
          <p:cNvPr id="5" name="TextBox 4"/>
          <p:cNvSpPr txBox="1"/>
          <p:nvPr/>
        </p:nvSpPr>
        <p:spPr>
          <a:xfrm>
            <a:off x="7391401" y="2819400"/>
            <a:ext cx="1676400" cy="3139321"/>
          </a:xfrm>
          <a:prstGeom prst="rect">
            <a:avLst/>
          </a:prstGeom>
          <a:noFill/>
        </p:spPr>
        <p:txBody>
          <a:bodyPr wrap="square" rtlCol="0">
            <a:spAutoFit/>
          </a:bodyPr>
          <a:lstStyle/>
          <a:p>
            <a:r>
              <a:rPr lang="en-US" dirty="0">
                <a:solidFill>
                  <a:srgbClr val="FF0000"/>
                </a:solidFill>
              </a:rPr>
              <a:t>In predictive modeling confidence limits on individual values is more meaningful than confidence limits on model parameters!</a:t>
            </a:r>
          </a:p>
        </p:txBody>
      </p:sp>
    </p:spTree>
    <p:extLst>
      <p:ext uri="{BB962C8B-B14F-4D97-AF65-F5344CB8AC3E}">
        <p14:creationId xmlns:p14="http://schemas.microsoft.com/office/powerpoint/2010/main" val="1436289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D411F-7FBF-43F6-8AC0-F22F393FD952}"/>
              </a:ext>
            </a:extLst>
          </p:cNvPr>
          <p:cNvSpPr>
            <a:spLocks noGrp="1"/>
          </p:cNvSpPr>
          <p:nvPr>
            <p:ph type="title"/>
          </p:nvPr>
        </p:nvSpPr>
        <p:spPr/>
        <p:txBody>
          <a:bodyPr>
            <a:normAutofit fontScale="90000"/>
          </a:bodyPr>
          <a:lstStyle/>
          <a:p>
            <a:r>
              <a:rPr lang="en-US" dirty="0"/>
              <a:t>R code for prediction limits and to plot the results</a:t>
            </a:r>
          </a:p>
        </p:txBody>
      </p:sp>
      <p:sp>
        <p:nvSpPr>
          <p:cNvPr id="3" name="Content Placeholder 2">
            <a:extLst>
              <a:ext uri="{FF2B5EF4-FFF2-40B4-BE49-F238E27FC236}">
                <a16:creationId xmlns:a16="http://schemas.microsoft.com/office/drawing/2014/main" id="{9D9E9922-BE0E-483C-991D-6997179B0E78}"/>
              </a:ext>
            </a:extLst>
          </p:cNvPr>
          <p:cNvSpPr>
            <a:spLocks noGrp="1"/>
          </p:cNvSpPr>
          <p:nvPr>
            <p:ph idx="1"/>
          </p:nvPr>
        </p:nvSpPr>
        <p:spPr>
          <a:xfrm>
            <a:off x="457200" y="1600201"/>
            <a:ext cx="8229600" cy="2209800"/>
          </a:xfrm>
        </p:spPr>
        <p:txBody>
          <a:bodyPr>
            <a:normAutofit/>
          </a:bodyPr>
          <a:lstStyle/>
          <a:p>
            <a:pPr marL="0" indent="0">
              <a:buNone/>
            </a:pPr>
            <a:r>
              <a:rPr lang="en-US" sz="1800" dirty="0" err="1"/>
              <a:t>regmodel</a:t>
            </a:r>
            <a:r>
              <a:rPr lang="en-US" sz="1800" dirty="0"/>
              <a:t>&lt;-</a:t>
            </a:r>
            <a:r>
              <a:rPr lang="en-US" sz="1800" dirty="0" err="1"/>
              <a:t>lm</a:t>
            </a:r>
            <a:r>
              <a:rPr lang="en-US" sz="1800" dirty="0"/>
              <a:t>(</a:t>
            </a:r>
            <a:r>
              <a:rPr lang="en-US" sz="1800" dirty="0" err="1"/>
              <a:t>saleprice~sqft,data</a:t>
            </a:r>
            <a:r>
              <a:rPr lang="en-US" sz="1800" dirty="0"/>
              <a:t>=house)</a:t>
            </a:r>
          </a:p>
          <a:p>
            <a:pPr marL="0" indent="0">
              <a:buNone/>
            </a:pPr>
            <a:r>
              <a:rPr lang="en-US" sz="1800" dirty="0"/>
              <a:t>plot(</a:t>
            </a:r>
            <a:r>
              <a:rPr lang="en-US" sz="1800" dirty="0" err="1"/>
              <a:t>house$sqft,house$saleprice</a:t>
            </a:r>
            <a:r>
              <a:rPr lang="en-US" sz="1800" dirty="0"/>
              <a:t>)</a:t>
            </a:r>
          </a:p>
          <a:p>
            <a:pPr marL="0" indent="0">
              <a:buNone/>
            </a:pPr>
            <a:r>
              <a:rPr lang="en-US" sz="1800" dirty="0" err="1"/>
              <a:t>abline</a:t>
            </a:r>
            <a:r>
              <a:rPr lang="en-US" sz="1800" dirty="0"/>
              <a:t>(</a:t>
            </a:r>
            <a:r>
              <a:rPr lang="en-US" sz="1800" dirty="0" err="1"/>
              <a:t>regmodel</a:t>
            </a:r>
            <a:r>
              <a:rPr lang="en-US" sz="1800" dirty="0"/>
              <a:t>)</a:t>
            </a:r>
          </a:p>
          <a:p>
            <a:pPr marL="0" indent="0">
              <a:buNone/>
            </a:pPr>
            <a:r>
              <a:rPr lang="en-US" sz="1800" dirty="0" err="1"/>
              <a:t>pred_interval</a:t>
            </a:r>
            <a:r>
              <a:rPr lang="en-US" sz="1800" dirty="0"/>
              <a:t> &lt;- predict(</a:t>
            </a:r>
            <a:r>
              <a:rPr lang="en-US" sz="1800" dirty="0" err="1"/>
              <a:t>regmodel</a:t>
            </a:r>
            <a:r>
              <a:rPr lang="en-US" sz="1800" dirty="0"/>
              <a:t>, </a:t>
            </a:r>
            <a:r>
              <a:rPr lang="en-US" sz="1800" dirty="0" err="1"/>
              <a:t>newdata</a:t>
            </a:r>
            <a:r>
              <a:rPr lang="en-US" sz="1800" dirty="0"/>
              <a:t>=house, interval="</a:t>
            </a:r>
            <a:r>
              <a:rPr lang="en-US" sz="1800" dirty="0" err="1"/>
              <a:t>prediction",level</a:t>
            </a:r>
            <a:r>
              <a:rPr lang="en-US" sz="1800" dirty="0"/>
              <a:t> = 0.95)</a:t>
            </a:r>
          </a:p>
          <a:p>
            <a:pPr marL="0" indent="0">
              <a:buNone/>
            </a:pPr>
            <a:r>
              <a:rPr lang="en-US" sz="1800" dirty="0"/>
              <a:t>lines(</a:t>
            </a:r>
            <a:r>
              <a:rPr lang="en-US" sz="1800" dirty="0" err="1"/>
              <a:t>house$sqft</a:t>
            </a:r>
            <a:r>
              <a:rPr lang="en-US" sz="1800" dirty="0"/>
              <a:t>, </a:t>
            </a:r>
            <a:r>
              <a:rPr lang="en-US" sz="1800" dirty="0" err="1"/>
              <a:t>pred_interval</a:t>
            </a:r>
            <a:r>
              <a:rPr lang="en-US" sz="1800" dirty="0"/>
              <a:t>[,2])</a:t>
            </a:r>
          </a:p>
          <a:p>
            <a:pPr marL="0" indent="0">
              <a:buNone/>
            </a:pPr>
            <a:r>
              <a:rPr lang="en-US" sz="1800" dirty="0"/>
              <a:t>lines(</a:t>
            </a:r>
            <a:r>
              <a:rPr lang="en-US" sz="1800" dirty="0" err="1"/>
              <a:t>house$sqft</a:t>
            </a:r>
            <a:r>
              <a:rPr lang="en-US" sz="1800" dirty="0"/>
              <a:t>, </a:t>
            </a:r>
            <a:r>
              <a:rPr lang="en-US" sz="1800" dirty="0" err="1"/>
              <a:t>pred_interval</a:t>
            </a:r>
            <a:r>
              <a:rPr lang="en-US" sz="1800" dirty="0"/>
              <a:t>[,3])</a:t>
            </a:r>
          </a:p>
        </p:txBody>
      </p:sp>
      <p:sp>
        <p:nvSpPr>
          <p:cNvPr id="5" name="TextBox 4">
            <a:extLst>
              <a:ext uri="{FF2B5EF4-FFF2-40B4-BE49-F238E27FC236}">
                <a16:creationId xmlns:a16="http://schemas.microsoft.com/office/drawing/2014/main" id="{E4B3E9B0-41FC-42A0-9B10-4295CE31A99A}"/>
              </a:ext>
            </a:extLst>
          </p:cNvPr>
          <p:cNvSpPr txBox="1"/>
          <p:nvPr/>
        </p:nvSpPr>
        <p:spPr>
          <a:xfrm>
            <a:off x="425801" y="3733800"/>
            <a:ext cx="3352800" cy="1200329"/>
          </a:xfrm>
          <a:prstGeom prst="rect">
            <a:avLst/>
          </a:prstGeom>
          <a:noFill/>
        </p:spPr>
        <p:txBody>
          <a:bodyPr wrap="square" rtlCol="0">
            <a:spAutoFit/>
          </a:bodyPr>
          <a:lstStyle/>
          <a:p>
            <a:r>
              <a:rPr lang="en-US" dirty="0">
                <a:solidFill>
                  <a:srgbClr val="FF0000"/>
                </a:solidFill>
              </a:rPr>
              <a:t>Level=0.95 asks for 95% intervals, if you want 99% intervals (wider limits to account for more data), it can be changed to 0.99</a:t>
            </a:r>
          </a:p>
        </p:txBody>
      </p:sp>
      <p:pic>
        <p:nvPicPr>
          <p:cNvPr id="8" name="Picture 7" descr="R regression output">
            <a:extLst>
              <a:ext uri="{FF2B5EF4-FFF2-40B4-BE49-F238E27FC236}">
                <a16:creationId xmlns:a16="http://schemas.microsoft.com/office/drawing/2014/main" id="{20265C0C-26CB-40DB-B98E-3B4DFC6B7DE7}"/>
              </a:ext>
            </a:extLst>
          </p:cNvPr>
          <p:cNvPicPr>
            <a:picLocks noChangeAspect="1"/>
          </p:cNvPicPr>
          <p:nvPr/>
        </p:nvPicPr>
        <p:blipFill>
          <a:blip r:embed="rId2"/>
          <a:stretch>
            <a:fillRect/>
          </a:stretch>
        </p:blipFill>
        <p:spPr>
          <a:xfrm>
            <a:off x="4038600" y="3429000"/>
            <a:ext cx="4924425" cy="2895600"/>
          </a:xfrm>
          <a:prstGeom prst="rect">
            <a:avLst/>
          </a:prstGeom>
        </p:spPr>
      </p:pic>
    </p:spTree>
    <p:extLst>
      <p:ext uri="{BB962C8B-B14F-4D97-AF65-F5344CB8AC3E}">
        <p14:creationId xmlns:p14="http://schemas.microsoft.com/office/powerpoint/2010/main" val="853238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09F12-839F-482E-BF9C-D47AEA440583}"/>
              </a:ext>
            </a:extLst>
          </p:cNvPr>
          <p:cNvSpPr>
            <a:spLocks noGrp="1"/>
          </p:cNvSpPr>
          <p:nvPr>
            <p:ph type="ctrTitle"/>
          </p:nvPr>
        </p:nvSpPr>
        <p:spPr/>
        <p:txBody>
          <a:bodyPr/>
          <a:lstStyle/>
          <a:p>
            <a:r>
              <a:rPr lang="en-US" dirty="0"/>
              <a:t>Using the model</a:t>
            </a:r>
          </a:p>
        </p:txBody>
      </p:sp>
    </p:spTree>
    <p:extLst>
      <p:ext uri="{BB962C8B-B14F-4D97-AF65-F5344CB8AC3E}">
        <p14:creationId xmlns:p14="http://schemas.microsoft.com/office/powerpoint/2010/main" val="18735875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C63B-1543-4A83-A44E-C95736554263}"/>
              </a:ext>
            </a:extLst>
          </p:cNvPr>
          <p:cNvSpPr>
            <a:spLocks noGrp="1"/>
          </p:cNvSpPr>
          <p:nvPr>
            <p:ph type="title"/>
          </p:nvPr>
        </p:nvSpPr>
        <p:spPr/>
        <p:txBody>
          <a:bodyPr>
            <a:noAutofit/>
          </a:bodyPr>
          <a:lstStyle/>
          <a:p>
            <a:r>
              <a:rPr lang="en-US" sz="3200" dirty="0"/>
              <a:t>R Code to use if we want to make a prediction (and include confidence intervals)</a:t>
            </a:r>
          </a:p>
        </p:txBody>
      </p:sp>
      <p:sp>
        <p:nvSpPr>
          <p:cNvPr id="3" name="Content Placeholder 2">
            <a:extLst>
              <a:ext uri="{FF2B5EF4-FFF2-40B4-BE49-F238E27FC236}">
                <a16:creationId xmlns:a16="http://schemas.microsoft.com/office/drawing/2014/main" id="{42D6167C-7836-49F1-83DA-8DA9551063BF}"/>
              </a:ext>
            </a:extLst>
          </p:cNvPr>
          <p:cNvSpPr>
            <a:spLocks noGrp="1"/>
          </p:cNvSpPr>
          <p:nvPr>
            <p:ph idx="1"/>
          </p:nvPr>
        </p:nvSpPr>
        <p:spPr/>
        <p:txBody>
          <a:bodyPr>
            <a:normAutofit/>
          </a:bodyPr>
          <a:lstStyle/>
          <a:p>
            <a:pPr marL="0" indent="0">
              <a:buNone/>
            </a:pPr>
            <a:r>
              <a:rPr lang="en-US" sz="2000" dirty="0" err="1"/>
              <a:t>newdata</a:t>
            </a:r>
            <a:r>
              <a:rPr lang="en-US" sz="2000" dirty="0"/>
              <a:t>=</a:t>
            </a:r>
            <a:r>
              <a:rPr lang="en-US" sz="2000" dirty="0" err="1"/>
              <a:t>data.frame</a:t>
            </a:r>
            <a:r>
              <a:rPr lang="en-US" sz="2000" dirty="0"/>
              <a:t>(</a:t>
            </a:r>
            <a:r>
              <a:rPr lang="en-US" sz="2000" dirty="0" err="1"/>
              <a:t>sqft</a:t>
            </a:r>
            <a:r>
              <a:rPr lang="en-US" sz="2000" dirty="0"/>
              <a:t>=1400)</a:t>
            </a:r>
          </a:p>
          <a:p>
            <a:pPr marL="0" indent="0">
              <a:buNone/>
            </a:pPr>
            <a:r>
              <a:rPr lang="en-US" sz="2000" dirty="0"/>
              <a:t>predict(</a:t>
            </a:r>
            <a:r>
              <a:rPr lang="en-US" sz="2000" dirty="0" err="1"/>
              <a:t>regmodel,newdata</a:t>
            </a:r>
            <a:r>
              <a:rPr lang="en-US" sz="2000" dirty="0"/>
              <a:t>=</a:t>
            </a:r>
            <a:r>
              <a:rPr lang="en-US" sz="2000" dirty="0" err="1"/>
              <a:t>newdata,interval</a:t>
            </a:r>
            <a:r>
              <a:rPr lang="en-US" sz="2000" dirty="0"/>
              <a:t>="</a:t>
            </a:r>
            <a:r>
              <a:rPr lang="en-US" sz="2000" dirty="0" err="1"/>
              <a:t>prediction",level</a:t>
            </a:r>
            <a:r>
              <a:rPr lang="en-US" sz="2000" dirty="0"/>
              <a:t>=0.95)</a:t>
            </a:r>
            <a:r>
              <a:rPr lang="fr-FR" sz="2000" dirty="0"/>
              <a:t> </a:t>
            </a:r>
          </a:p>
          <a:p>
            <a:pPr marL="0" indent="0">
              <a:buNone/>
            </a:pPr>
            <a:r>
              <a:rPr lang="fr-FR" sz="2400" dirty="0"/>
              <a:t>fit      		</a:t>
            </a:r>
            <a:r>
              <a:rPr lang="fr-FR" sz="2400" dirty="0" err="1"/>
              <a:t>lwr</a:t>
            </a:r>
            <a:r>
              <a:rPr lang="fr-FR" sz="2400" dirty="0"/>
              <a:t>      	     	</a:t>
            </a:r>
            <a:r>
              <a:rPr lang="fr-FR" sz="2400" dirty="0" err="1"/>
              <a:t>upr</a:t>
            </a:r>
            <a:endParaRPr lang="fr-FR" sz="2400" dirty="0"/>
          </a:p>
          <a:p>
            <a:pPr marL="0" indent="0">
              <a:buNone/>
            </a:pPr>
            <a:r>
              <a:rPr lang="fr-FR" sz="2400" dirty="0"/>
              <a:t>79090.41 	62876.44 	95304.38</a:t>
            </a:r>
            <a:endParaRPr lang="en-US" sz="2400" dirty="0"/>
          </a:p>
        </p:txBody>
      </p:sp>
      <p:sp>
        <p:nvSpPr>
          <p:cNvPr id="4" name="Rectangle 3">
            <a:extLst>
              <a:ext uri="{FF2B5EF4-FFF2-40B4-BE49-F238E27FC236}">
                <a16:creationId xmlns:a16="http://schemas.microsoft.com/office/drawing/2014/main" id="{360BB501-5A27-4FB0-AA92-CA3BF19B48E8}"/>
              </a:ext>
            </a:extLst>
          </p:cNvPr>
          <p:cNvSpPr/>
          <p:nvPr/>
        </p:nvSpPr>
        <p:spPr>
          <a:xfrm>
            <a:off x="394855" y="3652183"/>
            <a:ext cx="8120495" cy="2585323"/>
          </a:xfrm>
          <a:prstGeom prst="rect">
            <a:avLst/>
          </a:prstGeom>
        </p:spPr>
        <p:txBody>
          <a:bodyPr wrap="square">
            <a:spAutoFit/>
          </a:bodyPr>
          <a:lstStyle/>
          <a:p>
            <a:r>
              <a:rPr lang="en-US" sz="1350" dirty="0">
                <a:solidFill>
                  <a:srgbClr val="FF0000"/>
                </a:solidFill>
                <a:latin typeface="Lucida Console" panose="020B0609040504020204" pitchFamily="49" charset="0"/>
              </a:rPr>
              <a:t>This code gives the predicted sale price for a square footage of 1400</a:t>
            </a:r>
          </a:p>
          <a:p>
            <a:r>
              <a:rPr lang="en-US" sz="1350" dirty="0">
                <a:solidFill>
                  <a:srgbClr val="FF0000"/>
                </a:solidFill>
                <a:latin typeface="Lucida Console" panose="020B0609040504020204" pitchFamily="49" charset="0"/>
              </a:rPr>
              <a:t>It gives our best estimate for the sale price and then a lower and upper bound for two sale prices we are 95% sure the true sale price will be between.</a:t>
            </a:r>
          </a:p>
          <a:p>
            <a:endParaRPr lang="en-US" sz="1350" dirty="0">
              <a:solidFill>
                <a:srgbClr val="FF0000"/>
              </a:solidFill>
              <a:latin typeface="Lucida Console" panose="020B0609040504020204" pitchFamily="49" charset="0"/>
            </a:endParaRPr>
          </a:p>
          <a:p>
            <a:r>
              <a:rPr lang="en-US" sz="1350" dirty="0">
                <a:solidFill>
                  <a:srgbClr val="FF0000"/>
                </a:solidFill>
                <a:latin typeface="Lucida Console" panose="020B0609040504020204" pitchFamily="49" charset="0"/>
              </a:rPr>
              <a:t>What </a:t>
            </a:r>
            <a:r>
              <a:rPr lang="en-US" sz="1350" dirty="0" err="1">
                <a:solidFill>
                  <a:srgbClr val="FF0000"/>
                </a:solidFill>
                <a:latin typeface="Lucida Console" panose="020B0609040504020204" pitchFamily="49" charset="0"/>
              </a:rPr>
              <a:t>sqft</a:t>
            </a:r>
            <a:r>
              <a:rPr lang="en-US" sz="1350" dirty="0">
                <a:solidFill>
                  <a:srgbClr val="FF0000"/>
                </a:solidFill>
                <a:latin typeface="Lucida Console" panose="020B0609040504020204" pitchFamily="49" charset="0"/>
              </a:rPr>
              <a:t> values is the model valid for?</a:t>
            </a:r>
          </a:p>
          <a:p>
            <a:r>
              <a:rPr lang="en-US" sz="1350" dirty="0">
                <a:solidFill>
                  <a:srgbClr val="FF0000"/>
                </a:solidFill>
                <a:latin typeface="Lucida Console" panose="020B0609040504020204" pitchFamily="49" charset="0"/>
              </a:rPr>
              <a:t>Use the following to see the min and max values of </a:t>
            </a:r>
            <a:r>
              <a:rPr lang="en-US" sz="1350" dirty="0" err="1">
                <a:solidFill>
                  <a:srgbClr val="FF0000"/>
                </a:solidFill>
                <a:latin typeface="Lucida Console" panose="020B0609040504020204" pitchFamily="49" charset="0"/>
              </a:rPr>
              <a:t>sqft</a:t>
            </a:r>
            <a:r>
              <a:rPr lang="en-US" sz="1350" dirty="0">
                <a:solidFill>
                  <a:srgbClr val="FF0000"/>
                </a:solidFill>
                <a:latin typeface="Lucida Console" panose="020B0609040504020204" pitchFamily="49" charset="0"/>
              </a:rPr>
              <a:t>:</a:t>
            </a:r>
          </a:p>
          <a:p>
            <a:endParaRPr lang="en-US" sz="1350" dirty="0">
              <a:solidFill>
                <a:srgbClr val="FF0000"/>
              </a:solidFill>
              <a:latin typeface="Lucida Console" panose="020B0609040504020204" pitchFamily="49" charset="0"/>
            </a:endParaRPr>
          </a:p>
          <a:p>
            <a:r>
              <a:rPr lang="en-US" sz="1350" dirty="0">
                <a:solidFill>
                  <a:srgbClr val="FF0000"/>
                </a:solidFill>
                <a:latin typeface="Lucida Console" panose="020B0609040504020204" pitchFamily="49" charset="0"/>
              </a:rPr>
              <a:t>summary(house)</a:t>
            </a:r>
          </a:p>
          <a:p>
            <a:endParaRPr lang="en-US" sz="1350" dirty="0">
              <a:solidFill>
                <a:srgbClr val="FF0000"/>
              </a:solidFill>
              <a:latin typeface="Lucida Console" panose="020B0609040504020204" pitchFamily="49" charset="0"/>
            </a:endParaRPr>
          </a:p>
          <a:p>
            <a:r>
              <a:rPr lang="en-US" sz="1350" dirty="0">
                <a:solidFill>
                  <a:srgbClr val="FF0000"/>
                </a:solidFill>
                <a:latin typeface="Lucida Console" panose="020B0609040504020204" pitchFamily="49" charset="0"/>
              </a:rPr>
              <a:t>The model can be used for values between 620 and 3410 square feet.</a:t>
            </a:r>
          </a:p>
          <a:p>
            <a:endParaRPr lang="en-US" sz="1350" dirty="0">
              <a:solidFill>
                <a:srgbClr val="FF0000"/>
              </a:solidFill>
              <a:latin typeface="Lucida Console" panose="020B0609040504020204" pitchFamily="49" charset="0"/>
            </a:endParaRPr>
          </a:p>
        </p:txBody>
      </p:sp>
    </p:spTree>
    <p:extLst>
      <p:ext uri="{BB962C8B-B14F-4D97-AF65-F5344CB8AC3E}">
        <p14:creationId xmlns:p14="http://schemas.microsoft.com/office/powerpoint/2010/main" val="5537945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3600" dirty="0"/>
              <a:t>When to Use Regression:</a:t>
            </a:r>
            <a:br>
              <a:rPr lang="en-US" sz="3600" dirty="0"/>
            </a:br>
            <a:endParaRPr lang="en-US" sz="3600" dirty="0"/>
          </a:p>
        </p:txBody>
      </p:sp>
      <p:sp>
        <p:nvSpPr>
          <p:cNvPr id="3" name="Content Placeholder 2"/>
          <p:cNvSpPr>
            <a:spLocks noGrp="1"/>
          </p:cNvSpPr>
          <p:nvPr>
            <p:ph idx="1"/>
          </p:nvPr>
        </p:nvSpPr>
        <p:spPr>
          <a:xfrm>
            <a:off x="457200" y="1143000"/>
            <a:ext cx="8229600" cy="4983163"/>
          </a:xfrm>
        </p:spPr>
        <p:txBody>
          <a:bodyPr>
            <a:normAutofit fontScale="77500" lnSpcReduction="20000"/>
          </a:bodyPr>
          <a:lstStyle/>
          <a:p>
            <a:pPr lvl="0"/>
            <a:r>
              <a:rPr lang="en-US" dirty="0"/>
              <a:t>If you are trying to predict numeric data (the column contains continuous data). Examples: to predict the amount of sales, to predict the amount of bacteria, to predict ACT scores, to predict the point spread in a game, etc.</a:t>
            </a:r>
          </a:p>
          <a:p>
            <a:pPr lvl="0"/>
            <a:r>
              <a:rPr lang="en-US" dirty="0"/>
              <a:t>If you need to predict a discrete variable (character or text data in a column) you have a classification problem, which we will cover later in this course</a:t>
            </a:r>
          </a:p>
          <a:p>
            <a:pPr lvl="0"/>
            <a:r>
              <a:rPr lang="en-US" dirty="0"/>
              <a:t>You may have one or more input columns (i.e. independent variables) and these columns can be either discrete (text) or continuous (numeric)</a:t>
            </a:r>
          </a:p>
          <a:p>
            <a:pPr lvl="0"/>
            <a:r>
              <a:rPr lang="en-US" dirty="0"/>
              <a:t>There must be a relationship between the column you are trying to predict and the input columns for your regression to be useful (for example, regression can’t be used to predict the winning lottery numbers, because the lottery is random and therefore has no relationships to other data)</a:t>
            </a:r>
          </a:p>
          <a:p>
            <a:endParaRPr lang="en-US" dirty="0"/>
          </a:p>
        </p:txBody>
      </p:sp>
    </p:spTree>
    <p:extLst>
      <p:ext uri="{BB962C8B-B14F-4D97-AF65-F5344CB8AC3E}">
        <p14:creationId xmlns:p14="http://schemas.microsoft.com/office/powerpoint/2010/main" val="744207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00BE-0530-4C4C-AFEB-680C678E0258}"/>
              </a:ext>
            </a:extLst>
          </p:cNvPr>
          <p:cNvSpPr>
            <a:spLocks noGrp="1"/>
          </p:cNvSpPr>
          <p:nvPr>
            <p:ph type="title"/>
          </p:nvPr>
        </p:nvSpPr>
        <p:spPr/>
        <p:txBody>
          <a:bodyPr/>
          <a:lstStyle/>
          <a:p>
            <a:r>
              <a:rPr lang="en-US" dirty="0"/>
              <a:t>Full code for example 1</a:t>
            </a:r>
          </a:p>
        </p:txBody>
      </p:sp>
      <p:sp>
        <p:nvSpPr>
          <p:cNvPr id="3" name="Content Placeholder 2">
            <a:extLst>
              <a:ext uri="{FF2B5EF4-FFF2-40B4-BE49-F238E27FC236}">
                <a16:creationId xmlns:a16="http://schemas.microsoft.com/office/drawing/2014/main" id="{350A5752-3E86-4DDF-92A7-90AF4ED26F2E}"/>
              </a:ext>
            </a:extLst>
          </p:cNvPr>
          <p:cNvSpPr>
            <a:spLocks noGrp="1"/>
          </p:cNvSpPr>
          <p:nvPr>
            <p:ph idx="1"/>
          </p:nvPr>
        </p:nvSpPr>
        <p:spPr>
          <a:xfrm>
            <a:off x="457200" y="1295400"/>
            <a:ext cx="8229600" cy="5105400"/>
          </a:xfrm>
        </p:spPr>
        <p:txBody>
          <a:bodyPr>
            <a:normAutofit fontScale="55000" lnSpcReduction="20000"/>
          </a:bodyPr>
          <a:lstStyle/>
          <a:p>
            <a:pPr marL="0" indent="0">
              <a:buNone/>
            </a:pPr>
            <a:r>
              <a:rPr lang="en-US" dirty="0"/>
              <a:t>#house &lt;-read.csv("C:/Users/hbrown11/Desktop/housing.csv", header=TRUE)</a:t>
            </a:r>
          </a:p>
          <a:p>
            <a:pPr marL="0" indent="0">
              <a:buNone/>
            </a:pPr>
            <a:r>
              <a:rPr lang="en-US" dirty="0"/>
              <a:t>head(house)</a:t>
            </a:r>
          </a:p>
          <a:p>
            <a:pPr marL="0" indent="0">
              <a:buNone/>
            </a:pPr>
            <a:r>
              <a:rPr lang="en-US" dirty="0"/>
              <a:t>#</a:t>
            </a:r>
            <a:r>
              <a:rPr lang="en-US" dirty="0" err="1"/>
              <a:t>install.packages</a:t>
            </a:r>
            <a:r>
              <a:rPr lang="en-US" dirty="0"/>
              <a:t>("caret") #only needs to be ran once</a:t>
            </a:r>
          </a:p>
          <a:p>
            <a:pPr marL="0" indent="0">
              <a:buNone/>
            </a:pPr>
            <a:r>
              <a:rPr lang="en-US" dirty="0"/>
              <a:t>library(caret)</a:t>
            </a:r>
          </a:p>
          <a:p>
            <a:pPr marL="0" indent="0">
              <a:buNone/>
            </a:pPr>
            <a:r>
              <a:rPr lang="en-US" dirty="0" err="1"/>
              <a:t>set.seed</a:t>
            </a:r>
            <a:r>
              <a:rPr lang="en-US" dirty="0"/>
              <a:t>(42)</a:t>
            </a:r>
          </a:p>
          <a:p>
            <a:pPr marL="0" indent="0">
              <a:buNone/>
            </a:pPr>
            <a:r>
              <a:rPr lang="en-US" dirty="0" err="1"/>
              <a:t>train_control</a:t>
            </a:r>
            <a:r>
              <a:rPr lang="en-US" dirty="0"/>
              <a:t> &lt;- </a:t>
            </a:r>
            <a:r>
              <a:rPr lang="en-US" dirty="0" err="1"/>
              <a:t>trainControl</a:t>
            </a:r>
            <a:r>
              <a:rPr lang="en-US" dirty="0"/>
              <a:t>(method = "</a:t>
            </a:r>
            <a:r>
              <a:rPr lang="en-US" dirty="0" err="1"/>
              <a:t>cv",number</a:t>
            </a:r>
            <a:r>
              <a:rPr lang="en-US" dirty="0"/>
              <a:t> = 5)</a:t>
            </a:r>
          </a:p>
          <a:p>
            <a:pPr marL="0" indent="0">
              <a:buNone/>
            </a:pPr>
            <a:r>
              <a:rPr lang="en-US" dirty="0"/>
              <a:t>model &lt;- train(</a:t>
            </a:r>
            <a:r>
              <a:rPr lang="en-US" dirty="0" err="1"/>
              <a:t>saleprice</a:t>
            </a:r>
            <a:r>
              <a:rPr lang="en-US" dirty="0"/>
              <a:t> ~</a:t>
            </a:r>
            <a:r>
              <a:rPr lang="en-US" dirty="0" err="1"/>
              <a:t>sqft</a:t>
            </a:r>
            <a:r>
              <a:rPr lang="en-US" dirty="0"/>
              <a:t>, data = house, method = "</a:t>
            </a:r>
            <a:r>
              <a:rPr lang="en-US" dirty="0" err="1"/>
              <a:t>lm</a:t>
            </a:r>
            <a:r>
              <a:rPr lang="en-US" dirty="0"/>
              <a:t>",  </a:t>
            </a:r>
            <a:r>
              <a:rPr lang="en-US" dirty="0" err="1"/>
              <a:t>trControl</a:t>
            </a:r>
            <a:r>
              <a:rPr lang="en-US" dirty="0"/>
              <a:t> = </a:t>
            </a:r>
            <a:r>
              <a:rPr lang="en-US" dirty="0" err="1"/>
              <a:t>train_control</a:t>
            </a:r>
            <a:r>
              <a:rPr lang="en-US" dirty="0"/>
              <a:t>)</a:t>
            </a:r>
          </a:p>
          <a:p>
            <a:pPr marL="0" indent="0">
              <a:buNone/>
            </a:pPr>
            <a:r>
              <a:rPr lang="en-US" dirty="0"/>
              <a:t>print(model)</a:t>
            </a:r>
          </a:p>
          <a:p>
            <a:pPr marL="0" indent="0">
              <a:buNone/>
            </a:pPr>
            <a:r>
              <a:rPr lang="en-US" dirty="0"/>
              <a:t>summary(model)</a:t>
            </a:r>
          </a:p>
          <a:p>
            <a:pPr marL="0" indent="0">
              <a:buNone/>
            </a:pPr>
            <a:r>
              <a:rPr lang="en-US" dirty="0" err="1"/>
              <a:t>regmodel</a:t>
            </a:r>
            <a:r>
              <a:rPr lang="en-US" dirty="0"/>
              <a:t>&lt;-</a:t>
            </a:r>
            <a:r>
              <a:rPr lang="en-US" dirty="0" err="1"/>
              <a:t>lm</a:t>
            </a:r>
            <a:r>
              <a:rPr lang="en-US" dirty="0"/>
              <a:t>(</a:t>
            </a:r>
            <a:r>
              <a:rPr lang="en-US" dirty="0" err="1"/>
              <a:t>saleprice~sqft,data</a:t>
            </a:r>
            <a:r>
              <a:rPr lang="en-US" dirty="0"/>
              <a:t>=house)</a:t>
            </a:r>
          </a:p>
          <a:p>
            <a:pPr marL="0" indent="0">
              <a:buNone/>
            </a:pPr>
            <a:r>
              <a:rPr lang="en-US" dirty="0"/>
              <a:t>plot(</a:t>
            </a:r>
            <a:r>
              <a:rPr lang="en-US" dirty="0" err="1"/>
              <a:t>house$sqft,house$saleprice</a:t>
            </a:r>
            <a:r>
              <a:rPr lang="en-US" dirty="0"/>
              <a:t>)</a:t>
            </a:r>
          </a:p>
          <a:p>
            <a:pPr marL="0" indent="0">
              <a:buNone/>
            </a:pPr>
            <a:r>
              <a:rPr lang="en-US" dirty="0" err="1"/>
              <a:t>abline</a:t>
            </a:r>
            <a:r>
              <a:rPr lang="en-US" dirty="0"/>
              <a:t>(</a:t>
            </a:r>
            <a:r>
              <a:rPr lang="en-US" dirty="0" err="1"/>
              <a:t>regmodel</a:t>
            </a:r>
            <a:r>
              <a:rPr lang="en-US" dirty="0"/>
              <a:t>)</a:t>
            </a:r>
          </a:p>
          <a:p>
            <a:pPr marL="0" indent="0">
              <a:buNone/>
            </a:pPr>
            <a:r>
              <a:rPr lang="en-US" dirty="0" err="1"/>
              <a:t>pred_interval</a:t>
            </a:r>
            <a:r>
              <a:rPr lang="en-US" dirty="0"/>
              <a:t> &lt;- predict(</a:t>
            </a:r>
            <a:r>
              <a:rPr lang="en-US" dirty="0" err="1"/>
              <a:t>regmodel</a:t>
            </a:r>
            <a:r>
              <a:rPr lang="en-US" dirty="0"/>
              <a:t>, </a:t>
            </a:r>
            <a:r>
              <a:rPr lang="en-US" dirty="0" err="1"/>
              <a:t>newdata</a:t>
            </a:r>
            <a:r>
              <a:rPr lang="en-US" dirty="0"/>
              <a:t>=house, interval="</a:t>
            </a:r>
            <a:r>
              <a:rPr lang="en-US" dirty="0" err="1"/>
              <a:t>prediction",level</a:t>
            </a:r>
            <a:r>
              <a:rPr lang="en-US" dirty="0"/>
              <a:t> = 0.95)</a:t>
            </a:r>
          </a:p>
          <a:p>
            <a:pPr marL="0" indent="0">
              <a:buNone/>
            </a:pPr>
            <a:r>
              <a:rPr lang="en-US" dirty="0"/>
              <a:t>lines(</a:t>
            </a:r>
            <a:r>
              <a:rPr lang="en-US" dirty="0" err="1"/>
              <a:t>house$sqft</a:t>
            </a:r>
            <a:r>
              <a:rPr lang="en-US" dirty="0"/>
              <a:t>, </a:t>
            </a:r>
            <a:r>
              <a:rPr lang="en-US" dirty="0" err="1"/>
              <a:t>pred_interval</a:t>
            </a:r>
            <a:r>
              <a:rPr lang="en-US" dirty="0"/>
              <a:t>[,2])</a:t>
            </a:r>
          </a:p>
          <a:p>
            <a:pPr marL="0" indent="0">
              <a:buNone/>
            </a:pPr>
            <a:r>
              <a:rPr lang="en-US" dirty="0"/>
              <a:t>lines(</a:t>
            </a:r>
            <a:r>
              <a:rPr lang="en-US" dirty="0" err="1"/>
              <a:t>house$sqft</a:t>
            </a:r>
            <a:r>
              <a:rPr lang="en-US" dirty="0"/>
              <a:t>, </a:t>
            </a:r>
            <a:r>
              <a:rPr lang="en-US" dirty="0" err="1"/>
              <a:t>pred_interval</a:t>
            </a:r>
            <a:r>
              <a:rPr lang="en-US" dirty="0"/>
              <a:t>[,3])</a:t>
            </a:r>
          </a:p>
          <a:p>
            <a:pPr marL="0" indent="0">
              <a:buNone/>
            </a:pPr>
            <a:r>
              <a:rPr lang="en-US" dirty="0"/>
              <a:t>summary(house)</a:t>
            </a:r>
          </a:p>
          <a:p>
            <a:pPr marL="0" indent="0">
              <a:buNone/>
            </a:pPr>
            <a:r>
              <a:rPr lang="en-US" dirty="0" err="1"/>
              <a:t>newdata</a:t>
            </a:r>
            <a:r>
              <a:rPr lang="en-US" dirty="0"/>
              <a:t>=</a:t>
            </a:r>
            <a:r>
              <a:rPr lang="en-US" dirty="0" err="1"/>
              <a:t>data.frame</a:t>
            </a:r>
            <a:r>
              <a:rPr lang="en-US" dirty="0"/>
              <a:t>(</a:t>
            </a:r>
            <a:r>
              <a:rPr lang="en-US" dirty="0" err="1"/>
              <a:t>sqft</a:t>
            </a:r>
            <a:r>
              <a:rPr lang="en-US" dirty="0"/>
              <a:t>=1400)</a:t>
            </a:r>
          </a:p>
          <a:p>
            <a:pPr marL="0" indent="0">
              <a:buNone/>
            </a:pPr>
            <a:r>
              <a:rPr lang="en-US" dirty="0"/>
              <a:t>predict(</a:t>
            </a:r>
            <a:r>
              <a:rPr lang="en-US" dirty="0" err="1"/>
              <a:t>regmodel,newdata</a:t>
            </a:r>
            <a:r>
              <a:rPr lang="en-US" dirty="0"/>
              <a:t>=</a:t>
            </a:r>
            <a:r>
              <a:rPr lang="en-US" dirty="0" err="1"/>
              <a:t>newdata,interval</a:t>
            </a:r>
            <a:r>
              <a:rPr lang="en-US" dirty="0"/>
              <a:t>="</a:t>
            </a:r>
            <a:r>
              <a:rPr lang="en-US" dirty="0" err="1"/>
              <a:t>prediction",level</a:t>
            </a:r>
            <a:r>
              <a:rPr lang="en-US" dirty="0"/>
              <a:t>=0.95)</a:t>
            </a:r>
          </a:p>
        </p:txBody>
      </p:sp>
    </p:spTree>
    <p:extLst>
      <p:ext uri="{BB962C8B-B14F-4D97-AF65-F5344CB8AC3E}">
        <p14:creationId xmlns:p14="http://schemas.microsoft.com/office/powerpoint/2010/main" val="3413489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 of regression model">
            <a:extLst>
              <a:ext uri="{FF2B5EF4-FFF2-40B4-BE49-F238E27FC236}">
                <a16:creationId xmlns:a16="http://schemas.microsoft.com/office/drawing/2014/main" id="{EF6D6731-BEA2-4512-8A94-81BB72511FC9}"/>
              </a:ext>
            </a:extLst>
          </p:cNvPr>
          <p:cNvPicPr>
            <a:picLocks noChangeAspect="1"/>
          </p:cNvPicPr>
          <p:nvPr/>
        </p:nvPicPr>
        <p:blipFill>
          <a:blip r:embed="rId2"/>
          <a:stretch>
            <a:fillRect/>
          </a:stretch>
        </p:blipFill>
        <p:spPr>
          <a:xfrm>
            <a:off x="388374" y="2590800"/>
            <a:ext cx="4197246" cy="4191000"/>
          </a:xfrm>
          <a:prstGeom prst="rect">
            <a:avLst/>
          </a:prstGeom>
        </p:spPr>
      </p:pic>
      <p:sp>
        <p:nvSpPr>
          <p:cNvPr id="2" name="Title 1">
            <a:extLst>
              <a:ext uri="{FF2B5EF4-FFF2-40B4-BE49-F238E27FC236}">
                <a16:creationId xmlns:a16="http://schemas.microsoft.com/office/drawing/2014/main" id="{5B26169C-C76B-4CA6-AB86-355B73F7EA75}"/>
              </a:ext>
            </a:extLst>
          </p:cNvPr>
          <p:cNvSpPr>
            <a:spLocks noGrp="1"/>
          </p:cNvSpPr>
          <p:nvPr>
            <p:ph type="title"/>
          </p:nvPr>
        </p:nvSpPr>
        <p:spPr>
          <a:xfrm>
            <a:off x="5734574" y="533400"/>
            <a:ext cx="3429000" cy="1143000"/>
          </a:xfrm>
        </p:spPr>
        <p:txBody>
          <a:bodyPr>
            <a:normAutofit fontScale="90000"/>
          </a:bodyPr>
          <a:lstStyle/>
          <a:p>
            <a:r>
              <a:rPr lang="en-US" dirty="0"/>
              <a:t>Relevant Output</a:t>
            </a:r>
          </a:p>
        </p:txBody>
      </p:sp>
      <p:pic>
        <p:nvPicPr>
          <p:cNvPr id="4" name="Picture 3" descr="Output of cross validation ">
            <a:extLst>
              <a:ext uri="{FF2B5EF4-FFF2-40B4-BE49-F238E27FC236}">
                <a16:creationId xmlns:a16="http://schemas.microsoft.com/office/drawing/2014/main" id="{2FD3D10C-2673-46D1-BB98-1D5BF699CB97}"/>
              </a:ext>
            </a:extLst>
          </p:cNvPr>
          <p:cNvPicPr>
            <a:picLocks noChangeAspect="1"/>
          </p:cNvPicPr>
          <p:nvPr/>
        </p:nvPicPr>
        <p:blipFill>
          <a:blip r:embed="rId3"/>
          <a:stretch>
            <a:fillRect/>
          </a:stretch>
        </p:blipFill>
        <p:spPr>
          <a:xfrm>
            <a:off x="228600" y="372611"/>
            <a:ext cx="2888226" cy="552015"/>
          </a:xfrm>
          <a:prstGeom prst="rect">
            <a:avLst/>
          </a:prstGeom>
        </p:spPr>
      </p:pic>
      <p:pic>
        <p:nvPicPr>
          <p:cNvPr id="5" name="Picture 4" descr="Model details">
            <a:extLst>
              <a:ext uri="{FF2B5EF4-FFF2-40B4-BE49-F238E27FC236}">
                <a16:creationId xmlns:a16="http://schemas.microsoft.com/office/drawing/2014/main" id="{A8E4F885-4FBE-43E0-A18D-3D0EA13769AA}"/>
              </a:ext>
            </a:extLst>
          </p:cNvPr>
          <p:cNvPicPr>
            <a:picLocks noChangeAspect="1"/>
          </p:cNvPicPr>
          <p:nvPr/>
        </p:nvPicPr>
        <p:blipFill>
          <a:blip r:embed="rId4"/>
          <a:stretch>
            <a:fillRect/>
          </a:stretch>
        </p:blipFill>
        <p:spPr>
          <a:xfrm>
            <a:off x="372295" y="990600"/>
            <a:ext cx="6012824" cy="1985543"/>
          </a:xfrm>
          <a:prstGeom prst="rect">
            <a:avLst/>
          </a:prstGeom>
        </p:spPr>
      </p:pic>
    </p:spTree>
    <p:extLst>
      <p:ext uri="{BB962C8B-B14F-4D97-AF65-F5344CB8AC3E}">
        <p14:creationId xmlns:p14="http://schemas.microsoft.com/office/powerpoint/2010/main" val="14747519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3C485-9ADE-4412-8ED5-66D5E503AC49}"/>
              </a:ext>
            </a:extLst>
          </p:cNvPr>
          <p:cNvSpPr>
            <a:spLocks noGrp="1"/>
          </p:cNvSpPr>
          <p:nvPr>
            <p:ph type="title"/>
          </p:nvPr>
        </p:nvSpPr>
        <p:spPr/>
        <p:txBody>
          <a:bodyPr/>
          <a:lstStyle/>
          <a:p>
            <a:r>
              <a:rPr lang="en-US" dirty="0"/>
              <a:t>Discussion of Results</a:t>
            </a:r>
          </a:p>
        </p:txBody>
      </p:sp>
      <p:sp>
        <p:nvSpPr>
          <p:cNvPr id="3" name="Content Placeholder 2">
            <a:extLst>
              <a:ext uri="{FF2B5EF4-FFF2-40B4-BE49-F238E27FC236}">
                <a16:creationId xmlns:a16="http://schemas.microsoft.com/office/drawing/2014/main" id="{BFFBD39E-F224-432A-A780-2517BDB7DE2C}"/>
              </a:ext>
            </a:extLst>
          </p:cNvPr>
          <p:cNvSpPr>
            <a:spLocks noGrp="1"/>
          </p:cNvSpPr>
          <p:nvPr>
            <p:ph idx="1"/>
          </p:nvPr>
        </p:nvSpPr>
        <p:spPr/>
        <p:txBody>
          <a:bodyPr>
            <a:normAutofit fontScale="85000" lnSpcReduction="20000"/>
          </a:bodyPr>
          <a:lstStyle/>
          <a:p>
            <a:r>
              <a:rPr lang="en-US" dirty="0"/>
              <a:t>A predictive model using ordinary least squares linear regression was built to predict house sale price using square footage</a:t>
            </a:r>
          </a:p>
          <a:p>
            <a:r>
              <a:rPr lang="en-US" dirty="0"/>
              <a:t>The model may be written as</a:t>
            </a:r>
          </a:p>
          <a:p>
            <a:pPr marL="0" indent="0">
              <a:buNone/>
            </a:pPr>
            <a:r>
              <a:rPr lang="en-US" sz="2800" b="1" dirty="0"/>
              <a:t>house price estimate = -31246.873 + 78.812 *(square footage)</a:t>
            </a:r>
          </a:p>
          <a:p>
            <a:pPr marL="0" indent="0">
              <a:buNone/>
            </a:pPr>
            <a:r>
              <a:rPr lang="en-US" dirty="0"/>
              <a:t>It is valid for square footages from 620 to 3410</a:t>
            </a:r>
          </a:p>
          <a:p>
            <a:r>
              <a:rPr lang="en-US" dirty="0"/>
              <a:t>The model was highly significant (p-value &lt;0.0001)</a:t>
            </a:r>
          </a:p>
          <a:p>
            <a:r>
              <a:rPr lang="en-US" dirty="0"/>
              <a:t>For out of sample predictions, the RMSE is 8081, the R-Square is 0.96, and the MAE is 6204.  On average, we can expect a prediction made by this model to be wrong by $6024</a:t>
            </a:r>
          </a:p>
        </p:txBody>
      </p:sp>
    </p:spTree>
    <p:extLst>
      <p:ext uri="{BB962C8B-B14F-4D97-AF65-F5344CB8AC3E}">
        <p14:creationId xmlns:p14="http://schemas.microsoft.com/office/powerpoint/2010/main" val="14248630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CA09-9CA9-4974-ABCC-12F796DB5BCE}"/>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06A48CF1-7B97-4F93-A58F-0BD92AC5A595}"/>
              </a:ext>
            </a:extLst>
          </p:cNvPr>
          <p:cNvSpPr>
            <a:spLocks noGrp="1"/>
          </p:cNvSpPr>
          <p:nvPr>
            <p:ph idx="1"/>
          </p:nvPr>
        </p:nvSpPr>
        <p:spPr>
          <a:xfrm>
            <a:off x="457200" y="1600200"/>
            <a:ext cx="8229600" cy="4983162"/>
          </a:xfrm>
        </p:spPr>
        <p:txBody>
          <a:bodyPr>
            <a:normAutofit fontScale="77500" lnSpcReduction="20000"/>
          </a:bodyPr>
          <a:lstStyle/>
          <a:p>
            <a:r>
              <a:rPr lang="en-US" dirty="0"/>
              <a:t>Download the file tenders.txt</a:t>
            </a:r>
          </a:p>
          <a:p>
            <a:r>
              <a:rPr lang="en-US" dirty="0"/>
              <a:t>These data are real data from the food industry</a:t>
            </a:r>
          </a:p>
          <a:p>
            <a:r>
              <a:rPr lang="en-US" dirty="0"/>
              <a:t>The poultry company wants to be able to predict tender weight (an expensive piece of chicken breast meat) by measuring live weights (which can be done in advance on a farm)</a:t>
            </a:r>
          </a:p>
          <a:p>
            <a:r>
              <a:rPr lang="en-US" dirty="0"/>
              <a:t>This will give the company advance knowledge on how much product they will have between certain weight ranges</a:t>
            </a:r>
          </a:p>
          <a:p>
            <a:r>
              <a:rPr lang="en-US" dirty="0"/>
              <a:t>The tenders file has a column “tenders” and a column “live”, we want to predict the tenders weight from the live weight column</a:t>
            </a:r>
          </a:p>
          <a:p>
            <a:r>
              <a:rPr lang="en-US" dirty="0"/>
              <a:t>Use the example program for retail to try and complete this example</a:t>
            </a:r>
          </a:p>
        </p:txBody>
      </p:sp>
    </p:spTree>
    <p:extLst>
      <p:ext uri="{BB962C8B-B14F-4D97-AF65-F5344CB8AC3E}">
        <p14:creationId xmlns:p14="http://schemas.microsoft.com/office/powerpoint/2010/main" val="11085640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C80D0-B0A4-4B00-A01D-14EC56E33305}"/>
              </a:ext>
            </a:extLst>
          </p:cNvPr>
          <p:cNvSpPr>
            <a:spLocks noGrp="1"/>
          </p:cNvSpPr>
          <p:nvPr>
            <p:ph type="title"/>
          </p:nvPr>
        </p:nvSpPr>
        <p:spPr/>
        <p:txBody>
          <a:bodyPr/>
          <a:lstStyle/>
          <a:p>
            <a:r>
              <a:rPr lang="en-US" dirty="0"/>
              <a:t>Do the following:</a:t>
            </a:r>
          </a:p>
        </p:txBody>
      </p:sp>
      <p:sp>
        <p:nvSpPr>
          <p:cNvPr id="3" name="Content Placeholder 2">
            <a:extLst>
              <a:ext uri="{FF2B5EF4-FFF2-40B4-BE49-F238E27FC236}">
                <a16:creationId xmlns:a16="http://schemas.microsoft.com/office/drawing/2014/main" id="{5A6A671E-07D9-46A5-843B-D368998CD41B}"/>
              </a:ext>
            </a:extLst>
          </p:cNvPr>
          <p:cNvSpPr>
            <a:spLocks noGrp="1"/>
          </p:cNvSpPr>
          <p:nvPr>
            <p:ph idx="1"/>
          </p:nvPr>
        </p:nvSpPr>
        <p:spPr/>
        <p:txBody>
          <a:bodyPr>
            <a:normAutofit fontScale="92500" lnSpcReduction="20000"/>
          </a:bodyPr>
          <a:lstStyle/>
          <a:p>
            <a:r>
              <a:rPr lang="en-US" dirty="0"/>
              <a:t>Set-up 5-fold cross validation</a:t>
            </a:r>
          </a:p>
          <a:p>
            <a:r>
              <a:rPr lang="en-US" dirty="0"/>
              <a:t>Check statistical hypothesis tests</a:t>
            </a:r>
          </a:p>
          <a:p>
            <a:r>
              <a:rPr lang="en-US" dirty="0"/>
              <a:t>Create 95% prediction intervals for individual predictions (and plot these)</a:t>
            </a:r>
          </a:p>
          <a:p>
            <a:r>
              <a:rPr lang="en-US" dirty="0"/>
              <a:t>Calculate MSE, R-square, and MAE for the out of sample data</a:t>
            </a:r>
          </a:p>
          <a:p>
            <a:r>
              <a:rPr lang="en-US" dirty="0"/>
              <a:t>Use the model to make a prediction</a:t>
            </a:r>
          </a:p>
          <a:p>
            <a:r>
              <a:rPr lang="en-US" dirty="0"/>
              <a:t>Briefly discuss the results</a:t>
            </a:r>
          </a:p>
          <a:p>
            <a:r>
              <a:rPr lang="en-US" dirty="0"/>
              <a:t>Try to do this on your own (solution on the next page)</a:t>
            </a:r>
          </a:p>
          <a:p>
            <a:endParaRPr lang="en-US" dirty="0"/>
          </a:p>
        </p:txBody>
      </p:sp>
    </p:spTree>
    <p:extLst>
      <p:ext uri="{BB962C8B-B14F-4D97-AF65-F5344CB8AC3E}">
        <p14:creationId xmlns:p14="http://schemas.microsoft.com/office/powerpoint/2010/main" val="34111101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00BE-0530-4C4C-AFEB-680C678E0258}"/>
              </a:ext>
            </a:extLst>
          </p:cNvPr>
          <p:cNvSpPr>
            <a:spLocks noGrp="1"/>
          </p:cNvSpPr>
          <p:nvPr>
            <p:ph type="title"/>
          </p:nvPr>
        </p:nvSpPr>
        <p:spPr/>
        <p:txBody>
          <a:bodyPr/>
          <a:lstStyle/>
          <a:p>
            <a:r>
              <a:rPr lang="en-US" dirty="0"/>
              <a:t>R program for tender problem</a:t>
            </a:r>
          </a:p>
        </p:txBody>
      </p:sp>
      <p:sp>
        <p:nvSpPr>
          <p:cNvPr id="6" name="Rectangle 5">
            <a:extLst>
              <a:ext uri="{FF2B5EF4-FFF2-40B4-BE49-F238E27FC236}">
                <a16:creationId xmlns:a16="http://schemas.microsoft.com/office/drawing/2014/main" id="{C1CB3C27-5A76-4FFB-A80F-EA06F7123B1F}"/>
              </a:ext>
            </a:extLst>
          </p:cNvPr>
          <p:cNvSpPr/>
          <p:nvPr/>
        </p:nvSpPr>
        <p:spPr>
          <a:xfrm>
            <a:off x="401972" y="1295400"/>
            <a:ext cx="8763000" cy="5078313"/>
          </a:xfrm>
          <a:prstGeom prst="rect">
            <a:avLst/>
          </a:prstGeom>
        </p:spPr>
        <p:txBody>
          <a:bodyPr wrap="square">
            <a:spAutoFit/>
          </a:bodyPr>
          <a:lstStyle/>
          <a:p>
            <a:r>
              <a:rPr lang="en-US" dirty="0"/>
              <a:t>#tenders &lt;-read.csv("C:/Users/hbrown11/Desktop/tenders.csv", header=TRUE)</a:t>
            </a:r>
          </a:p>
          <a:p>
            <a:r>
              <a:rPr lang="en-US" dirty="0"/>
              <a:t>head(tenders)</a:t>
            </a:r>
          </a:p>
          <a:p>
            <a:r>
              <a:rPr lang="en-US" dirty="0"/>
              <a:t>#</a:t>
            </a:r>
            <a:r>
              <a:rPr lang="en-US" dirty="0" err="1"/>
              <a:t>install.packages</a:t>
            </a:r>
            <a:r>
              <a:rPr lang="en-US" dirty="0"/>
              <a:t>("caret") #only needs to be ran once</a:t>
            </a:r>
          </a:p>
          <a:p>
            <a:r>
              <a:rPr lang="en-US" dirty="0"/>
              <a:t>#library(caret) #still loaded if you did the house ex in the same session</a:t>
            </a:r>
          </a:p>
          <a:p>
            <a:r>
              <a:rPr lang="en-US" dirty="0" err="1"/>
              <a:t>set.seed</a:t>
            </a:r>
            <a:r>
              <a:rPr lang="en-US" dirty="0"/>
              <a:t>(42)</a:t>
            </a:r>
          </a:p>
          <a:p>
            <a:r>
              <a:rPr lang="en-US" dirty="0" err="1"/>
              <a:t>train_control</a:t>
            </a:r>
            <a:r>
              <a:rPr lang="en-US" dirty="0"/>
              <a:t> &lt;- </a:t>
            </a:r>
            <a:r>
              <a:rPr lang="en-US" dirty="0" err="1"/>
              <a:t>trainControl</a:t>
            </a:r>
            <a:r>
              <a:rPr lang="en-US" dirty="0"/>
              <a:t>(method = "</a:t>
            </a:r>
            <a:r>
              <a:rPr lang="en-US" dirty="0" err="1"/>
              <a:t>cv",number</a:t>
            </a:r>
            <a:r>
              <a:rPr lang="en-US" dirty="0"/>
              <a:t> = 5)</a:t>
            </a:r>
          </a:p>
          <a:p>
            <a:r>
              <a:rPr lang="en-US" dirty="0"/>
              <a:t>model &lt;- train(tenders ~live, data = tenders, method = "</a:t>
            </a:r>
            <a:r>
              <a:rPr lang="en-US" dirty="0" err="1"/>
              <a:t>lm</a:t>
            </a:r>
            <a:r>
              <a:rPr lang="en-US" dirty="0"/>
              <a:t>",  </a:t>
            </a:r>
            <a:r>
              <a:rPr lang="en-US" dirty="0" err="1"/>
              <a:t>trControl</a:t>
            </a:r>
            <a:r>
              <a:rPr lang="en-US" dirty="0"/>
              <a:t> = </a:t>
            </a:r>
            <a:r>
              <a:rPr lang="en-US" dirty="0" err="1"/>
              <a:t>train_control</a:t>
            </a:r>
            <a:r>
              <a:rPr lang="en-US" dirty="0"/>
              <a:t>)</a:t>
            </a:r>
          </a:p>
          <a:p>
            <a:r>
              <a:rPr lang="en-US" dirty="0"/>
              <a:t>print(model)</a:t>
            </a:r>
          </a:p>
          <a:p>
            <a:r>
              <a:rPr lang="en-US" dirty="0"/>
              <a:t>summary(model)</a:t>
            </a:r>
          </a:p>
          <a:p>
            <a:r>
              <a:rPr lang="en-US" dirty="0" err="1"/>
              <a:t>regmodel</a:t>
            </a:r>
            <a:r>
              <a:rPr lang="en-US" dirty="0"/>
              <a:t>&lt;-</a:t>
            </a:r>
            <a:r>
              <a:rPr lang="en-US" dirty="0" err="1"/>
              <a:t>lm</a:t>
            </a:r>
            <a:r>
              <a:rPr lang="en-US" dirty="0"/>
              <a:t>(</a:t>
            </a:r>
            <a:r>
              <a:rPr lang="en-US" dirty="0" err="1"/>
              <a:t>tenders~live,data</a:t>
            </a:r>
            <a:r>
              <a:rPr lang="en-US" dirty="0"/>
              <a:t>=tenders)</a:t>
            </a:r>
          </a:p>
          <a:p>
            <a:r>
              <a:rPr lang="en-US" dirty="0"/>
              <a:t>plot(</a:t>
            </a:r>
            <a:r>
              <a:rPr lang="en-US" dirty="0" err="1"/>
              <a:t>tenders$live,tenders$tenders</a:t>
            </a:r>
            <a:r>
              <a:rPr lang="en-US" dirty="0"/>
              <a:t>)</a:t>
            </a:r>
          </a:p>
          <a:p>
            <a:r>
              <a:rPr lang="en-US" dirty="0" err="1"/>
              <a:t>abline</a:t>
            </a:r>
            <a:r>
              <a:rPr lang="en-US" dirty="0"/>
              <a:t>(</a:t>
            </a:r>
            <a:r>
              <a:rPr lang="en-US" dirty="0" err="1"/>
              <a:t>regmodel</a:t>
            </a:r>
            <a:r>
              <a:rPr lang="en-US" dirty="0"/>
              <a:t>)</a:t>
            </a:r>
          </a:p>
          <a:p>
            <a:r>
              <a:rPr lang="en-US" dirty="0" err="1"/>
              <a:t>pred_interval</a:t>
            </a:r>
            <a:r>
              <a:rPr lang="en-US" dirty="0"/>
              <a:t> &lt;- predict(</a:t>
            </a:r>
            <a:r>
              <a:rPr lang="en-US" dirty="0" err="1"/>
              <a:t>regmodel</a:t>
            </a:r>
            <a:r>
              <a:rPr lang="en-US" dirty="0"/>
              <a:t>, </a:t>
            </a:r>
            <a:r>
              <a:rPr lang="en-US" dirty="0" err="1"/>
              <a:t>newdata</a:t>
            </a:r>
            <a:r>
              <a:rPr lang="en-US" dirty="0"/>
              <a:t>=tenders, interval="</a:t>
            </a:r>
            <a:r>
              <a:rPr lang="en-US" dirty="0" err="1"/>
              <a:t>prediction",level</a:t>
            </a:r>
            <a:r>
              <a:rPr lang="en-US" dirty="0"/>
              <a:t> = 0.95)</a:t>
            </a:r>
          </a:p>
          <a:p>
            <a:r>
              <a:rPr lang="en-US" dirty="0"/>
              <a:t>lines(</a:t>
            </a:r>
            <a:r>
              <a:rPr lang="en-US" dirty="0" err="1"/>
              <a:t>tenders$live</a:t>
            </a:r>
            <a:r>
              <a:rPr lang="en-US" dirty="0"/>
              <a:t>, </a:t>
            </a:r>
            <a:r>
              <a:rPr lang="en-US" dirty="0" err="1"/>
              <a:t>pred_interval</a:t>
            </a:r>
            <a:r>
              <a:rPr lang="en-US" dirty="0"/>
              <a:t>[,2])</a:t>
            </a:r>
          </a:p>
          <a:p>
            <a:r>
              <a:rPr lang="en-US" dirty="0"/>
              <a:t>lines(</a:t>
            </a:r>
            <a:r>
              <a:rPr lang="en-US" dirty="0" err="1"/>
              <a:t>tenders$live</a:t>
            </a:r>
            <a:r>
              <a:rPr lang="en-US" dirty="0"/>
              <a:t>, </a:t>
            </a:r>
            <a:r>
              <a:rPr lang="en-US" dirty="0" err="1"/>
              <a:t>pred_interval</a:t>
            </a:r>
            <a:r>
              <a:rPr lang="en-US" dirty="0"/>
              <a:t>[,3])</a:t>
            </a:r>
          </a:p>
          <a:p>
            <a:r>
              <a:rPr lang="en-US" dirty="0" err="1"/>
              <a:t>newdata</a:t>
            </a:r>
            <a:r>
              <a:rPr lang="en-US" dirty="0"/>
              <a:t>=</a:t>
            </a:r>
            <a:r>
              <a:rPr lang="en-US" dirty="0" err="1"/>
              <a:t>data.frame</a:t>
            </a:r>
            <a:r>
              <a:rPr lang="en-US" dirty="0"/>
              <a:t>(live=3500) #don't make predictions for x outside the range used to build the model</a:t>
            </a:r>
          </a:p>
          <a:p>
            <a:r>
              <a:rPr lang="en-US" dirty="0"/>
              <a:t>predict(</a:t>
            </a:r>
            <a:r>
              <a:rPr lang="en-US" dirty="0" err="1"/>
              <a:t>regmodel,newdata</a:t>
            </a:r>
            <a:r>
              <a:rPr lang="en-US" dirty="0"/>
              <a:t>=</a:t>
            </a:r>
            <a:r>
              <a:rPr lang="en-US" dirty="0" err="1"/>
              <a:t>newdata,interval</a:t>
            </a:r>
            <a:r>
              <a:rPr lang="en-US" dirty="0"/>
              <a:t>="</a:t>
            </a:r>
            <a:r>
              <a:rPr lang="en-US" dirty="0" err="1"/>
              <a:t>prediction",level</a:t>
            </a:r>
            <a:r>
              <a:rPr lang="en-US" dirty="0"/>
              <a:t>=0.95)</a:t>
            </a:r>
          </a:p>
        </p:txBody>
      </p:sp>
    </p:spTree>
    <p:extLst>
      <p:ext uri="{BB962C8B-B14F-4D97-AF65-F5344CB8AC3E}">
        <p14:creationId xmlns:p14="http://schemas.microsoft.com/office/powerpoint/2010/main" val="25178215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000BE-0530-4C4C-AFEB-680C678E0258}"/>
              </a:ext>
            </a:extLst>
          </p:cNvPr>
          <p:cNvSpPr>
            <a:spLocks noGrp="1"/>
          </p:cNvSpPr>
          <p:nvPr>
            <p:ph type="title"/>
          </p:nvPr>
        </p:nvSpPr>
        <p:spPr>
          <a:xfrm>
            <a:off x="457200" y="0"/>
            <a:ext cx="8229600" cy="1143000"/>
          </a:xfrm>
        </p:spPr>
        <p:txBody>
          <a:bodyPr>
            <a:noAutofit/>
          </a:bodyPr>
          <a:lstStyle/>
          <a:p>
            <a:r>
              <a:rPr lang="en-US" sz="2800" dirty="0"/>
              <a:t>What was changed in our program for a new data set?</a:t>
            </a:r>
          </a:p>
        </p:txBody>
      </p:sp>
      <p:sp>
        <p:nvSpPr>
          <p:cNvPr id="6" name="Rectangle 5">
            <a:extLst>
              <a:ext uri="{FF2B5EF4-FFF2-40B4-BE49-F238E27FC236}">
                <a16:creationId xmlns:a16="http://schemas.microsoft.com/office/drawing/2014/main" id="{C1CB3C27-5A76-4FFB-A80F-EA06F7123B1F}"/>
              </a:ext>
            </a:extLst>
          </p:cNvPr>
          <p:cNvSpPr/>
          <p:nvPr/>
        </p:nvSpPr>
        <p:spPr>
          <a:xfrm>
            <a:off x="401972" y="1295400"/>
            <a:ext cx="8763000" cy="5078313"/>
          </a:xfrm>
          <a:prstGeom prst="rect">
            <a:avLst/>
          </a:prstGeom>
        </p:spPr>
        <p:txBody>
          <a:bodyPr wrap="square">
            <a:spAutoFit/>
          </a:bodyPr>
          <a:lstStyle/>
          <a:p>
            <a:r>
              <a:rPr lang="en-US" dirty="0">
                <a:highlight>
                  <a:srgbClr val="FFFF00"/>
                </a:highlight>
              </a:rPr>
              <a:t>#tenders</a:t>
            </a:r>
            <a:r>
              <a:rPr lang="en-US" dirty="0"/>
              <a:t> &lt;-read.csv("C:/Users/hbrown11/Desktop/</a:t>
            </a:r>
            <a:r>
              <a:rPr lang="en-US" dirty="0">
                <a:highlight>
                  <a:srgbClr val="FFFF00"/>
                </a:highlight>
              </a:rPr>
              <a:t>tenders.csv</a:t>
            </a:r>
            <a:r>
              <a:rPr lang="en-US" dirty="0"/>
              <a:t>", header=TRUE)</a:t>
            </a:r>
          </a:p>
          <a:p>
            <a:r>
              <a:rPr lang="en-US" dirty="0"/>
              <a:t>head(</a:t>
            </a:r>
            <a:r>
              <a:rPr lang="en-US" dirty="0">
                <a:highlight>
                  <a:srgbClr val="FFFF00"/>
                </a:highlight>
              </a:rPr>
              <a:t>tenders</a:t>
            </a:r>
            <a:r>
              <a:rPr lang="en-US" dirty="0"/>
              <a:t>)</a:t>
            </a:r>
          </a:p>
          <a:p>
            <a:r>
              <a:rPr lang="en-US" dirty="0"/>
              <a:t>#</a:t>
            </a:r>
            <a:r>
              <a:rPr lang="en-US" dirty="0" err="1"/>
              <a:t>install.packages</a:t>
            </a:r>
            <a:r>
              <a:rPr lang="en-US" dirty="0"/>
              <a:t>("caret") #only needs to be ran once</a:t>
            </a:r>
          </a:p>
          <a:p>
            <a:r>
              <a:rPr lang="en-US" dirty="0"/>
              <a:t>#library(caret) #still loaded if you did the house ex in the same session</a:t>
            </a:r>
          </a:p>
          <a:p>
            <a:r>
              <a:rPr lang="en-US" dirty="0" err="1"/>
              <a:t>set.seed</a:t>
            </a:r>
            <a:r>
              <a:rPr lang="en-US" dirty="0"/>
              <a:t>(42)</a:t>
            </a:r>
          </a:p>
          <a:p>
            <a:r>
              <a:rPr lang="en-US" dirty="0" err="1"/>
              <a:t>train_control</a:t>
            </a:r>
            <a:r>
              <a:rPr lang="en-US" dirty="0"/>
              <a:t> &lt;- </a:t>
            </a:r>
            <a:r>
              <a:rPr lang="en-US" dirty="0" err="1"/>
              <a:t>trainControl</a:t>
            </a:r>
            <a:r>
              <a:rPr lang="en-US" dirty="0"/>
              <a:t>(method = "</a:t>
            </a:r>
            <a:r>
              <a:rPr lang="en-US" dirty="0" err="1"/>
              <a:t>cv",number</a:t>
            </a:r>
            <a:r>
              <a:rPr lang="en-US" dirty="0"/>
              <a:t> = 5)</a:t>
            </a:r>
          </a:p>
          <a:p>
            <a:r>
              <a:rPr lang="en-US" dirty="0"/>
              <a:t>model &lt;- train(</a:t>
            </a:r>
            <a:r>
              <a:rPr lang="en-US" dirty="0">
                <a:highlight>
                  <a:srgbClr val="FFFF00"/>
                </a:highlight>
              </a:rPr>
              <a:t>tenders</a:t>
            </a:r>
            <a:r>
              <a:rPr lang="en-US" dirty="0"/>
              <a:t> ~</a:t>
            </a:r>
            <a:r>
              <a:rPr lang="en-US" dirty="0">
                <a:highlight>
                  <a:srgbClr val="FFFF00"/>
                </a:highlight>
              </a:rPr>
              <a:t>live</a:t>
            </a:r>
            <a:r>
              <a:rPr lang="en-US" dirty="0"/>
              <a:t>, data = </a:t>
            </a:r>
            <a:r>
              <a:rPr lang="en-US" dirty="0">
                <a:highlight>
                  <a:srgbClr val="FFFF00"/>
                </a:highlight>
              </a:rPr>
              <a:t>tenders</a:t>
            </a:r>
            <a:r>
              <a:rPr lang="en-US" dirty="0"/>
              <a:t>, method = "</a:t>
            </a:r>
            <a:r>
              <a:rPr lang="en-US" dirty="0" err="1"/>
              <a:t>lm</a:t>
            </a:r>
            <a:r>
              <a:rPr lang="en-US" dirty="0"/>
              <a:t>",  </a:t>
            </a:r>
            <a:r>
              <a:rPr lang="en-US" dirty="0" err="1"/>
              <a:t>trControl</a:t>
            </a:r>
            <a:r>
              <a:rPr lang="en-US" dirty="0"/>
              <a:t> = </a:t>
            </a:r>
            <a:r>
              <a:rPr lang="en-US" dirty="0" err="1"/>
              <a:t>train_control</a:t>
            </a:r>
            <a:r>
              <a:rPr lang="en-US" dirty="0"/>
              <a:t>)</a:t>
            </a:r>
          </a:p>
          <a:p>
            <a:r>
              <a:rPr lang="en-US" dirty="0"/>
              <a:t>print(model)</a:t>
            </a:r>
          </a:p>
          <a:p>
            <a:r>
              <a:rPr lang="en-US" dirty="0"/>
              <a:t>summary(model)</a:t>
            </a:r>
          </a:p>
          <a:p>
            <a:r>
              <a:rPr lang="en-US" dirty="0" err="1"/>
              <a:t>regmodel</a:t>
            </a:r>
            <a:r>
              <a:rPr lang="en-US" dirty="0"/>
              <a:t>&lt;-</a:t>
            </a:r>
            <a:r>
              <a:rPr lang="en-US" dirty="0" err="1"/>
              <a:t>lm</a:t>
            </a:r>
            <a:r>
              <a:rPr lang="en-US" dirty="0"/>
              <a:t>(</a:t>
            </a:r>
            <a:r>
              <a:rPr lang="en-US" dirty="0" err="1">
                <a:highlight>
                  <a:srgbClr val="FFFF00"/>
                </a:highlight>
              </a:rPr>
              <a:t>tenders</a:t>
            </a:r>
            <a:r>
              <a:rPr lang="en-US" dirty="0" err="1"/>
              <a:t>~</a:t>
            </a:r>
            <a:r>
              <a:rPr lang="en-US" dirty="0" err="1">
                <a:highlight>
                  <a:srgbClr val="FFFF00"/>
                </a:highlight>
              </a:rPr>
              <a:t>live</a:t>
            </a:r>
            <a:r>
              <a:rPr lang="en-US" dirty="0" err="1"/>
              <a:t>,data</a:t>
            </a:r>
            <a:r>
              <a:rPr lang="en-US" dirty="0"/>
              <a:t>=</a:t>
            </a:r>
            <a:r>
              <a:rPr lang="en-US" dirty="0">
                <a:highlight>
                  <a:srgbClr val="FFFF00"/>
                </a:highlight>
              </a:rPr>
              <a:t>tenders</a:t>
            </a:r>
            <a:r>
              <a:rPr lang="en-US" dirty="0"/>
              <a:t>)</a:t>
            </a:r>
          </a:p>
          <a:p>
            <a:r>
              <a:rPr lang="en-US" dirty="0"/>
              <a:t>plot(</a:t>
            </a:r>
            <a:r>
              <a:rPr lang="en-US" dirty="0" err="1">
                <a:highlight>
                  <a:srgbClr val="FFFF00"/>
                </a:highlight>
              </a:rPr>
              <a:t>tenders$live</a:t>
            </a:r>
            <a:r>
              <a:rPr lang="en-US" dirty="0" err="1"/>
              <a:t>,</a:t>
            </a:r>
            <a:r>
              <a:rPr lang="en-US" dirty="0" err="1">
                <a:highlight>
                  <a:srgbClr val="FFFF00"/>
                </a:highlight>
              </a:rPr>
              <a:t>tenders$tenders</a:t>
            </a:r>
            <a:r>
              <a:rPr lang="en-US" dirty="0"/>
              <a:t>)</a:t>
            </a:r>
          </a:p>
          <a:p>
            <a:r>
              <a:rPr lang="en-US" dirty="0" err="1"/>
              <a:t>abline</a:t>
            </a:r>
            <a:r>
              <a:rPr lang="en-US" dirty="0"/>
              <a:t>(</a:t>
            </a:r>
            <a:r>
              <a:rPr lang="en-US" dirty="0" err="1"/>
              <a:t>regmodel</a:t>
            </a:r>
            <a:r>
              <a:rPr lang="en-US" dirty="0"/>
              <a:t>)</a:t>
            </a:r>
          </a:p>
          <a:p>
            <a:r>
              <a:rPr lang="en-US" dirty="0" err="1"/>
              <a:t>pred_interval</a:t>
            </a:r>
            <a:r>
              <a:rPr lang="en-US" dirty="0"/>
              <a:t> &lt;- predict(</a:t>
            </a:r>
            <a:r>
              <a:rPr lang="en-US" dirty="0" err="1"/>
              <a:t>regmodel</a:t>
            </a:r>
            <a:r>
              <a:rPr lang="en-US" dirty="0"/>
              <a:t>, </a:t>
            </a:r>
            <a:r>
              <a:rPr lang="en-US" dirty="0" err="1"/>
              <a:t>newdata</a:t>
            </a:r>
            <a:r>
              <a:rPr lang="en-US" dirty="0"/>
              <a:t>=</a:t>
            </a:r>
            <a:r>
              <a:rPr lang="en-US" dirty="0">
                <a:highlight>
                  <a:srgbClr val="FFFF00"/>
                </a:highlight>
              </a:rPr>
              <a:t>tenders</a:t>
            </a:r>
            <a:r>
              <a:rPr lang="en-US" dirty="0"/>
              <a:t>, interval="</a:t>
            </a:r>
            <a:r>
              <a:rPr lang="en-US" dirty="0" err="1"/>
              <a:t>prediction",level</a:t>
            </a:r>
            <a:r>
              <a:rPr lang="en-US" dirty="0"/>
              <a:t> = 0.95)</a:t>
            </a:r>
          </a:p>
          <a:p>
            <a:r>
              <a:rPr lang="en-US" dirty="0"/>
              <a:t>lines(</a:t>
            </a:r>
            <a:r>
              <a:rPr lang="en-US" dirty="0" err="1">
                <a:highlight>
                  <a:srgbClr val="FFFF00"/>
                </a:highlight>
              </a:rPr>
              <a:t>tenders$live</a:t>
            </a:r>
            <a:r>
              <a:rPr lang="en-US" dirty="0"/>
              <a:t>, </a:t>
            </a:r>
            <a:r>
              <a:rPr lang="en-US" dirty="0" err="1"/>
              <a:t>pred_interval</a:t>
            </a:r>
            <a:r>
              <a:rPr lang="en-US" dirty="0"/>
              <a:t>[,2])</a:t>
            </a:r>
          </a:p>
          <a:p>
            <a:r>
              <a:rPr lang="en-US" dirty="0"/>
              <a:t>lines(</a:t>
            </a:r>
            <a:r>
              <a:rPr lang="en-US" dirty="0" err="1">
                <a:highlight>
                  <a:srgbClr val="FFFF00"/>
                </a:highlight>
              </a:rPr>
              <a:t>tenders$live</a:t>
            </a:r>
            <a:r>
              <a:rPr lang="en-US" dirty="0"/>
              <a:t>, </a:t>
            </a:r>
            <a:r>
              <a:rPr lang="en-US" dirty="0" err="1"/>
              <a:t>pred_interval</a:t>
            </a:r>
            <a:r>
              <a:rPr lang="en-US" dirty="0"/>
              <a:t>[,3])</a:t>
            </a:r>
          </a:p>
          <a:p>
            <a:r>
              <a:rPr lang="en-US" dirty="0" err="1"/>
              <a:t>newdata</a:t>
            </a:r>
            <a:r>
              <a:rPr lang="en-US" dirty="0"/>
              <a:t>=</a:t>
            </a:r>
            <a:r>
              <a:rPr lang="en-US" dirty="0" err="1"/>
              <a:t>data.frame</a:t>
            </a:r>
            <a:r>
              <a:rPr lang="en-US" dirty="0"/>
              <a:t>(</a:t>
            </a:r>
            <a:r>
              <a:rPr lang="en-US" dirty="0">
                <a:highlight>
                  <a:srgbClr val="FFFF00"/>
                </a:highlight>
              </a:rPr>
              <a:t>live</a:t>
            </a:r>
            <a:r>
              <a:rPr lang="en-US" dirty="0"/>
              <a:t>=</a:t>
            </a:r>
            <a:r>
              <a:rPr lang="en-US" dirty="0">
                <a:highlight>
                  <a:srgbClr val="FFFF00"/>
                </a:highlight>
              </a:rPr>
              <a:t>3500</a:t>
            </a:r>
            <a:r>
              <a:rPr lang="en-US" dirty="0"/>
              <a:t>) #don't make predictions for x outside of y range</a:t>
            </a:r>
          </a:p>
          <a:p>
            <a:r>
              <a:rPr lang="en-US" dirty="0"/>
              <a:t>#summary(tenders) #this will show the live max and min</a:t>
            </a:r>
          </a:p>
          <a:p>
            <a:r>
              <a:rPr lang="en-US" dirty="0"/>
              <a:t>predict(</a:t>
            </a:r>
            <a:r>
              <a:rPr lang="en-US" dirty="0" err="1"/>
              <a:t>regmodel,newdata</a:t>
            </a:r>
            <a:r>
              <a:rPr lang="en-US" dirty="0"/>
              <a:t>=</a:t>
            </a:r>
            <a:r>
              <a:rPr lang="en-US" dirty="0" err="1"/>
              <a:t>newdata,interval</a:t>
            </a:r>
            <a:r>
              <a:rPr lang="en-US" dirty="0"/>
              <a:t>="</a:t>
            </a:r>
            <a:r>
              <a:rPr lang="en-US" dirty="0" err="1"/>
              <a:t>prediction",level</a:t>
            </a:r>
            <a:r>
              <a:rPr lang="en-US" dirty="0"/>
              <a:t>=0.95)</a:t>
            </a:r>
          </a:p>
        </p:txBody>
      </p:sp>
    </p:spTree>
    <p:extLst>
      <p:ext uri="{BB962C8B-B14F-4D97-AF65-F5344CB8AC3E}">
        <p14:creationId xmlns:p14="http://schemas.microsoft.com/office/powerpoint/2010/main" val="1314432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econd regression example image">
            <a:extLst>
              <a:ext uri="{FF2B5EF4-FFF2-40B4-BE49-F238E27FC236}">
                <a16:creationId xmlns:a16="http://schemas.microsoft.com/office/drawing/2014/main" id="{3F0809CC-3B21-4586-B104-69C38286F34B}"/>
              </a:ext>
            </a:extLst>
          </p:cNvPr>
          <p:cNvPicPr>
            <a:picLocks noChangeAspect="1"/>
          </p:cNvPicPr>
          <p:nvPr/>
        </p:nvPicPr>
        <p:blipFill>
          <a:blip r:embed="rId2"/>
          <a:stretch>
            <a:fillRect/>
          </a:stretch>
        </p:blipFill>
        <p:spPr>
          <a:xfrm>
            <a:off x="634068" y="2617617"/>
            <a:ext cx="4038600" cy="4032590"/>
          </a:xfrm>
          <a:prstGeom prst="rect">
            <a:avLst/>
          </a:prstGeom>
        </p:spPr>
      </p:pic>
      <p:sp>
        <p:nvSpPr>
          <p:cNvPr id="2" name="Title 1">
            <a:extLst>
              <a:ext uri="{FF2B5EF4-FFF2-40B4-BE49-F238E27FC236}">
                <a16:creationId xmlns:a16="http://schemas.microsoft.com/office/drawing/2014/main" id="{67EF67C2-510D-4B8F-B644-5BD731855B0D}"/>
              </a:ext>
            </a:extLst>
          </p:cNvPr>
          <p:cNvSpPr>
            <a:spLocks noGrp="1"/>
          </p:cNvSpPr>
          <p:nvPr>
            <p:ph type="title"/>
          </p:nvPr>
        </p:nvSpPr>
        <p:spPr>
          <a:xfrm>
            <a:off x="6324600" y="228600"/>
            <a:ext cx="2667000" cy="1143000"/>
          </a:xfrm>
        </p:spPr>
        <p:txBody>
          <a:bodyPr>
            <a:normAutofit fontScale="90000"/>
          </a:bodyPr>
          <a:lstStyle/>
          <a:p>
            <a:r>
              <a:rPr lang="en-US" dirty="0"/>
              <a:t>Relevant Output</a:t>
            </a:r>
          </a:p>
        </p:txBody>
      </p:sp>
      <p:pic>
        <p:nvPicPr>
          <p:cNvPr id="4" name="Picture 3" descr="cross-validation results for tenders">
            <a:extLst>
              <a:ext uri="{FF2B5EF4-FFF2-40B4-BE49-F238E27FC236}">
                <a16:creationId xmlns:a16="http://schemas.microsoft.com/office/drawing/2014/main" id="{97108AA9-DA33-4638-8DCF-05AE9561C91B}"/>
              </a:ext>
            </a:extLst>
          </p:cNvPr>
          <p:cNvPicPr>
            <a:picLocks noChangeAspect="1"/>
          </p:cNvPicPr>
          <p:nvPr/>
        </p:nvPicPr>
        <p:blipFill>
          <a:blip r:embed="rId3"/>
          <a:stretch>
            <a:fillRect/>
          </a:stretch>
        </p:blipFill>
        <p:spPr>
          <a:xfrm>
            <a:off x="469783" y="457200"/>
            <a:ext cx="3067050" cy="476250"/>
          </a:xfrm>
          <a:prstGeom prst="rect">
            <a:avLst/>
          </a:prstGeom>
        </p:spPr>
      </p:pic>
      <p:pic>
        <p:nvPicPr>
          <p:cNvPr id="5" name="Picture 4" descr="tenders regression output">
            <a:extLst>
              <a:ext uri="{FF2B5EF4-FFF2-40B4-BE49-F238E27FC236}">
                <a16:creationId xmlns:a16="http://schemas.microsoft.com/office/drawing/2014/main" id="{B0817FD0-BCB6-4E3E-AC24-B5597E0C00B3}"/>
              </a:ext>
            </a:extLst>
          </p:cNvPr>
          <p:cNvPicPr>
            <a:picLocks noChangeAspect="1"/>
          </p:cNvPicPr>
          <p:nvPr/>
        </p:nvPicPr>
        <p:blipFill>
          <a:blip r:embed="rId4"/>
          <a:stretch>
            <a:fillRect/>
          </a:stretch>
        </p:blipFill>
        <p:spPr>
          <a:xfrm>
            <a:off x="609600" y="933450"/>
            <a:ext cx="6048375" cy="1990725"/>
          </a:xfrm>
          <a:prstGeom prst="rect">
            <a:avLst/>
          </a:prstGeom>
        </p:spPr>
      </p:pic>
    </p:spTree>
    <p:extLst>
      <p:ext uri="{BB962C8B-B14F-4D97-AF65-F5344CB8AC3E}">
        <p14:creationId xmlns:p14="http://schemas.microsoft.com/office/powerpoint/2010/main" val="780963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3C485-9ADE-4412-8ED5-66D5E503AC49}"/>
              </a:ext>
            </a:extLst>
          </p:cNvPr>
          <p:cNvSpPr>
            <a:spLocks noGrp="1"/>
          </p:cNvSpPr>
          <p:nvPr>
            <p:ph type="title"/>
          </p:nvPr>
        </p:nvSpPr>
        <p:spPr/>
        <p:txBody>
          <a:bodyPr/>
          <a:lstStyle/>
          <a:p>
            <a:r>
              <a:rPr lang="en-US" dirty="0"/>
              <a:t>Discussion of Results</a:t>
            </a:r>
          </a:p>
        </p:txBody>
      </p:sp>
      <p:sp>
        <p:nvSpPr>
          <p:cNvPr id="3" name="Content Placeholder 2">
            <a:extLst>
              <a:ext uri="{FF2B5EF4-FFF2-40B4-BE49-F238E27FC236}">
                <a16:creationId xmlns:a16="http://schemas.microsoft.com/office/drawing/2014/main" id="{BFFBD39E-F224-432A-A780-2517BDB7DE2C}"/>
              </a:ext>
            </a:extLst>
          </p:cNvPr>
          <p:cNvSpPr>
            <a:spLocks noGrp="1"/>
          </p:cNvSpPr>
          <p:nvPr>
            <p:ph idx="1"/>
          </p:nvPr>
        </p:nvSpPr>
        <p:spPr/>
        <p:txBody>
          <a:bodyPr>
            <a:normAutofit fontScale="70000" lnSpcReduction="20000"/>
          </a:bodyPr>
          <a:lstStyle/>
          <a:p>
            <a:r>
              <a:rPr lang="en-US" dirty="0"/>
              <a:t>A predictive model using ordinary least squares linear regression was built to predict tender weight using live weight</a:t>
            </a:r>
          </a:p>
          <a:p>
            <a:r>
              <a:rPr lang="en-US" dirty="0"/>
              <a:t>The model may be written as</a:t>
            </a:r>
          </a:p>
          <a:p>
            <a:pPr marL="0" indent="0">
              <a:buNone/>
            </a:pPr>
            <a:r>
              <a:rPr lang="en-US" sz="2800" b="1" dirty="0"/>
              <a:t>tender = 14.519579+ 0.035215 *(live)</a:t>
            </a:r>
          </a:p>
          <a:p>
            <a:pPr marL="0" indent="0">
              <a:buNone/>
            </a:pPr>
            <a:r>
              <a:rPr lang="en-US" dirty="0"/>
              <a:t>It is valid for live weights from 2160 to 4031 (grams)</a:t>
            </a:r>
          </a:p>
          <a:p>
            <a:r>
              <a:rPr lang="en-US" dirty="0"/>
              <a:t>The model was highly significant (p-value &lt;0.0001)</a:t>
            </a:r>
          </a:p>
          <a:p>
            <a:r>
              <a:rPr lang="en-US" dirty="0"/>
              <a:t>For a live weight of 3500g, the model predict a tender weight of 138g (with 95% prediction intervals of 119 and 156, i.e. our best guess of a tender weight for a 3500g live weight is 138g, but we are approximately 95% certain it will be between 119g and 156g)</a:t>
            </a:r>
          </a:p>
          <a:p>
            <a:r>
              <a:rPr lang="en-US" dirty="0"/>
              <a:t>For out of sample predictions, the RMSE is 9.2, the R-Square is 0.80, and the MAE is 7.4.  On average, we can expect a prediction made by this model to be wrong by 7.4g.</a:t>
            </a:r>
          </a:p>
        </p:txBody>
      </p:sp>
    </p:spTree>
    <p:extLst>
      <p:ext uri="{BB962C8B-B14F-4D97-AF65-F5344CB8AC3E}">
        <p14:creationId xmlns:p14="http://schemas.microsoft.com/office/powerpoint/2010/main" val="79371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26279</TotalTime>
  <Words>3901</Words>
  <Application>Microsoft Office PowerPoint</Application>
  <PresentationFormat>On-screen Show (4:3)</PresentationFormat>
  <Paragraphs>452</Paragraphs>
  <Slides>40</Slides>
  <Notes>3</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40</vt:i4>
      </vt:variant>
    </vt:vector>
  </HeadingPairs>
  <TitlesOfParts>
    <vt:vector size="46" baseType="lpstr">
      <vt:lpstr>Arial</vt:lpstr>
      <vt:lpstr>Calibri</vt:lpstr>
      <vt:lpstr>Lucida Console</vt:lpstr>
      <vt:lpstr>Symbol</vt:lpstr>
      <vt:lpstr>Office Theme</vt:lpstr>
      <vt:lpstr>Equation</vt:lpstr>
      <vt:lpstr>Regression for Predictive Modeling  </vt:lpstr>
      <vt:lpstr>Regression for Predictive Modeling vs Hypothesis Testing</vt:lpstr>
      <vt:lpstr> Keys Points in Professional Predictive Models</vt:lpstr>
      <vt:lpstr> Training and Test Data Sets</vt:lpstr>
      <vt:lpstr>Splitting the data into training and test data sets</vt:lpstr>
      <vt:lpstr>Cross validation with folding</vt:lpstr>
      <vt:lpstr>Cross validation with folding (continued)</vt:lpstr>
      <vt:lpstr>Cross-validation with 5 folds example:</vt:lpstr>
      <vt:lpstr>Cross-validation with 5 folds example: (continued)</vt:lpstr>
      <vt:lpstr>Cross-validation with 5 folds example: (continued)</vt:lpstr>
      <vt:lpstr>Cross-validation with 5 folds example: (continued)</vt:lpstr>
      <vt:lpstr>Using R to build our regression model</vt:lpstr>
      <vt:lpstr>Housing Data</vt:lpstr>
      <vt:lpstr>R Code to set up the cross-validation</vt:lpstr>
      <vt:lpstr>Evaluating the model</vt:lpstr>
      <vt:lpstr>Evaluating the model</vt:lpstr>
      <vt:lpstr>Root Mean Square Error (RMSE) for Test Data </vt:lpstr>
      <vt:lpstr>R2</vt:lpstr>
      <vt:lpstr>Mean Absolute Error  (MAE)</vt:lpstr>
      <vt:lpstr>Evaluating our real estate model</vt:lpstr>
      <vt:lpstr>Evaluating our real estate model…based on the OOS Error Metrics is this a good model?</vt:lpstr>
      <vt:lpstr>Viewing the model  (and hypothesis tests)</vt:lpstr>
      <vt:lpstr>A note on hypothesis tests</vt:lpstr>
      <vt:lpstr>Interpreting the results and using the model</vt:lpstr>
      <vt:lpstr>Visualizing how regression works</vt:lpstr>
      <vt:lpstr>Prediction Intervals for Regression Algorithms</vt:lpstr>
      <vt:lpstr>Prediction Intervals for Regression Algorithms</vt:lpstr>
      <vt:lpstr>R code for prediction limits and to plot the results</vt:lpstr>
      <vt:lpstr>Using the model</vt:lpstr>
      <vt:lpstr>R Code to use if we want to make a prediction (and include confidence intervals)</vt:lpstr>
      <vt:lpstr>When to Use Regression: </vt:lpstr>
      <vt:lpstr>Full code for example 1</vt:lpstr>
      <vt:lpstr>Relevant Output</vt:lpstr>
      <vt:lpstr>Discussion of Results</vt:lpstr>
      <vt:lpstr>Example 2</vt:lpstr>
      <vt:lpstr>Do the following:</vt:lpstr>
      <vt:lpstr>R program for tender problem</vt:lpstr>
      <vt:lpstr>What was changed in our program for a new data set?</vt:lpstr>
      <vt:lpstr>Relevant Output</vt:lpstr>
      <vt:lpstr>Discussion of Results</vt:lpstr>
    </vt:vector>
  </TitlesOfParts>
  <Company>Arkansas Tech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Statistical Models</dc:title>
  <dc:creator>Computer Services</dc:creator>
  <cp:lastModifiedBy>Tyler Parker</cp:lastModifiedBy>
  <cp:revision>124</cp:revision>
  <dcterms:created xsi:type="dcterms:W3CDTF">2011-07-22T18:41:06Z</dcterms:created>
  <dcterms:modified xsi:type="dcterms:W3CDTF">2026-03-31T15:06:00Z</dcterms:modified>
</cp:coreProperties>
</file>
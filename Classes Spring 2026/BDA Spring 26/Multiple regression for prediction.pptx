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08" r:id="rId2"/>
    <p:sldId id="311" r:id="rId3"/>
    <p:sldId id="342" r:id="rId4"/>
    <p:sldId id="335" r:id="rId5"/>
    <p:sldId id="343" r:id="rId6"/>
    <p:sldId id="336" r:id="rId7"/>
    <p:sldId id="337" r:id="rId8"/>
    <p:sldId id="340" r:id="rId9"/>
    <p:sldId id="338" r:id="rId10"/>
    <p:sldId id="370" r:id="rId11"/>
    <p:sldId id="371" r:id="rId12"/>
    <p:sldId id="34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17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33BB88-DA0C-4753-B77C-53FDB3A6A6E2}" type="datetimeFigureOut">
              <a:rPr lang="en-US" smtClean="0"/>
              <a:t>3/31/2026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065224-E448-4B7B-BDD4-17EE2211FDF8}" type="slidenum">
              <a:rPr lang="en-US" smtClean="0"/>
              <a:t>‹#›</a:t>
            </a:fld>
            <a:endParaRPr lang="en-US"/>
          </a:p>
        </p:txBody>
      </p:sp>
    </p:spTree>
    <p:extLst>
      <p:ext uri="{BB962C8B-B14F-4D97-AF65-F5344CB8AC3E}">
        <p14:creationId xmlns:p14="http://schemas.microsoft.com/office/powerpoint/2010/main" val="3579225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54FA8E-F722-43F6-AA01-1CDFB64428AB}"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54FA8E-F722-43F6-AA01-1CDFB64428AB}"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54FA8E-F722-43F6-AA01-1CDFB64428AB}"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54FA8E-F722-43F6-AA01-1CDFB64428AB}"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94BF69-90B8-492B-A758-F22E03C5846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dirty="0"/>
              <a:t>Multiple Regression: Regression with Multiple Predictors (Inputs)</a:t>
            </a:r>
          </a:p>
        </p:txBody>
      </p:sp>
    </p:spTree>
    <p:extLst>
      <p:ext uri="{BB962C8B-B14F-4D97-AF65-F5344CB8AC3E}">
        <p14:creationId xmlns:p14="http://schemas.microsoft.com/office/powerpoint/2010/main" val="225873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Variable selection</a:t>
            </a:r>
          </a:p>
        </p:txBody>
      </p:sp>
      <p:sp>
        <p:nvSpPr>
          <p:cNvPr id="3" name="Content Placeholder 2"/>
          <p:cNvSpPr>
            <a:spLocks noGrp="1"/>
          </p:cNvSpPr>
          <p:nvPr>
            <p:ph idx="1"/>
          </p:nvPr>
        </p:nvSpPr>
        <p:spPr/>
        <p:txBody>
          <a:bodyPr>
            <a:normAutofit fontScale="85000" lnSpcReduction="20000"/>
          </a:bodyPr>
          <a:lstStyle/>
          <a:p>
            <a:r>
              <a:rPr lang="en-US" dirty="0"/>
              <a:t>In modeling, this is sometimes called “feature selection”</a:t>
            </a:r>
          </a:p>
          <a:p>
            <a:r>
              <a:rPr lang="en-US" dirty="0"/>
              <a:t>If we are going to allow multiple predictors (inputs), the next question that might arise is how do I decide which inputs should be allowed to predict a particular output?</a:t>
            </a:r>
          </a:p>
          <a:p>
            <a:r>
              <a:rPr lang="en-US" dirty="0"/>
              <a:t>There are multiple methods of variable selection related to different techniques we will cover, so we will cover variable selection later in the course</a:t>
            </a:r>
          </a:p>
          <a:p>
            <a:r>
              <a:rPr lang="en-US" dirty="0"/>
              <a:t>Until then, when I give you multiple variable to use in a model, you can assume all the inputs are needed for the model</a:t>
            </a:r>
          </a:p>
        </p:txBody>
      </p:sp>
    </p:spTree>
    <p:extLst>
      <p:ext uri="{BB962C8B-B14F-4D97-AF65-F5344CB8AC3E}">
        <p14:creationId xmlns:p14="http://schemas.microsoft.com/office/powerpoint/2010/main" val="61632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D295-9CA7-46E0-B70C-D172766FD986}"/>
              </a:ext>
            </a:extLst>
          </p:cNvPr>
          <p:cNvSpPr>
            <a:spLocks noGrp="1"/>
          </p:cNvSpPr>
          <p:nvPr>
            <p:ph type="title"/>
          </p:nvPr>
        </p:nvSpPr>
        <p:spPr/>
        <p:txBody>
          <a:bodyPr/>
          <a:lstStyle/>
          <a:p>
            <a:r>
              <a:rPr lang="en-US" dirty="0"/>
              <a:t>Example 1: Housing 2 </a:t>
            </a:r>
          </a:p>
        </p:txBody>
      </p:sp>
      <p:sp>
        <p:nvSpPr>
          <p:cNvPr id="3" name="Content Placeholder 2">
            <a:extLst>
              <a:ext uri="{FF2B5EF4-FFF2-40B4-BE49-F238E27FC236}">
                <a16:creationId xmlns:a16="http://schemas.microsoft.com/office/drawing/2014/main" id="{FFC57133-5604-4C3A-8A5C-33DD94D32361}"/>
              </a:ext>
            </a:extLst>
          </p:cNvPr>
          <p:cNvSpPr>
            <a:spLocks noGrp="1"/>
          </p:cNvSpPr>
          <p:nvPr>
            <p:ph idx="1"/>
          </p:nvPr>
        </p:nvSpPr>
        <p:spPr/>
        <p:txBody>
          <a:bodyPr/>
          <a:lstStyle/>
          <a:p>
            <a:r>
              <a:rPr lang="en-US" dirty="0"/>
              <a:t>Download housing2.csv from Blackboard</a:t>
            </a:r>
          </a:p>
          <a:p>
            <a:r>
              <a:rPr lang="en-US" dirty="0"/>
              <a:t>Housing2 consists of another set of real estate data.  The goal is to predict house “</a:t>
            </a:r>
            <a:r>
              <a:rPr lang="en-US" dirty="0" err="1"/>
              <a:t>SalePrice</a:t>
            </a:r>
            <a:r>
              <a:rPr lang="en-US" dirty="0"/>
              <a:t>” using the columns: “Age”, “</a:t>
            </a:r>
            <a:r>
              <a:rPr lang="en-US" dirty="0" err="1"/>
              <a:t>Lotsize</a:t>
            </a:r>
            <a:r>
              <a:rPr lang="en-US" dirty="0"/>
              <a:t>”, and “</a:t>
            </a:r>
            <a:r>
              <a:rPr lang="en-US" dirty="0" err="1"/>
              <a:t>SqFt</a:t>
            </a:r>
            <a:r>
              <a:rPr lang="en-US" dirty="0"/>
              <a:t>”</a:t>
            </a:r>
          </a:p>
          <a:p>
            <a:r>
              <a:rPr lang="en-US" dirty="0"/>
              <a:t>Age is the age of the house in years</a:t>
            </a:r>
          </a:p>
          <a:p>
            <a:r>
              <a:rPr lang="en-US" dirty="0" err="1"/>
              <a:t>Lotsize</a:t>
            </a:r>
            <a:r>
              <a:rPr lang="en-US" dirty="0"/>
              <a:t> is the size of the lot the house sits in acres </a:t>
            </a:r>
          </a:p>
          <a:p>
            <a:r>
              <a:rPr lang="en-US" dirty="0" err="1"/>
              <a:t>SqFt</a:t>
            </a:r>
            <a:r>
              <a:rPr lang="en-US" dirty="0"/>
              <a:t> is the house square footage</a:t>
            </a:r>
          </a:p>
        </p:txBody>
      </p:sp>
    </p:spTree>
    <p:extLst>
      <p:ext uri="{BB962C8B-B14F-4D97-AF65-F5344CB8AC3E}">
        <p14:creationId xmlns:p14="http://schemas.microsoft.com/office/powerpoint/2010/main" val="3808401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F33D-A99F-4718-BF76-5789997933E5}"/>
              </a:ext>
            </a:extLst>
          </p:cNvPr>
          <p:cNvSpPr>
            <a:spLocks noGrp="1"/>
          </p:cNvSpPr>
          <p:nvPr>
            <p:ph type="title"/>
          </p:nvPr>
        </p:nvSpPr>
        <p:spPr/>
        <p:txBody>
          <a:bodyPr/>
          <a:lstStyle/>
          <a:p>
            <a:r>
              <a:rPr lang="en-US" dirty="0"/>
              <a:t>Read in and view file</a:t>
            </a:r>
          </a:p>
        </p:txBody>
      </p:sp>
      <p:sp>
        <p:nvSpPr>
          <p:cNvPr id="3" name="Content Placeholder 2">
            <a:extLst>
              <a:ext uri="{FF2B5EF4-FFF2-40B4-BE49-F238E27FC236}">
                <a16:creationId xmlns:a16="http://schemas.microsoft.com/office/drawing/2014/main" id="{D07CA9EA-3A44-4453-97AC-4274789E8F0C}"/>
              </a:ext>
            </a:extLst>
          </p:cNvPr>
          <p:cNvSpPr>
            <a:spLocks noGrp="1"/>
          </p:cNvSpPr>
          <p:nvPr>
            <p:ph idx="1"/>
          </p:nvPr>
        </p:nvSpPr>
        <p:spPr/>
        <p:txBody>
          <a:bodyPr>
            <a:normAutofit/>
          </a:bodyPr>
          <a:lstStyle/>
          <a:p>
            <a:pPr marL="0" indent="0">
              <a:buNone/>
            </a:pPr>
            <a:r>
              <a:rPr lang="en-US" sz="1800" dirty="0"/>
              <a:t>house2 &lt;-read.csv("</a:t>
            </a:r>
            <a:r>
              <a:rPr lang="en-US" sz="1800" dirty="0">
                <a:highlight>
                  <a:srgbClr val="FFFF00"/>
                </a:highlight>
              </a:rPr>
              <a:t>C:/Users/hbrown11/Desktop</a:t>
            </a:r>
            <a:r>
              <a:rPr lang="en-US" sz="1800" dirty="0"/>
              <a:t>/housing2.csv", header=TRUE)</a:t>
            </a:r>
          </a:p>
          <a:p>
            <a:pPr marL="0" indent="0">
              <a:buNone/>
            </a:pPr>
            <a:r>
              <a:rPr lang="en-US" sz="1800" dirty="0"/>
              <a:t>head(house2)</a:t>
            </a:r>
          </a:p>
          <a:p>
            <a:pPr marL="0" indent="0">
              <a:buNone/>
            </a:pPr>
            <a:r>
              <a:rPr lang="en-US" sz="1800" dirty="0"/>
              <a:t> </a:t>
            </a:r>
            <a:r>
              <a:rPr lang="en-US" sz="1800" dirty="0" err="1"/>
              <a:t>SqFt</a:t>
            </a:r>
            <a:r>
              <a:rPr lang="en-US" sz="1800" dirty="0"/>
              <a:t> Age </a:t>
            </a:r>
            <a:r>
              <a:rPr lang="en-US" sz="1800" dirty="0" err="1"/>
              <a:t>Lotsize</a:t>
            </a:r>
            <a:r>
              <a:rPr lang="en-US" sz="1800" dirty="0"/>
              <a:t> </a:t>
            </a:r>
            <a:r>
              <a:rPr lang="en-US" sz="1800" dirty="0" err="1"/>
              <a:t>SalePrice</a:t>
            </a:r>
            <a:endParaRPr lang="en-US" sz="1800" dirty="0"/>
          </a:p>
          <a:p>
            <a:pPr marL="0" indent="0">
              <a:buNone/>
            </a:pPr>
            <a:r>
              <a:rPr lang="en-US" sz="1800" dirty="0"/>
              <a:t>1 1100  15    0.43     49600</a:t>
            </a:r>
          </a:p>
          <a:p>
            <a:pPr marL="0" indent="0">
              <a:buNone/>
            </a:pPr>
            <a:r>
              <a:rPr lang="en-US" sz="1800" dirty="0"/>
              <a:t>2 1300   4    0.68     41700</a:t>
            </a:r>
          </a:p>
          <a:p>
            <a:pPr marL="0" indent="0">
              <a:buNone/>
            </a:pPr>
            <a:r>
              <a:rPr lang="en-US" sz="1800" dirty="0"/>
              <a:t>3 1330   3    0.39    114500</a:t>
            </a:r>
          </a:p>
          <a:p>
            <a:pPr marL="0" indent="0">
              <a:buNone/>
            </a:pPr>
            <a:r>
              <a:rPr lang="en-US" sz="1800" dirty="0"/>
              <a:t>4 1810   1    0.20    185000</a:t>
            </a:r>
          </a:p>
          <a:p>
            <a:pPr marL="0" indent="0">
              <a:buNone/>
            </a:pPr>
            <a:r>
              <a:rPr lang="en-US" sz="1800" dirty="0"/>
              <a:t>5 3500  13    0.33    203100</a:t>
            </a:r>
          </a:p>
          <a:p>
            <a:pPr marL="0" indent="0">
              <a:buNone/>
            </a:pPr>
            <a:r>
              <a:rPr lang="en-US" sz="1800" dirty="0"/>
              <a:t>6  800   4    2.08     73000</a:t>
            </a:r>
          </a:p>
          <a:p>
            <a:pPr marL="0" indent="0">
              <a:buNone/>
            </a:pPr>
            <a:endParaRPr lang="en-US" sz="1800" dirty="0"/>
          </a:p>
          <a:p>
            <a:pPr marL="0" indent="0">
              <a:buNone/>
            </a:pPr>
            <a:r>
              <a:rPr lang="en-US" sz="1800" dirty="0">
                <a:solidFill>
                  <a:srgbClr val="FF0000"/>
                </a:solidFill>
              </a:rPr>
              <a:t>The highlighted portion will need to be customized to where you store your file</a:t>
            </a:r>
          </a:p>
        </p:txBody>
      </p:sp>
    </p:spTree>
    <p:extLst>
      <p:ext uri="{BB962C8B-B14F-4D97-AF65-F5344CB8AC3E}">
        <p14:creationId xmlns:p14="http://schemas.microsoft.com/office/powerpoint/2010/main" val="4068370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F33D-A99F-4718-BF76-5789997933E5}"/>
              </a:ext>
            </a:extLst>
          </p:cNvPr>
          <p:cNvSpPr>
            <a:spLocks noGrp="1"/>
          </p:cNvSpPr>
          <p:nvPr>
            <p:ph type="title"/>
          </p:nvPr>
        </p:nvSpPr>
        <p:spPr/>
        <p:txBody>
          <a:bodyPr/>
          <a:lstStyle/>
          <a:p>
            <a:r>
              <a:rPr lang="en-US" dirty="0"/>
              <a:t>R Code For 5-fold cross-validation</a:t>
            </a:r>
          </a:p>
        </p:txBody>
      </p:sp>
      <p:sp>
        <p:nvSpPr>
          <p:cNvPr id="3" name="Content Placeholder 2">
            <a:extLst>
              <a:ext uri="{FF2B5EF4-FFF2-40B4-BE49-F238E27FC236}">
                <a16:creationId xmlns:a16="http://schemas.microsoft.com/office/drawing/2014/main" id="{D07CA9EA-3A44-4453-97AC-4274789E8F0C}"/>
              </a:ext>
            </a:extLst>
          </p:cNvPr>
          <p:cNvSpPr>
            <a:spLocks noGrp="1"/>
          </p:cNvSpPr>
          <p:nvPr>
            <p:ph idx="1"/>
          </p:nvPr>
        </p:nvSpPr>
        <p:spPr/>
        <p:txBody>
          <a:bodyPr>
            <a:normAutofit/>
          </a:bodyPr>
          <a:lstStyle/>
          <a:p>
            <a:pPr marL="0" indent="0">
              <a:buNone/>
            </a:pPr>
            <a:r>
              <a:rPr lang="en-US" sz="1800" dirty="0"/>
              <a:t>#install.packages("caret") </a:t>
            </a:r>
          </a:p>
          <a:p>
            <a:pPr marL="0" indent="0">
              <a:buNone/>
            </a:pPr>
            <a:r>
              <a:rPr lang="en-US" sz="1800" dirty="0" err="1"/>
              <a:t>set.seed</a:t>
            </a:r>
            <a:r>
              <a:rPr lang="en-US" sz="1800" dirty="0"/>
              <a:t>(42)</a:t>
            </a:r>
          </a:p>
          <a:p>
            <a:pPr marL="0" indent="0">
              <a:buNone/>
            </a:pPr>
            <a:r>
              <a:rPr lang="en-US" sz="1800" dirty="0" err="1"/>
              <a:t>train_control</a:t>
            </a:r>
            <a:r>
              <a:rPr lang="en-US" sz="1800" dirty="0"/>
              <a:t> &lt;- </a:t>
            </a:r>
            <a:r>
              <a:rPr lang="en-US" sz="1800" dirty="0" err="1"/>
              <a:t>trainControl</a:t>
            </a:r>
            <a:r>
              <a:rPr lang="en-US" sz="1800" dirty="0"/>
              <a:t>(method = "</a:t>
            </a:r>
            <a:r>
              <a:rPr lang="en-US" sz="1800" dirty="0" err="1"/>
              <a:t>cv",number</a:t>
            </a:r>
            <a:r>
              <a:rPr lang="en-US" sz="1800" dirty="0"/>
              <a:t> = 5)</a:t>
            </a:r>
          </a:p>
          <a:p>
            <a:pPr marL="0" indent="0">
              <a:buNone/>
            </a:pPr>
            <a:r>
              <a:rPr lang="en-US" sz="1800" dirty="0"/>
              <a:t>model &lt;- train(</a:t>
            </a:r>
            <a:r>
              <a:rPr lang="en-US" sz="1800" dirty="0" err="1"/>
              <a:t>SalePrice</a:t>
            </a:r>
            <a:r>
              <a:rPr lang="en-US" sz="1800" dirty="0"/>
              <a:t> ~., data = house2, method = "</a:t>
            </a:r>
            <a:r>
              <a:rPr lang="en-US" sz="1800" dirty="0" err="1"/>
              <a:t>lm</a:t>
            </a:r>
            <a:r>
              <a:rPr lang="en-US" sz="1800" dirty="0"/>
              <a:t>",  </a:t>
            </a:r>
            <a:r>
              <a:rPr lang="en-US" sz="1800" dirty="0" err="1"/>
              <a:t>trControl</a:t>
            </a:r>
            <a:r>
              <a:rPr lang="en-US" sz="1800" dirty="0"/>
              <a:t> = </a:t>
            </a:r>
            <a:r>
              <a:rPr lang="en-US" sz="1800" dirty="0" err="1"/>
              <a:t>train_control</a:t>
            </a:r>
            <a:r>
              <a:rPr lang="en-US" sz="1800" dirty="0"/>
              <a:t>)</a:t>
            </a:r>
          </a:p>
          <a:p>
            <a:pPr marL="0" indent="0">
              <a:buNone/>
            </a:pPr>
            <a:r>
              <a:rPr lang="en-US" sz="1800" dirty="0"/>
              <a:t>#model &lt;- train(</a:t>
            </a:r>
            <a:r>
              <a:rPr lang="en-US" sz="1800" dirty="0" err="1"/>
              <a:t>SalePrice</a:t>
            </a:r>
            <a:r>
              <a:rPr lang="en-US" sz="1800" dirty="0"/>
              <a:t> ~</a:t>
            </a:r>
            <a:r>
              <a:rPr lang="en-US" sz="1800" dirty="0" err="1"/>
              <a:t>Age+Lotsize+SqFt</a:t>
            </a:r>
            <a:r>
              <a:rPr lang="en-US" sz="1800" dirty="0"/>
              <a:t>, data = house2, method = "</a:t>
            </a:r>
            <a:r>
              <a:rPr lang="en-US" sz="1800" dirty="0" err="1"/>
              <a:t>lm</a:t>
            </a:r>
            <a:r>
              <a:rPr lang="en-US" sz="1800" dirty="0"/>
              <a:t>",  </a:t>
            </a:r>
            <a:r>
              <a:rPr lang="en-US" sz="1800" dirty="0" err="1"/>
              <a:t>trControl</a:t>
            </a:r>
            <a:r>
              <a:rPr lang="en-US" sz="1800" dirty="0"/>
              <a:t> = </a:t>
            </a:r>
            <a:r>
              <a:rPr lang="en-US" sz="1800" dirty="0" err="1"/>
              <a:t>train_control</a:t>
            </a:r>
            <a:r>
              <a:rPr lang="en-US" sz="1800" dirty="0"/>
              <a:t>)</a:t>
            </a:r>
          </a:p>
          <a:p>
            <a:pPr marL="0" indent="0">
              <a:buNone/>
            </a:pPr>
            <a:endParaRPr lang="en-US" sz="1800" dirty="0"/>
          </a:p>
          <a:p>
            <a:pPr marL="0" indent="0">
              <a:buNone/>
            </a:pPr>
            <a:r>
              <a:rPr lang="en-US" sz="1800" dirty="0">
                <a:solidFill>
                  <a:srgbClr val="FF0000"/>
                </a:solidFill>
              </a:rPr>
              <a:t>Notice there are two ways the model can be specified in R:</a:t>
            </a:r>
          </a:p>
          <a:p>
            <a:pPr marL="0" indent="0">
              <a:buNone/>
            </a:pPr>
            <a:r>
              <a:rPr lang="en-US" sz="1800" b="1" dirty="0" err="1">
                <a:solidFill>
                  <a:srgbClr val="FF0000"/>
                </a:solidFill>
              </a:rPr>
              <a:t>SalePrice</a:t>
            </a:r>
            <a:r>
              <a:rPr lang="en-US" sz="1800" b="1" dirty="0">
                <a:solidFill>
                  <a:srgbClr val="FF0000"/>
                </a:solidFill>
              </a:rPr>
              <a:t> ~.  </a:t>
            </a:r>
            <a:r>
              <a:rPr lang="en-US" sz="1800" dirty="0">
                <a:solidFill>
                  <a:srgbClr val="FF0000"/>
                </a:solidFill>
              </a:rPr>
              <a:t>The . tells R to use all other columns in the table as predictors of </a:t>
            </a:r>
            <a:r>
              <a:rPr lang="en-US" sz="1800" dirty="0" err="1">
                <a:solidFill>
                  <a:srgbClr val="FF0000"/>
                </a:solidFill>
              </a:rPr>
              <a:t>SalePrice</a:t>
            </a:r>
            <a:endParaRPr lang="en-US" sz="1800" dirty="0">
              <a:solidFill>
                <a:srgbClr val="FF0000"/>
              </a:solidFill>
            </a:endParaRPr>
          </a:p>
          <a:p>
            <a:pPr marL="0" indent="0">
              <a:buNone/>
            </a:pPr>
            <a:r>
              <a:rPr lang="en-US" sz="1800" dirty="0">
                <a:solidFill>
                  <a:srgbClr val="FF0000"/>
                </a:solidFill>
              </a:rPr>
              <a:t>or</a:t>
            </a:r>
          </a:p>
          <a:p>
            <a:pPr marL="0" indent="0">
              <a:buNone/>
            </a:pPr>
            <a:r>
              <a:rPr lang="en-US" sz="1800" b="1" dirty="0" err="1">
                <a:solidFill>
                  <a:srgbClr val="FF0000"/>
                </a:solidFill>
              </a:rPr>
              <a:t>SalePrice</a:t>
            </a:r>
            <a:r>
              <a:rPr lang="en-US" sz="1800" b="1" dirty="0">
                <a:solidFill>
                  <a:srgbClr val="FF0000"/>
                </a:solidFill>
              </a:rPr>
              <a:t> ~</a:t>
            </a:r>
            <a:r>
              <a:rPr lang="en-US" sz="1800" b="1" dirty="0" err="1">
                <a:solidFill>
                  <a:srgbClr val="FF0000"/>
                </a:solidFill>
              </a:rPr>
              <a:t>Age+Lotsize+SqFt</a:t>
            </a:r>
            <a:r>
              <a:rPr lang="en-US" sz="1800" b="1" dirty="0">
                <a:solidFill>
                  <a:srgbClr val="FF0000"/>
                </a:solidFill>
              </a:rPr>
              <a:t> </a:t>
            </a:r>
            <a:r>
              <a:rPr lang="en-US" sz="1800" dirty="0">
                <a:solidFill>
                  <a:srgbClr val="FF0000"/>
                </a:solidFill>
              </a:rPr>
              <a:t>which tells R exactly which columns to use</a:t>
            </a:r>
          </a:p>
          <a:p>
            <a:pPr marL="0" indent="0">
              <a:buNone/>
            </a:pPr>
            <a:r>
              <a:rPr lang="en-US" sz="1800" dirty="0">
                <a:solidFill>
                  <a:srgbClr val="FF0000"/>
                </a:solidFill>
              </a:rPr>
              <a:t>Either is correct to use.  </a:t>
            </a:r>
            <a:r>
              <a:rPr lang="en-US" sz="1800" b="1" dirty="0" err="1">
                <a:solidFill>
                  <a:srgbClr val="FF0000"/>
                </a:solidFill>
              </a:rPr>
              <a:t>SalePrice</a:t>
            </a:r>
            <a:r>
              <a:rPr lang="en-US" sz="1800" b="1" dirty="0">
                <a:solidFill>
                  <a:srgbClr val="FF0000"/>
                </a:solidFill>
              </a:rPr>
              <a:t>~. </a:t>
            </a:r>
            <a:r>
              <a:rPr lang="en-US" sz="1800" dirty="0">
                <a:solidFill>
                  <a:srgbClr val="FF0000"/>
                </a:solidFill>
              </a:rPr>
              <a:t>is faster “shortcut” to type, but be careful about using this for every regression problem…if you have extra columns that should not be used in the model, such as an ID column, you cannot use this shortcut. </a:t>
            </a:r>
          </a:p>
        </p:txBody>
      </p:sp>
    </p:spTree>
    <p:extLst>
      <p:ext uri="{BB962C8B-B14F-4D97-AF65-F5344CB8AC3E}">
        <p14:creationId xmlns:p14="http://schemas.microsoft.com/office/powerpoint/2010/main" val="4054848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7A487-F657-4142-AC97-117DAF1ADE07}"/>
              </a:ext>
            </a:extLst>
          </p:cNvPr>
          <p:cNvSpPr>
            <a:spLocks noGrp="1"/>
          </p:cNvSpPr>
          <p:nvPr>
            <p:ph type="title"/>
          </p:nvPr>
        </p:nvSpPr>
        <p:spPr/>
        <p:txBody>
          <a:bodyPr/>
          <a:lstStyle/>
          <a:p>
            <a:r>
              <a:rPr lang="en-US" dirty="0"/>
              <a:t>Interpreting the results</a:t>
            </a:r>
          </a:p>
        </p:txBody>
      </p:sp>
      <p:sp>
        <p:nvSpPr>
          <p:cNvPr id="4" name="TextBox 3">
            <a:extLst>
              <a:ext uri="{FF2B5EF4-FFF2-40B4-BE49-F238E27FC236}">
                <a16:creationId xmlns:a16="http://schemas.microsoft.com/office/drawing/2014/main" id="{22ABF79F-FA13-47AF-A577-ECE3D81119DE}"/>
              </a:ext>
            </a:extLst>
          </p:cNvPr>
          <p:cNvSpPr txBox="1"/>
          <p:nvPr/>
        </p:nvSpPr>
        <p:spPr>
          <a:xfrm>
            <a:off x="914400" y="3392648"/>
            <a:ext cx="5333999" cy="2031325"/>
          </a:xfrm>
          <a:prstGeom prst="rect">
            <a:avLst/>
          </a:prstGeom>
          <a:noFill/>
        </p:spPr>
        <p:txBody>
          <a:bodyPr wrap="square" rtlCol="0">
            <a:spAutoFit/>
          </a:bodyPr>
          <a:lstStyle/>
          <a:p>
            <a:r>
              <a:rPr lang="en-US" dirty="0">
                <a:solidFill>
                  <a:srgbClr val="FF0000"/>
                </a:solidFill>
              </a:rPr>
              <a:t>The same metrics are used for multiple regression.  RMSE </a:t>
            </a:r>
            <a:r>
              <a:rPr lang="en-US" dirty="0" err="1">
                <a:solidFill>
                  <a:srgbClr val="FF0000"/>
                </a:solidFill>
              </a:rPr>
              <a:t>Rsquared</a:t>
            </a:r>
            <a:r>
              <a:rPr lang="en-US" dirty="0">
                <a:solidFill>
                  <a:srgbClr val="FF0000"/>
                </a:solidFill>
              </a:rPr>
              <a:t> and MAE are calculated for the out of sample data (not used to build the model).  Once again, these measures are relative, and depend on business context to conclude if the model is valuable.  These metrics also can be used to compare potential models.</a:t>
            </a:r>
          </a:p>
        </p:txBody>
      </p:sp>
      <p:pic>
        <p:nvPicPr>
          <p:cNvPr id="5" name="Picture 4" descr="model performance on out of sample data">
            <a:extLst>
              <a:ext uri="{FF2B5EF4-FFF2-40B4-BE49-F238E27FC236}">
                <a16:creationId xmlns:a16="http://schemas.microsoft.com/office/drawing/2014/main" id="{B8AFAAE8-5FE6-4E82-AC84-305906538C07}"/>
              </a:ext>
            </a:extLst>
          </p:cNvPr>
          <p:cNvPicPr>
            <a:picLocks noChangeAspect="1"/>
          </p:cNvPicPr>
          <p:nvPr/>
        </p:nvPicPr>
        <p:blipFill>
          <a:blip r:embed="rId2"/>
          <a:stretch>
            <a:fillRect/>
          </a:stretch>
        </p:blipFill>
        <p:spPr>
          <a:xfrm>
            <a:off x="838200" y="2319405"/>
            <a:ext cx="4114800" cy="638715"/>
          </a:xfrm>
          <a:prstGeom prst="rect">
            <a:avLst/>
          </a:prstGeom>
        </p:spPr>
      </p:pic>
      <p:sp>
        <p:nvSpPr>
          <p:cNvPr id="8" name="TextBox 7">
            <a:extLst>
              <a:ext uri="{FF2B5EF4-FFF2-40B4-BE49-F238E27FC236}">
                <a16:creationId xmlns:a16="http://schemas.microsoft.com/office/drawing/2014/main" id="{3897EA3C-E761-4504-A963-69BCF4C4CAB5}"/>
              </a:ext>
            </a:extLst>
          </p:cNvPr>
          <p:cNvSpPr txBox="1"/>
          <p:nvPr/>
        </p:nvSpPr>
        <p:spPr>
          <a:xfrm>
            <a:off x="950753" y="1709858"/>
            <a:ext cx="1765548" cy="461665"/>
          </a:xfrm>
          <a:prstGeom prst="rect">
            <a:avLst/>
          </a:prstGeom>
          <a:noFill/>
        </p:spPr>
        <p:txBody>
          <a:bodyPr wrap="none" rtlCol="0">
            <a:spAutoFit/>
          </a:bodyPr>
          <a:lstStyle/>
          <a:p>
            <a:r>
              <a:rPr lang="en-US" sz="2400" dirty="0"/>
              <a:t>print(model)</a:t>
            </a:r>
          </a:p>
        </p:txBody>
      </p:sp>
    </p:spTree>
    <p:extLst>
      <p:ext uri="{BB962C8B-B14F-4D97-AF65-F5344CB8AC3E}">
        <p14:creationId xmlns:p14="http://schemas.microsoft.com/office/powerpoint/2010/main" val="909629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63AA-83E9-46E2-9B52-274F1613DF78}"/>
              </a:ext>
            </a:extLst>
          </p:cNvPr>
          <p:cNvSpPr>
            <a:spLocks noGrp="1"/>
          </p:cNvSpPr>
          <p:nvPr>
            <p:ph type="title"/>
          </p:nvPr>
        </p:nvSpPr>
        <p:spPr>
          <a:xfrm>
            <a:off x="457200" y="274638"/>
            <a:ext cx="8229600" cy="715962"/>
          </a:xfrm>
        </p:spPr>
        <p:txBody>
          <a:bodyPr>
            <a:noAutofit/>
          </a:bodyPr>
          <a:lstStyle/>
          <a:p>
            <a:r>
              <a:rPr lang="en-US" sz="2800" dirty="0"/>
              <a:t>View the model that was constructed</a:t>
            </a:r>
          </a:p>
        </p:txBody>
      </p:sp>
      <p:sp>
        <p:nvSpPr>
          <p:cNvPr id="3" name="Content Placeholder 2">
            <a:extLst>
              <a:ext uri="{FF2B5EF4-FFF2-40B4-BE49-F238E27FC236}">
                <a16:creationId xmlns:a16="http://schemas.microsoft.com/office/drawing/2014/main" id="{A6B012C4-1EA1-43DD-9061-F5A2C6DD9788}"/>
              </a:ext>
            </a:extLst>
          </p:cNvPr>
          <p:cNvSpPr>
            <a:spLocks noGrp="1"/>
          </p:cNvSpPr>
          <p:nvPr>
            <p:ph idx="1"/>
          </p:nvPr>
        </p:nvSpPr>
        <p:spPr>
          <a:xfrm>
            <a:off x="457200" y="1295400"/>
            <a:ext cx="8153400" cy="838200"/>
          </a:xfrm>
        </p:spPr>
        <p:txBody>
          <a:bodyPr>
            <a:normAutofit/>
          </a:bodyPr>
          <a:lstStyle/>
          <a:p>
            <a:pPr marL="0" indent="0">
              <a:buNone/>
            </a:pPr>
            <a:r>
              <a:rPr lang="en-US" sz="2400" dirty="0"/>
              <a:t>summary(model)</a:t>
            </a:r>
          </a:p>
        </p:txBody>
      </p:sp>
      <p:pic>
        <p:nvPicPr>
          <p:cNvPr id="5" name="Picture 4" descr="R output showing the model">
            <a:extLst>
              <a:ext uri="{FF2B5EF4-FFF2-40B4-BE49-F238E27FC236}">
                <a16:creationId xmlns:a16="http://schemas.microsoft.com/office/drawing/2014/main" id="{4F328662-D9D9-4D9F-BCC6-58AFEAF773ED}"/>
              </a:ext>
            </a:extLst>
          </p:cNvPr>
          <p:cNvPicPr>
            <a:picLocks noChangeAspect="1"/>
          </p:cNvPicPr>
          <p:nvPr/>
        </p:nvPicPr>
        <p:blipFill>
          <a:blip r:embed="rId2"/>
          <a:stretch>
            <a:fillRect/>
          </a:stretch>
        </p:blipFill>
        <p:spPr>
          <a:xfrm>
            <a:off x="533400" y="1752600"/>
            <a:ext cx="6267450" cy="2428875"/>
          </a:xfrm>
          <a:prstGeom prst="rect">
            <a:avLst/>
          </a:prstGeom>
        </p:spPr>
      </p:pic>
      <p:sp>
        <p:nvSpPr>
          <p:cNvPr id="6" name="Content Placeholder 2">
            <a:extLst>
              <a:ext uri="{FF2B5EF4-FFF2-40B4-BE49-F238E27FC236}">
                <a16:creationId xmlns:a16="http://schemas.microsoft.com/office/drawing/2014/main" id="{7797C3ED-40F3-490E-B5AB-8EAC01C2B131}"/>
              </a:ext>
            </a:extLst>
          </p:cNvPr>
          <p:cNvSpPr txBox="1">
            <a:spLocks/>
          </p:cNvSpPr>
          <p:nvPr/>
        </p:nvSpPr>
        <p:spPr>
          <a:xfrm>
            <a:off x="533400" y="4343400"/>
            <a:ext cx="8153400" cy="2057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dirty="0" err="1"/>
              <a:t>SalePrice</a:t>
            </a:r>
            <a:r>
              <a:rPr lang="en-US" sz="2200" dirty="0"/>
              <a:t>=16629.736+77.852*SqFt-2836.042*Age+8661.828*</a:t>
            </a:r>
            <a:r>
              <a:rPr lang="en-US" sz="2200" dirty="0" err="1"/>
              <a:t>Lotsize</a:t>
            </a:r>
            <a:endParaRPr lang="en-US" sz="2200" dirty="0"/>
          </a:p>
          <a:p>
            <a:pPr marL="0" indent="0">
              <a:buFont typeface="Arial" pitchFamily="34" charset="0"/>
              <a:buNone/>
            </a:pPr>
            <a:r>
              <a:rPr lang="en-US" sz="2200" dirty="0"/>
              <a:t>This equation can be used to plug in values for square footage, age, and lot size, to predict house sale price.</a:t>
            </a:r>
          </a:p>
          <a:p>
            <a:pPr marL="0" indent="0">
              <a:buFont typeface="Arial" pitchFamily="34" charset="0"/>
              <a:buNone/>
            </a:pPr>
            <a:r>
              <a:rPr lang="en-US" sz="2200" dirty="0"/>
              <a:t>The model was highly significant p-value of </a:t>
            </a:r>
          </a:p>
          <a:p>
            <a:pPr marL="0" indent="0">
              <a:buFont typeface="Arial" pitchFamily="34" charset="0"/>
              <a:buNone/>
            </a:pPr>
            <a:r>
              <a:rPr lang="en-US" sz="2200" dirty="0"/>
              <a:t>2.2x10-16 = 0.000000000000000022 </a:t>
            </a:r>
          </a:p>
        </p:txBody>
      </p:sp>
    </p:spTree>
    <p:extLst>
      <p:ext uri="{BB962C8B-B14F-4D97-AF65-F5344CB8AC3E}">
        <p14:creationId xmlns:p14="http://schemas.microsoft.com/office/powerpoint/2010/main" val="309749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42B49-93B4-4DFD-AFB8-4A97285E5247}"/>
              </a:ext>
            </a:extLst>
          </p:cNvPr>
          <p:cNvSpPr>
            <a:spLocks noGrp="1"/>
          </p:cNvSpPr>
          <p:nvPr>
            <p:ph type="title"/>
          </p:nvPr>
        </p:nvSpPr>
        <p:spPr/>
        <p:txBody>
          <a:bodyPr>
            <a:normAutofit fontScale="90000"/>
          </a:bodyPr>
          <a:lstStyle/>
          <a:p>
            <a:r>
              <a:rPr lang="en-US" dirty="0"/>
              <a:t>Use the model to make a prediction</a:t>
            </a:r>
          </a:p>
        </p:txBody>
      </p:sp>
      <p:sp>
        <p:nvSpPr>
          <p:cNvPr id="3" name="Content Placeholder 2">
            <a:extLst>
              <a:ext uri="{FF2B5EF4-FFF2-40B4-BE49-F238E27FC236}">
                <a16:creationId xmlns:a16="http://schemas.microsoft.com/office/drawing/2014/main" id="{C989775A-795D-41DC-AE75-A58F5794C083}"/>
              </a:ext>
            </a:extLst>
          </p:cNvPr>
          <p:cNvSpPr>
            <a:spLocks noGrp="1"/>
          </p:cNvSpPr>
          <p:nvPr>
            <p:ph idx="1"/>
          </p:nvPr>
        </p:nvSpPr>
        <p:spPr>
          <a:xfrm>
            <a:off x="457200" y="2895600"/>
            <a:ext cx="8229600" cy="3230563"/>
          </a:xfrm>
        </p:spPr>
        <p:txBody>
          <a:bodyPr/>
          <a:lstStyle/>
          <a:p>
            <a:pPr marL="0" indent="0">
              <a:buNone/>
            </a:pPr>
            <a:r>
              <a:rPr lang="en-US" sz="2000" dirty="0" err="1"/>
              <a:t>regmodel</a:t>
            </a:r>
            <a:r>
              <a:rPr lang="en-US" sz="2000" dirty="0"/>
              <a:t>&lt;-</a:t>
            </a:r>
            <a:r>
              <a:rPr lang="en-US" sz="2000" dirty="0" err="1"/>
              <a:t>lm</a:t>
            </a:r>
            <a:r>
              <a:rPr lang="en-US" sz="2000" dirty="0"/>
              <a:t>(</a:t>
            </a:r>
            <a:r>
              <a:rPr lang="en-US" sz="2000" dirty="0" err="1"/>
              <a:t>SalePrice</a:t>
            </a:r>
            <a:r>
              <a:rPr lang="en-US" sz="2000" dirty="0"/>
              <a:t>~.,data=house2)</a:t>
            </a:r>
          </a:p>
          <a:p>
            <a:pPr marL="0" indent="0">
              <a:buNone/>
            </a:pPr>
            <a:r>
              <a:rPr lang="en-US" sz="2000" dirty="0"/>
              <a:t>summary(house2) #to see max and min of inputs</a:t>
            </a:r>
          </a:p>
          <a:p>
            <a:pPr marL="0" indent="0">
              <a:buNone/>
            </a:pPr>
            <a:r>
              <a:rPr lang="en-US" sz="2000" dirty="0" err="1"/>
              <a:t>newdata</a:t>
            </a:r>
            <a:r>
              <a:rPr lang="en-US" sz="2000" dirty="0"/>
              <a:t>=</a:t>
            </a:r>
            <a:r>
              <a:rPr lang="en-US" sz="2000" dirty="0" err="1"/>
              <a:t>data.frame</a:t>
            </a:r>
            <a:r>
              <a:rPr lang="en-US" sz="2000" dirty="0"/>
              <a:t>(</a:t>
            </a:r>
            <a:r>
              <a:rPr lang="en-US" sz="2000" dirty="0" err="1"/>
              <a:t>SqFt</a:t>
            </a:r>
            <a:r>
              <a:rPr lang="en-US" sz="2000" dirty="0"/>
              <a:t>=1400,Age=4,Lotsize=.5)</a:t>
            </a:r>
          </a:p>
          <a:p>
            <a:pPr marL="0" indent="0">
              <a:buNone/>
            </a:pPr>
            <a:r>
              <a:rPr lang="en-US" sz="2000" dirty="0"/>
              <a:t>predict(</a:t>
            </a:r>
            <a:r>
              <a:rPr lang="en-US" sz="2000" dirty="0" err="1"/>
              <a:t>regmodel,newdata</a:t>
            </a:r>
            <a:r>
              <a:rPr lang="en-US" sz="2000" dirty="0"/>
              <a:t>=</a:t>
            </a:r>
            <a:r>
              <a:rPr lang="en-US" sz="2000" dirty="0" err="1"/>
              <a:t>newdata,interval</a:t>
            </a:r>
            <a:r>
              <a:rPr lang="en-US" sz="2000" dirty="0"/>
              <a:t>="</a:t>
            </a:r>
            <a:r>
              <a:rPr lang="en-US" sz="2000" dirty="0" err="1"/>
              <a:t>prediction",level</a:t>
            </a:r>
            <a:r>
              <a:rPr lang="en-US" sz="2000" dirty="0"/>
              <a:t>=0.95)</a:t>
            </a:r>
            <a:endParaRPr lang="en-US" dirty="0"/>
          </a:p>
        </p:txBody>
      </p:sp>
      <p:sp>
        <p:nvSpPr>
          <p:cNvPr id="4" name="TextBox 3">
            <a:extLst>
              <a:ext uri="{FF2B5EF4-FFF2-40B4-BE49-F238E27FC236}">
                <a16:creationId xmlns:a16="http://schemas.microsoft.com/office/drawing/2014/main" id="{25E4AF32-570C-4729-9FC7-FA55C4EB533F}"/>
              </a:ext>
            </a:extLst>
          </p:cNvPr>
          <p:cNvSpPr txBox="1"/>
          <p:nvPr/>
        </p:nvSpPr>
        <p:spPr>
          <a:xfrm>
            <a:off x="609600" y="1600200"/>
            <a:ext cx="6324600" cy="923330"/>
          </a:xfrm>
          <a:prstGeom prst="rect">
            <a:avLst/>
          </a:prstGeom>
          <a:noFill/>
        </p:spPr>
        <p:txBody>
          <a:bodyPr wrap="square" rtlCol="0">
            <a:spAutoFit/>
          </a:bodyPr>
          <a:lstStyle/>
          <a:p>
            <a:r>
              <a:rPr lang="en-US" dirty="0">
                <a:solidFill>
                  <a:srgbClr val="FF0000"/>
                </a:solidFill>
              </a:rPr>
              <a:t>If we wanted to make a prediction for a square footage of 1400, a 4 year old house, on a 0.5 acre lot the following could be used (with 95% prediction intervals)</a:t>
            </a:r>
          </a:p>
        </p:txBody>
      </p:sp>
      <p:sp>
        <p:nvSpPr>
          <p:cNvPr id="5" name="TextBox 4">
            <a:extLst>
              <a:ext uri="{FF2B5EF4-FFF2-40B4-BE49-F238E27FC236}">
                <a16:creationId xmlns:a16="http://schemas.microsoft.com/office/drawing/2014/main" id="{4321C5D1-1989-46E1-ADB3-F33CEFD0BFF5}"/>
              </a:ext>
            </a:extLst>
          </p:cNvPr>
          <p:cNvSpPr txBox="1"/>
          <p:nvPr/>
        </p:nvSpPr>
        <p:spPr>
          <a:xfrm>
            <a:off x="609600" y="5257800"/>
            <a:ext cx="7543800" cy="646331"/>
          </a:xfrm>
          <a:prstGeom prst="rect">
            <a:avLst/>
          </a:prstGeom>
          <a:noFill/>
        </p:spPr>
        <p:txBody>
          <a:bodyPr wrap="square" rtlCol="0">
            <a:spAutoFit/>
          </a:bodyPr>
          <a:lstStyle/>
          <a:p>
            <a:r>
              <a:rPr lang="en-US" dirty="0">
                <a:solidFill>
                  <a:srgbClr val="FF0000"/>
                </a:solidFill>
              </a:rPr>
              <a:t>The predicted house sale price is $118,609.  We are 95% confidence it will be between $67,3478 to $169,871</a:t>
            </a:r>
          </a:p>
        </p:txBody>
      </p:sp>
      <p:pic>
        <p:nvPicPr>
          <p:cNvPr id="6" name="Picture 5" descr="prediction with prediction intervals">
            <a:extLst>
              <a:ext uri="{FF2B5EF4-FFF2-40B4-BE49-F238E27FC236}">
                <a16:creationId xmlns:a16="http://schemas.microsoft.com/office/drawing/2014/main" id="{0BEDD9D0-25E1-4555-BD75-8EB6CC50BAE4}"/>
              </a:ext>
            </a:extLst>
          </p:cNvPr>
          <p:cNvPicPr>
            <a:picLocks noChangeAspect="1"/>
          </p:cNvPicPr>
          <p:nvPr/>
        </p:nvPicPr>
        <p:blipFill>
          <a:blip r:embed="rId2"/>
          <a:stretch>
            <a:fillRect/>
          </a:stretch>
        </p:blipFill>
        <p:spPr>
          <a:xfrm>
            <a:off x="609600" y="4654768"/>
            <a:ext cx="2838450" cy="381000"/>
          </a:xfrm>
          <a:prstGeom prst="rect">
            <a:avLst/>
          </a:prstGeom>
        </p:spPr>
      </p:pic>
    </p:spTree>
    <p:extLst>
      <p:ext uri="{BB962C8B-B14F-4D97-AF65-F5344CB8AC3E}">
        <p14:creationId xmlns:p14="http://schemas.microsoft.com/office/powerpoint/2010/main" val="3913402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63AA-83E9-46E2-9B52-274F1613DF78}"/>
              </a:ext>
            </a:extLst>
          </p:cNvPr>
          <p:cNvSpPr>
            <a:spLocks noGrp="1"/>
          </p:cNvSpPr>
          <p:nvPr>
            <p:ph type="title"/>
          </p:nvPr>
        </p:nvSpPr>
        <p:spPr>
          <a:xfrm>
            <a:off x="457200" y="274638"/>
            <a:ext cx="8229600" cy="715962"/>
          </a:xfrm>
        </p:spPr>
        <p:txBody>
          <a:bodyPr>
            <a:noAutofit/>
          </a:bodyPr>
          <a:lstStyle/>
          <a:p>
            <a:r>
              <a:rPr lang="en-US" sz="2800" dirty="0"/>
              <a:t>Full Program</a:t>
            </a:r>
          </a:p>
        </p:txBody>
      </p:sp>
      <p:sp>
        <p:nvSpPr>
          <p:cNvPr id="3" name="Content Placeholder 2">
            <a:extLst>
              <a:ext uri="{FF2B5EF4-FFF2-40B4-BE49-F238E27FC236}">
                <a16:creationId xmlns:a16="http://schemas.microsoft.com/office/drawing/2014/main" id="{A6B012C4-1EA1-43DD-9061-F5A2C6DD9788}"/>
              </a:ext>
            </a:extLst>
          </p:cNvPr>
          <p:cNvSpPr>
            <a:spLocks noGrp="1"/>
          </p:cNvSpPr>
          <p:nvPr>
            <p:ph idx="1"/>
          </p:nvPr>
        </p:nvSpPr>
        <p:spPr>
          <a:xfrm>
            <a:off x="457200" y="838200"/>
            <a:ext cx="8153400" cy="5715000"/>
          </a:xfrm>
        </p:spPr>
        <p:txBody>
          <a:bodyPr>
            <a:normAutofit fontScale="70000" lnSpcReduction="20000"/>
          </a:bodyPr>
          <a:lstStyle/>
          <a:p>
            <a:pPr marL="0" indent="0">
              <a:buNone/>
            </a:pPr>
            <a:r>
              <a:rPr lang="en-US" dirty="0"/>
              <a:t>house2 &lt;-read.csv("</a:t>
            </a:r>
            <a:r>
              <a:rPr lang="en-US" dirty="0">
                <a:highlight>
                  <a:srgbClr val="FFFF00"/>
                </a:highlight>
              </a:rPr>
              <a:t>C:/Users/hbrown11/Desktop/</a:t>
            </a:r>
            <a:r>
              <a:rPr lang="en-US" dirty="0"/>
              <a:t>housing2.csv", header=TRUE)</a:t>
            </a:r>
          </a:p>
          <a:p>
            <a:pPr marL="0" indent="0">
              <a:buNone/>
            </a:pPr>
            <a:r>
              <a:rPr lang="en-US" dirty="0"/>
              <a:t>head(house2)</a:t>
            </a:r>
          </a:p>
          <a:p>
            <a:pPr marL="0" indent="0">
              <a:buNone/>
            </a:pPr>
            <a:r>
              <a:rPr lang="en-US" dirty="0"/>
              <a:t>#</a:t>
            </a:r>
            <a:r>
              <a:rPr lang="en-US" dirty="0" err="1"/>
              <a:t>install.packages</a:t>
            </a:r>
            <a:r>
              <a:rPr lang="en-US" dirty="0"/>
              <a:t>("caret") #only needs to be ran once</a:t>
            </a:r>
          </a:p>
          <a:p>
            <a:pPr marL="0" indent="0">
              <a:buNone/>
            </a:pPr>
            <a:r>
              <a:rPr lang="en-US" dirty="0"/>
              <a:t>library(caret)</a:t>
            </a:r>
          </a:p>
          <a:p>
            <a:pPr marL="0" indent="0">
              <a:buNone/>
            </a:pPr>
            <a:r>
              <a:rPr lang="en-US" dirty="0" err="1"/>
              <a:t>set.seed</a:t>
            </a:r>
            <a:r>
              <a:rPr lang="en-US" dirty="0"/>
              <a:t>(42)</a:t>
            </a:r>
          </a:p>
          <a:p>
            <a:pPr marL="0" indent="0">
              <a:buNone/>
            </a:pPr>
            <a:r>
              <a:rPr lang="en-US" dirty="0" err="1"/>
              <a:t>train_control</a:t>
            </a:r>
            <a:r>
              <a:rPr lang="en-US" dirty="0"/>
              <a:t> &lt;- </a:t>
            </a:r>
            <a:r>
              <a:rPr lang="en-US" dirty="0" err="1"/>
              <a:t>trainControl</a:t>
            </a:r>
            <a:r>
              <a:rPr lang="en-US" dirty="0"/>
              <a:t>(method = "</a:t>
            </a:r>
            <a:r>
              <a:rPr lang="en-US" dirty="0" err="1"/>
              <a:t>cv",number</a:t>
            </a:r>
            <a:r>
              <a:rPr lang="en-US" dirty="0"/>
              <a:t> = 5)</a:t>
            </a:r>
          </a:p>
          <a:p>
            <a:pPr marL="0" indent="0">
              <a:buNone/>
            </a:pPr>
            <a:r>
              <a:rPr lang="en-US" dirty="0"/>
              <a:t>model &lt;- train(</a:t>
            </a:r>
            <a:r>
              <a:rPr lang="en-US" dirty="0" err="1"/>
              <a:t>SalePrice</a:t>
            </a:r>
            <a:r>
              <a:rPr lang="en-US" dirty="0"/>
              <a:t> ~., data = house2, method = "</a:t>
            </a:r>
            <a:r>
              <a:rPr lang="en-US" dirty="0" err="1"/>
              <a:t>lm</a:t>
            </a:r>
            <a:r>
              <a:rPr lang="en-US" dirty="0"/>
              <a:t>",  </a:t>
            </a:r>
            <a:r>
              <a:rPr lang="en-US" dirty="0" err="1"/>
              <a:t>trControl</a:t>
            </a:r>
            <a:r>
              <a:rPr lang="en-US" dirty="0"/>
              <a:t> = </a:t>
            </a:r>
            <a:r>
              <a:rPr lang="en-US" dirty="0" err="1"/>
              <a:t>train_control</a:t>
            </a:r>
            <a:r>
              <a:rPr lang="en-US" dirty="0"/>
              <a:t>)</a:t>
            </a:r>
          </a:p>
          <a:p>
            <a:pPr marL="0" indent="0">
              <a:buNone/>
            </a:pPr>
            <a:r>
              <a:rPr lang="en-US" dirty="0"/>
              <a:t>print(model)</a:t>
            </a:r>
          </a:p>
          <a:p>
            <a:pPr marL="0" indent="0">
              <a:buNone/>
            </a:pPr>
            <a:r>
              <a:rPr lang="en-US" dirty="0"/>
              <a:t>summary(model)</a:t>
            </a:r>
          </a:p>
          <a:p>
            <a:pPr marL="0" indent="0">
              <a:buNone/>
            </a:pPr>
            <a:r>
              <a:rPr lang="en-US" dirty="0" err="1"/>
              <a:t>regmodel</a:t>
            </a:r>
            <a:r>
              <a:rPr lang="en-US" dirty="0"/>
              <a:t>&lt;-</a:t>
            </a:r>
            <a:r>
              <a:rPr lang="en-US" dirty="0" err="1"/>
              <a:t>lm</a:t>
            </a:r>
            <a:r>
              <a:rPr lang="en-US" dirty="0"/>
              <a:t>(</a:t>
            </a:r>
            <a:r>
              <a:rPr lang="en-US" dirty="0" err="1"/>
              <a:t>SalePrice</a:t>
            </a:r>
            <a:r>
              <a:rPr lang="en-US" dirty="0"/>
              <a:t>~.,data=house2)</a:t>
            </a:r>
          </a:p>
          <a:p>
            <a:pPr marL="0" indent="0">
              <a:buNone/>
            </a:pPr>
            <a:r>
              <a:rPr lang="en-US" dirty="0"/>
              <a:t>summary(house2) #to see max and min of inputs</a:t>
            </a:r>
          </a:p>
          <a:p>
            <a:pPr marL="0" indent="0">
              <a:buNone/>
            </a:pPr>
            <a:r>
              <a:rPr lang="en-US" dirty="0" err="1"/>
              <a:t>newdata</a:t>
            </a:r>
            <a:r>
              <a:rPr lang="en-US" dirty="0"/>
              <a:t>=</a:t>
            </a:r>
            <a:r>
              <a:rPr lang="en-US" dirty="0" err="1"/>
              <a:t>data.frame</a:t>
            </a:r>
            <a:r>
              <a:rPr lang="en-US" dirty="0"/>
              <a:t>(</a:t>
            </a:r>
            <a:r>
              <a:rPr lang="en-US" dirty="0" err="1"/>
              <a:t>SqFt</a:t>
            </a:r>
            <a:r>
              <a:rPr lang="en-US" dirty="0"/>
              <a:t>=1400,Age=4,Lotsize=.5)</a:t>
            </a:r>
          </a:p>
          <a:p>
            <a:pPr marL="0" indent="0">
              <a:buNone/>
            </a:pPr>
            <a:r>
              <a:rPr lang="en-US" dirty="0"/>
              <a:t>predict(</a:t>
            </a:r>
            <a:r>
              <a:rPr lang="en-US" dirty="0" err="1"/>
              <a:t>regmodel,newdata</a:t>
            </a:r>
            <a:r>
              <a:rPr lang="en-US" dirty="0"/>
              <a:t>=</a:t>
            </a:r>
            <a:r>
              <a:rPr lang="en-US" dirty="0" err="1"/>
              <a:t>newdata,interval</a:t>
            </a:r>
            <a:r>
              <a:rPr lang="en-US" dirty="0"/>
              <a:t>="</a:t>
            </a:r>
            <a:r>
              <a:rPr lang="en-US" dirty="0" err="1"/>
              <a:t>prediction",level</a:t>
            </a:r>
            <a:r>
              <a:rPr lang="en-US" dirty="0"/>
              <a:t>=0.95)</a:t>
            </a:r>
          </a:p>
        </p:txBody>
      </p:sp>
    </p:spTree>
    <p:extLst>
      <p:ext uri="{BB962C8B-B14F-4D97-AF65-F5344CB8AC3E}">
        <p14:creationId xmlns:p14="http://schemas.microsoft.com/office/powerpoint/2010/main" val="1367666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169C-C76B-4CA6-AB86-355B73F7EA75}"/>
              </a:ext>
            </a:extLst>
          </p:cNvPr>
          <p:cNvSpPr>
            <a:spLocks noGrp="1"/>
          </p:cNvSpPr>
          <p:nvPr>
            <p:ph type="title"/>
          </p:nvPr>
        </p:nvSpPr>
        <p:spPr/>
        <p:txBody>
          <a:bodyPr>
            <a:normAutofit/>
          </a:bodyPr>
          <a:lstStyle/>
          <a:p>
            <a:r>
              <a:rPr lang="en-US" dirty="0"/>
              <a:t>Relevant Output</a:t>
            </a:r>
          </a:p>
        </p:txBody>
      </p:sp>
      <p:pic>
        <p:nvPicPr>
          <p:cNvPr id="7" name="Picture 6" descr="OOS sample output">
            <a:extLst>
              <a:ext uri="{FF2B5EF4-FFF2-40B4-BE49-F238E27FC236}">
                <a16:creationId xmlns:a16="http://schemas.microsoft.com/office/drawing/2014/main" id="{E6DC8A45-B40E-4157-8EEE-E5704A5CB5B7}"/>
              </a:ext>
            </a:extLst>
          </p:cNvPr>
          <p:cNvPicPr>
            <a:picLocks noChangeAspect="1"/>
          </p:cNvPicPr>
          <p:nvPr/>
        </p:nvPicPr>
        <p:blipFill>
          <a:blip r:embed="rId2"/>
          <a:stretch>
            <a:fillRect/>
          </a:stretch>
        </p:blipFill>
        <p:spPr>
          <a:xfrm>
            <a:off x="609600" y="1524000"/>
            <a:ext cx="3810000" cy="591403"/>
          </a:xfrm>
          <a:prstGeom prst="rect">
            <a:avLst/>
          </a:prstGeom>
        </p:spPr>
      </p:pic>
      <p:pic>
        <p:nvPicPr>
          <p:cNvPr id="8" name="Picture 7" descr="model parameters and F test">
            <a:extLst>
              <a:ext uri="{FF2B5EF4-FFF2-40B4-BE49-F238E27FC236}">
                <a16:creationId xmlns:a16="http://schemas.microsoft.com/office/drawing/2014/main" id="{6FF8ED4C-7E03-4736-A5B4-5DF4527B355A}"/>
              </a:ext>
            </a:extLst>
          </p:cNvPr>
          <p:cNvPicPr>
            <a:picLocks noChangeAspect="1"/>
          </p:cNvPicPr>
          <p:nvPr/>
        </p:nvPicPr>
        <p:blipFill>
          <a:blip r:embed="rId3"/>
          <a:stretch>
            <a:fillRect/>
          </a:stretch>
        </p:blipFill>
        <p:spPr>
          <a:xfrm>
            <a:off x="614494" y="2214562"/>
            <a:ext cx="6267450" cy="2428875"/>
          </a:xfrm>
          <a:prstGeom prst="rect">
            <a:avLst/>
          </a:prstGeom>
        </p:spPr>
      </p:pic>
    </p:spTree>
    <p:extLst>
      <p:ext uri="{BB962C8B-B14F-4D97-AF65-F5344CB8AC3E}">
        <p14:creationId xmlns:p14="http://schemas.microsoft.com/office/powerpoint/2010/main" val="1474751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3C485-9ADE-4412-8ED5-66D5E503AC49}"/>
              </a:ext>
            </a:extLst>
          </p:cNvPr>
          <p:cNvSpPr>
            <a:spLocks noGrp="1"/>
          </p:cNvSpPr>
          <p:nvPr>
            <p:ph type="title"/>
          </p:nvPr>
        </p:nvSpPr>
        <p:spPr/>
        <p:txBody>
          <a:bodyPr/>
          <a:lstStyle/>
          <a:p>
            <a:r>
              <a:rPr lang="en-US" dirty="0"/>
              <a:t>Discussion of Results</a:t>
            </a:r>
          </a:p>
        </p:txBody>
      </p:sp>
      <p:sp>
        <p:nvSpPr>
          <p:cNvPr id="3" name="Content Placeholder 2">
            <a:extLst>
              <a:ext uri="{FF2B5EF4-FFF2-40B4-BE49-F238E27FC236}">
                <a16:creationId xmlns:a16="http://schemas.microsoft.com/office/drawing/2014/main" id="{BFFBD39E-F224-432A-A780-2517BDB7DE2C}"/>
              </a:ext>
            </a:extLst>
          </p:cNvPr>
          <p:cNvSpPr>
            <a:spLocks noGrp="1"/>
          </p:cNvSpPr>
          <p:nvPr>
            <p:ph idx="1"/>
          </p:nvPr>
        </p:nvSpPr>
        <p:spPr/>
        <p:txBody>
          <a:bodyPr>
            <a:normAutofit fontScale="77500" lnSpcReduction="20000"/>
          </a:bodyPr>
          <a:lstStyle/>
          <a:p>
            <a:r>
              <a:rPr lang="en-US" dirty="0"/>
              <a:t>A predictive model using ordinary least squares linear regression was built to predict house sale price using square footage, house age, and lot size</a:t>
            </a:r>
          </a:p>
          <a:p>
            <a:r>
              <a:rPr lang="en-US" dirty="0"/>
              <a:t>The model may be written as</a:t>
            </a:r>
          </a:p>
          <a:p>
            <a:pPr marL="0" indent="0">
              <a:buNone/>
            </a:pPr>
            <a:r>
              <a:rPr lang="en-US" sz="2800" dirty="0" err="1"/>
              <a:t>SalePrice</a:t>
            </a:r>
            <a:r>
              <a:rPr lang="en-US" sz="2800" dirty="0"/>
              <a:t>=16629.736+77.852*SqFt-2836.042*Age+8661.828*</a:t>
            </a:r>
            <a:r>
              <a:rPr lang="en-US" sz="2800" dirty="0" err="1"/>
              <a:t>Lotsize</a:t>
            </a:r>
            <a:endParaRPr lang="en-US" sz="2800" dirty="0"/>
          </a:p>
          <a:p>
            <a:pPr marL="0" indent="0">
              <a:buNone/>
            </a:pPr>
            <a:r>
              <a:rPr lang="en-US" dirty="0"/>
              <a:t>It is valid for square footages from 790 to 5800; ages from 1 to 42; and lot sizes from 0.03 to 3.52.</a:t>
            </a:r>
          </a:p>
          <a:p>
            <a:r>
              <a:rPr lang="en-US" dirty="0"/>
              <a:t>The model was highly significant (p-value &lt;0.0001)</a:t>
            </a:r>
          </a:p>
          <a:p>
            <a:r>
              <a:rPr lang="en-US" dirty="0"/>
              <a:t>For out of sample predictions, the RMSE is 26834, the R-Square is 0.96, and the MAE is 21467.  On average, we can expect a prediction made by this model to be wrong by $21,467.</a:t>
            </a:r>
          </a:p>
        </p:txBody>
      </p:sp>
    </p:spTree>
    <p:extLst>
      <p:ext uri="{BB962C8B-B14F-4D97-AF65-F5344CB8AC3E}">
        <p14:creationId xmlns:p14="http://schemas.microsoft.com/office/powerpoint/2010/main" val="1424863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3472-3780-46F1-A114-CDF36FCCC052}"/>
              </a:ext>
            </a:extLst>
          </p:cNvPr>
          <p:cNvSpPr>
            <a:spLocks noGrp="1"/>
          </p:cNvSpPr>
          <p:nvPr>
            <p:ph type="title"/>
          </p:nvPr>
        </p:nvSpPr>
        <p:spPr/>
        <p:txBody>
          <a:bodyPr/>
          <a:lstStyle/>
          <a:p>
            <a:r>
              <a:rPr lang="en-US" dirty="0"/>
              <a:t>Aside: Comparing models</a:t>
            </a:r>
          </a:p>
        </p:txBody>
      </p:sp>
      <p:sp>
        <p:nvSpPr>
          <p:cNvPr id="3" name="Content Placeholder 2">
            <a:extLst>
              <a:ext uri="{FF2B5EF4-FFF2-40B4-BE49-F238E27FC236}">
                <a16:creationId xmlns:a16="http://schemas.microsoft.com/office/drawing/2014/main" id="{851B1CE1-A91E-49DA-9C3B-CD74C257968B}"/>
              </a:ext>
            </a:extLst>
          </p:cNvPr>
          <p:cNvSpPr>
            <a:spLocks noGrp="1"/>
          </p:cNvSpPr>
          <p:nvPr>
            <p:ph idx="1"/>
          </p:nvPr>
        </p:nvSpPr>
        <p:spPr>
          <a:xfrm>
            <a:off x="457200" y="1371601"/>
            <a:ext cx="8229600" cy="2514600"/>
          </a:xfrm>
        </p:spPr>
        <p:txBody>
          <a:bodyPr>
            <a:normAutofit/>
          </a:bodyPr>
          <a:lstStyle/>
          <a:p>
            <a:pPr marL="0" indent="0">
              <a:buNone/>
            </a:pPr>
            <a:r>
              <a:rPr lang="en-US" dirty="0"/>
              <a:t>If we only use square footage for these data:</a:t>
            </a:r>
          </a:p>
          <a:p>
            <a:pPr marL="0" indent="0">
              <a:buNone/>
            </a:pPr>
            <a:r>
              <a:rPr lang="en-US" sz="1600" dirty="0" err="1"/>
              <a:t>set.seed</a:t>
            </a:r>
            <a:r>
              <a:rPr lang="en-US" sz="1600" dirty="0"/>
              <a:t>(42)</a:t>
            </a:r>
          </a:p>
          <a:p>
            <a:pPr marL="0" indent="0">
              <a:buNone/>
            </a:pPr>
            <a:r>
              <a:rPr lang="en-US" sz="1600" dirty="0" err="1"/>
              <a:t>train_control</a:t>
            </a:r>
            <a:r>
              <a:rPr lang="en-US" sz="1600" dirty="0"/>
              <a:t> &lt;- </a:t>
            </a:r>
            <a:r>
              <a:rPr lang="en-US" sz="1600" dirty="0" err="1"/>
              <a:t>trainControl</a:t>
            </a:r>
            <a:r>
              <a:rPr lang="en-US" sz="1600" dirty="0"/>
              <a:t>(method = "</a:t>
            </a:r>
            <a:r>
              <a:rPr lang="en-US" sz="1600" dirty="0" err="1"/>
              <a:t>cv",number</a:t>
            </a:r>
            <a:r>
              <a:rPr lang="en-US" sz="1600" dirty="0"/>
              <a:t> = 5)</a:t>
            </a:r>
          </a:p>
          <a:p>
            <a:pPr marL="0" indent="0">
              <a:buNone/>
            </a:pPr>
            <a:r>
              <a:rPr lang="en-US" sz="1600" dirty="0"/>
              <a:t>model &lt;- train(</a:t>
            </a:r>
            <a:r>
              <a:rPr lang="en-US" sz="1600" dirty="0" err="1"/>
              <a:t>SalePrice</a:t>
            </a:r>
            <a:r>
              <a:rPr lang="en-US" sz="1600" dirty="0"/>
              <a:t> ~</a:t>
            </a:r>
            <a:r>
              <a:rPr lang="en-US" sz="1600" dirty="0" err="1"/>
              <a:t>SqFt</a:t>
            </a:r>
            <a:r>
              <a:rPr lang="en-US" sz="1600" dirty="0"/>
              <a:t>, data = house2, method = "</a:t>
            </a:r>
            <a:r>
              <a:rPr lang="en-US" sz="1600" dirty="0" err="1"/>
              <a:t>lm</a:t>
            </a:r>
            <a:r>
              <a:rPr lang="en-US" sz="1600" dirty="0"/>
              <a:t>",  </a:t>
            </a:r>
            <a:r>
              <a:rPr lang="en-US" sz="1600" dirty="0" err="1"/>
              <a:t>trControl</a:t>
            </a:r>
            <a:r>
              <a:rPr lang="en-US" sz="1600" dirty="0"/>
              <a:t> = </a:t>
            </a:r>
            <a:r>
              <a:rPr lang="en-US" sz="1600" dirty="0" err="1"/>
              <a:t>train_control</a:t>
            </a:r>
            <a:r>
              <a:rPr lang="en-US" sz="1600" dirty="0"/>
              <a:t>)</a:t>
            </a:r>
          </a:p>
          <a:p>
            <a:pPr marL="0" indent="0">
              <a:buNone/>
            </a:pPr>
            <a:r>
              <a:rPr lang="en-US" sz="1600" dirty="0"/>
              <a:t>print(model)</a:t>
            </a:r>
          </a:p>
        </p:txBody>
      </p:sp>
      <p:sp>
        <p:nvSpPr>
          <p:cNvPr id="4" name="TextBox 3">
            <a:extLst>
              <a:ext uri="{FF2B5EF4-FFF2-40B4-BE49-F238E27FC236}">
                <a16:creationId xmlns:a16="http://schemas.microsoft.com/office/drawing/2014/main" id="{D13284C1-08CC-4454-9B52-275BBE492E90}"/>
              </a:ext>
            </a:extLst>
          </p:cNvPr>
          <p:cNvSpPr txBox="1"/>
          <p:nvPr/>
        </p:nvSpPr>
        <p:spPr>
          <a:xfrm>
            <a:off x="507534" y="4143550"/>
            <a:ext cx="6324600" cy="646331"/>
          </a:xfrm>
          <a:prstGeom prst="rect">
            <a:avLst/>
          </a:prstGeom>
          <a:noFill/>
        </p:spPr>
        <p:txBody>
          <a:bodyPr wrap="square" rtlCol="0">
            <a:spAutoFit/>
          </a:bodyPr>
          <a:lstStyle/>
          <a:p>
            <a:r>
              <a:rPr lang="en-US" dirty="0">
                <a:solidFill>
                  <a:srgbClr val="FF0000"/>
                </a:solidFill>
              </a:rPr>
              <a:t>Compared to using all three inputs, the three-input model is much better:</a:t>
            </a:r>
          </a:p>
        </p:txBody>
      </p:sp>
      <p:pic>
        <p:nvPicPr>
          <p:cNvPr id="5" name="Picture 4" descr="1 input model performance">
            <a:extLst>
              <a:ext uri="{FF2B5EF4-FFF2-40B4-BE49-F238E27FC236}">
                <a16:creationId xmlns:a16="http://schemas.microsoft.com/office/drawing/2014/main" id="{2E20850C-2602-46CB-9809-92D9F7A539D4}"/>
              </a:ext>
            </a:extLst>
          </p:cNvPr>
          <p:cNvPicPr>
            <a:picLocks noChangeAspect="1"/>
          </p:cNvPicPr>
          <p:nvPr/>
        </p:nvPicPr>
        <p:blipFill>
          <a:blip r:embed="rId2"/>
          <a:stretch>
            <a:fillRect/>
          </a:stretch>
        </p:blipFill>
        <p:spPr>
          <a:xfrm>
            <a:off x="381000" y="3294617"/>
            <a:ext cx="3985702" cy="646330"/>
          </a:xfrm>
          <a:prstGeom prst="rect">
            <a:avLst/>
          </a:prstGeom>
        </p:spPr>
      </p:pic>
      <p:pic>
        <p:nvPicPr>
          <p:cNvPr id="6" name="Picture 5" descr="3 input model performance">
            <a:extLst>
              <a:ext uri="{FF2B5EF4-FFF2-40B4-BE49-F238E27FC236}">
                <a16:creationId xmlns:a16="http://schemas.microsoft.com/office/drawing/2014/main" id="{1345D49E-A061-46DA-AEEE-BF034AC71D13}"/>
              </a:ext>
            </a:extLst>
          </p:cNvPr>
          <p:cNvPicPr>
            <a:picLocks noChangeAspect="1"/>
          </p:cNvPicPr>
          <p:nvPr/>
        </p:nvPicPr>
        <p:blipFill>
          <a:blip r:embed="rId3"/>
          <a:stretch>
            <a:fillRect/>
          </a:stretch>
        </p:blipFill>
        <p:spPr>
          <a:xfrm>
            <a:off x="533400" y="5047231"/>
            <a:ext cx="4114800" cy="638715"/>
          </a:xfrm>
          <a:prstGeom prst="rect">
            <a:avLst/>
          </a:prstGeom>
        </p:spPr>
      </p:pic>
    </p:spTree>
    <p:extLst>
      <p:ext uri="{BB962C8B-B14F-4D97-AF65-F5344CB8AC3E}">
        <p14:creationId xmlns:p14="http://schemas.microsoft.com/office/powerpoint/2010/main" val="275299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20388</TotalTime>
  <Words>1039</Words>
  <Application>Microsoft Office PowerPoint</Application>
  <PresentationFormat>On-screen Show (4:3)</PresentationFormat>
  <Paragraphs>81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Multiple Regression: Regression with Multiple Predictors (Inputs)</vt:lpstr>
      <vt:lpstr>Variable selection</vt:lpstr>
      <vt:lpstr>Example 1: Housing 2 </vt:lpstr>
      <vt:lpstr>Read in and view file</vt:lpstr>
      <vt:lpstr>R Code For 5-fold cross-validation</vt:lpstr>
      <vt:lpstr>Interpreting the results</vt:lpstr>
      <vt:lpstr>View the model that was constructed</vt:lpstr>
      <vt:lpstr>Use the model to make a prediction</vt:lpstr>
      <vt:lpstr>Full Program</vt:lpstr>
      <vt:lpstr>Relevant Output</vt:lpstr>
      <vt:lpstr>Discussion of Results</vt:lpstr>
      <vt:lpstr>Aside: Comparing models</vt:lpstr>
    </vt:vector>
  </TitlesOfParts>
  <Company>Arkansas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Models</dc:title>
  <dc:creator>Computer Services</dc:creator>
  <cp:lastModifiedBy>Herbert</cp:lastModifiedBy>
  <cp:revision>91</cp:revision>
  <dcterms:created xsi:type="dcterms:W3CDTF">2011-07-22T18:41:06Z</dcterms:created>
  <dcterms:modified xsi:type="dcterms:W3CDTF">2026-03-31T13:08:53Z</dcterms:modified>
</cp:coreProperties>
</file>
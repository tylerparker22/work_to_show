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2" r:id="rId10"/>
    <p:sldId id="267" r:id="rId11"/>
    <p:sldId id="270" r:id="rId12"/>
    <p:sldId id="271" r:id="rId13"/>
    <p:sldId id="263" r:id="rId14"/>
    <p:sldId id="272" r:id="rId15"/>
    <p:sldId id="264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21:25:58.1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812 124,'-118'-2,"-129"4,232 0,0 0,1 0,-1 1,1 1,0 0,0 1,0 1,1 0,0 1,0 0,1 1,-1 1,2-1,-1 2,-13 14,5-3,1 1,0 1,2 1,0 1,2 0,1 1,-20 49,18-24,-11 32,22-71,1 1,1 0,0 0,0 0,1 1,1 16,3 88,1-43,0-32,2 1,2-2,15 56,-10-51,-3 0,6 68,-14-87,0-1,1 0,10 51,10 32,-13-59,31 97,-35-133,2 1,0-1,1 0,0-1,1 0,1 0,0-1,1 0,1-1,15 13,34 21,3-4,1-2,2-3,142 55,-163-77,0-2,1-3,1-1,0-3,54 1,128-1,74 5,-237-4,0-4,0-2,0-3,80-12,434-85,-516 90,-32 6,0-2,0-1,57-19,14-11,1 4,140-23,-190 48,69-1,18-1,119-27,-219 30,0-2,-1-2,57-21,-85 25,0 0,0-1,0 0,-1-1,0 0,0-1,-1-1,-1 0,1 0,-2-1,1 0,-1-1,11-19,6-16,-1-1,22-63,-44 105,14-39,-2 0,-1-1,-3-1,-2 0,-2 0,-2-1,-1-65,-3 39,1 38,-2 1,-6-43,1 59,-1-1,-1 2,-1-1,0 1,-2 0,-17-26,4 6,-10-13,-3 2,-81-88,90 111,-1 2,-59-40,22 17,9 5,-1 3,-101-51,120 73,-1 0,-1 3,0 1,-1 2,-65-8,-530-29,541 48,-185 24,189-13,-1-3,-111-5,-25 1,123 8,64-6,-58 1,-608-8,686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21:30:48.6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3 718,'-1'50,"0"-10,1 0,3 0,11 66,-8-75,-2 1,-2-1,-1 45,-2-45,2 0,1 0,10 50,-5-39,-2 0,-2 0,-1 0,-6 54,2 1,2 537,1-611,1 0,8 32,2 30,2 2,-9-65,-1 1,1 29,1 24,26 134,-28-187,2 16,-3 0,-3 72,2 26,11-65,-9-53,0 1,1 28,-3-30,0 1,1-1,1 0,1 0,1 0,0-1,1 0,1 0,1-1,12 19,-2-7,1-1,1-1,1-1,45 38,-48-48,0-2,1 0,1-1,0-1,35 14,-13-10,88 18,86 11,-157-33,1-3,-1-3,1-2,90-7,-14 1,1080 3,-1203-1,1-1,-1 0,0-1,0 0,0-1,0-1,0 0,24-14,102-71,-107 66,9-4,-15 12,-2-2,0-1,0 0,-2-2,-1-1,28-34,-19 12,-1-1,-2-2,-2 0,-3-2,-1-1,24-88,-3-2,-27 92,-1-1,-3-1,6-52,5-71,-10 86,3-141,-16 216,-2-68,18-154,-6 149,-5-1,-10-165,-4 178,-4 0,-29-97,32 138,-1 1,-2 0,-28-49,-62-82,94 149,-54-77,-100-108,119 149,-142-146,111 122,40 36,-3 2,0 1,-3 1,-68-41,76 56,-2 1,0 1,-1 2,0 2,-1 1,0 2,-65-7,15 5,-65-3,2 1,-11 0,15 13,-304-15,361 6,0 4,-131 10,205-2,1 1,-1 1,1 0,0 1,1 1,-1 0,1 1,-16 12,-15 7,21-15,0-2,-33 10,38-14,0 0,1 1,0 0,0 2,-30 20,20-6,1 2,2 1,1 1,1 1,-22 36,36-47,0 0,2 0,0 1,1 0,1 0,0 0,1 1,0 30,3-33,0-5,0 0,-1 0,0 0,-1-1,0 1,0-1,-2 1,-5 13,-1-7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2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3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0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0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2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5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2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7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D87BB-7F30-4D33-92B6-5C3E5336536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E5C82-B29E-4E83-939E-3BD7CF48D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9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Analysis of Variance</a:t>
            </a:r>
          </a:p>
        </p:txBody>
      </p:sp>
    </p:spTree>
    <p:extLst>
      <p:ext uri="{BB962C8B-B14F-4D97-AF65-F5344CB8AC3E}">
        <p14:creationId xmlns:p14="http://schemas.microsoft.com/office/powerpoint/2010/main" val="149134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Variance (ANOVA) is useful for a variety of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Comparing multiple means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Various designed experiments that account for multiple factors and potential interactions of those factors</a:t>
            </a:r>
          </a:p>
        </p:txBody>
      </p:sp>
    </p:spTree>
    <p:extLst>
      <p:ext uri="{BB962C8B-B14F-4D97-AF65-F5344CB8AC3E}">
        <p14:creationId xmlns:p14="http://schemas.microsoft.com/office/powerpoint/2010/main" val="135439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variance between group means (sometimes called “between”) by the  overall pooled variance of the data (sometimes called the “within”) </a:t>
            </a:r>
          </a:p>
          <a:p>
            <a:r>
              <a:rPr lang="en-US" dirty="0"/>
              <a:t>If the difference between means is significantly higher than the pooled variance of all the data conclude the means are not equal</a:t>
            </a:r>
          </a:p>
        </p:txBody>
      </p:sp>
    </p:spTree>
    <p:extLst>
      <p:ext uri="{BB962C8B-B14F-4D97-AF65-F5344CB8AC3E}">
        <p14:creationId xmlns:p14="http://schemas.microsoft.com/office/powerpoint/2010/main" val="181054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way ANOVA (to compare means when there are more than two groups)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92982" y="1951785"/>
            <a:ext cx="50632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</a:t>
            </a:r>
            <a:r>
              <a:rPr lang="en-US" sz="2400" dirty="0">
                <a:latin typeface="Symbol" panose="05050102010706020507" pitchFamily="18" charset="2"/>
              </a:rPr>
              <a:t>m</a:t>
            </a:r>
            <a:r>
              <a:rPr lang="en-US" sz="2400" baseline="-25000" dirty="0"/>
              <a:t>1</a:t>
            </a:r>
            <a:r>
              <a:rPr lang="en-US" sz="2400" dirty="0">
                <a:latin typeface="Symbol" panose="05050102010706020507" pitchFamily="18" charset="2"/>
              </a:rPr>
              <a:t> </a:t>
            </a:r>
            <a:r>
              <a:rPr lang="en-US" sz="2400" dirty="0"/>
              <a:t>= </a:t>
            </a:r>
            <a:r>
              <a:rPr lang="en-US" sz="2400" dirty="0">
                <a:latin typeface="Symbol" panose="05050102010706020507" pitchFamily="18" charset="2"/>
              </a:rPr>
              <a:t>m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en-US" sz="2400" dirty="0">
                <a:latin typeface="Symbol" panose="05050102010706020507" pitchFamily="18" charset="2"/>
              </a:rPr>
              <a:t>m</a:t>
            </a:r>
            <a:r>
              <a:rPr lang="en-US" sz="2400" baseline="-25000" dirty="0"/>
              <a:t>3</a:t>
            </a:r>
            <a:r>
              <a:rPr lang="en-US" sz="2400" dirty="0"/>
              <a:t> …= </a:t>
            </a:r>
            <a:r>
              <a:rPr lang="en-US" sz="2400" dirty="0" err="1">
                <a:latin typeface="Symbol" panose="05050102010706020507" pitchFamily="18" charset="2"/>
              </a:rPr>
              <a:t>m</a:t>
            </a:r>
            <a:r>
              <a:rPr lang="en-US" sz="2400" baseline="-25000" dirty="0" err="1"/>
              <a:t>t</a:t>
            </a:r>
            <a:endParaRPr lang="en-US" sz="2400" baseline="-25000" dirty="0"/>
          </a:p>
          <a:p>
            <a:r>
              <a:rPr lang="en-US" sz="2400" dirty="0"/>
              <a:t>H</a:t>
            </a:r>
            <a:r>
              <a:rPr lang="en-US" sz="2400" baseline="-25000" dirty="0"/>
              <a:t>A</a:t>
            </a:r>
            <a:r>
              <a:rPr lang="en-US" sz="2400" dirty="0"/>
              <a:t>: At least one mean is not equal</a:t>
            </a:r>
            <a:endParaRPr lang="en-US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E6DF1-85A2-4CC1-90FC-65E50964F522}"/>
              </a:ext>
            </a:extLst>
          </p:cNvPr>
          <p:cNvSpPr txBox="1"/>
          <p:nvPr/>
        </p:nvSpPr>
        <p:spPr>
          <a:xfrm>
            <a:off x="1275898" y="4601163"/>
            <a:ext cx="54974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</a:t>
            </a:r>
            <a:r>
              <a:rPr lang="en-US" sz="2000" baseline="-25000" dirty="0" err="1"/>
              <a:t>between</a:t>
            </a:r>
            <a:r>
              <a:rPr lang="en-US" sz="2000" dirty="0"/>
              <a:t> standard deviation between means</a:t>
            </a:r>
          </a:p>
          <a:p>
            <a:r>
              <a:rPr lang="en-US" sz="2000" dirty="0" err="1"/>
              <a:t>S</a:t>
            </a:r>
            <a:r>
              <a:rPr lang="en-US" sz="2000" baseline="-25000" dirty="0" err="1"/>
              <a:t>within</a:t>
            </a:r>
            <a:r>
              <a:rPr lang="en-US" sz="2000" dirty="0"/>
              <a:t> standard deviation within groups</a:t>
            </a:r>
          </a:p>
          <a:p>
            <a:r>
              <a:rPr lang="en-US" sz="2000" dirty="0"/>
              <a:t>n is the sample size </a:t>
            </a:r>
          </a:p>
          <a:p>
            <a:r>
              <a:rPr lang="en-US" sz="2000" dirty="0"/>
              <a:t>t is the number of groups (treatments)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A262DB-3143-44C7-99C2-6E0161D0C338}"/>
                  </a:ext>
                </a:extLst>
              </p:cNvPr>
              <p:cNvSpPr txBox="1"/>
              <p:nvPr/>
            </p:nvSpPr>
            <p:spPr>
              <a:xfrm>
                <a:off x="1419650" y="3217805"/>
                <a:ext cx="4744889" cy="9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−1))=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𝑏𝑒𝑡𝑤𝑒𝑒𝑛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A262DB-3143-44C7-99C2-6E0161D0C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650" y="3217805"/>
                <a:ext cx="4744889" cy="989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854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FE8E-D529-4C9C-9590-C611B217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 (background info)</a:t>
            </a:r>
          </a:p>
        </p:txBody>
      </p:sp>
      <p:pic>
        <p:nvPicPr>
          <p:cNvPr id="4" name="Picture 3" descr="ANOVA table detailing calculation steps">
            <a:extLst>
              <a:ext uri="{FF2B5EF4-FFF2-40B4-BE49-F238E27FC236}">
                <a16:creationId xmlns:a16="http://schemas.microsoft.com/office/drawing/2014/main" id="{398D5330-8044-4D79-AAFF-12214977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77" y="1791940"/>
            <a:ext cx="6673504" cy="3160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BC860-C947-4641-87EE-25BC07BB9839}"/>
              </a:ext>
            </a:extLst>
          </p:cNvPr>
          <p:cNvSpPr txBox="1"/>
          <p:nvPr/>
        </p:nvSpPr>
        <p:spPr>
          <a:xfrm>
            <a:off x="1162978" y="5354515"/>
            <a:ext cx="885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ANOVA tables, detailing steps in the calculating the F statistic, are often shown in software output</a:t>
            </a:r>
          </a:p>
        </p:txBody>
      </p:sp>
    </p:spTree>
    <p:extLst>
      <p:ext uri="{BB962C8B-B14F-4D97-AF65-F5344CB8AC3E}">
        <p14:creationId xmlns:p14="http://schemas.microsoft.com/office/powerpoint/2010/main" val="191498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t-test vs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ANOVA will result in the same p-value as a t-test for two means (the F and t distributions are mathematically related, F is a ratio of two chi-squares, the chi-square is the square of normal)</a:t>
            </a:r>
          </a:p>
          <a:p>
            <a:r>
              <a:rPr lang="en-US" dirty="0"/>
              <a:t>Rule of parsimony (it is acknowledged, but poorly followed in practice)</a:t>
            </a:r>
          </a:p>
          <a:p>
            <a:pPr lvl="1"/>
            <a:r>
              <a:rPr lang="en-US" dirty="0"/>
              <a:t>If t-tests are considered easier to explain and you have the option of using a t-test or an ANOVA, use the t-test by rule of parsimony</a:t>
            </a:r>
          </a:p>
          <a:p>
            <a:pPr lvl="1"/>
            <a:r>
              <a:rPr lang="en-US" dirty="0"/>
              <a:t>However, if ANOVA works for two means or any number of means larger than two, some might say always use ANOVA by rule of parsimony</a:t>
            </a:r>
          </a:p>
          <a:p>
            <a:r>
              <a:rPr lang="en-US" dirty="0"/>
              <a:t>If you are testing more than two means, you must use ANOVA</a:t>
            </a:r>
          </a:p>
        </p:txBody>
      </p:sp>
    </p:spTree>
    <p:extLst>
      <p:ext uri="{BB962C8B-B14F-4D97-AF65-F5344CB8AC3E}">
        <p14:creationId xmlns:p14="http://schemas.microsoft.com/office/powerpoint/2010/main" val="175645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tests with ANOVA for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Levene’s</a:t>
            </a:r>
            <a:r>
              <a:rPr lang="en-US" dirty="0"/>
              <a:t> test for equality of variances</a:t>
            </a:r>
          </a:p>
          <a:p>
            <a:r>
              <a:rPr lang="en-US" dirty="0"/>
              <a:t>Pairwise comparison of means (there’s a difference between means, the next logical question is which means differ from each other)</a:t>
            </a:r>
          </a:p>
          <a:p>
            <a:r>
              <a:rPr lang="en-US" dirty="0"/>
              <a:t>If multiple t-test are used, comparison-wise error rate are held to 0.05 for each test, but experimental error rates increase!</a:t>
            </a:r>
          </a:p>
          <a:p>
            <a:r>
              <a:rPr lang="en-US" dirty="0"/>
              <a:t>Experiment-wise error rates = 1 – (1 – 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)</a:t>
            </a:r>
            <a:r>
              <a:rPr lang="en-US" baseline="30000" dirty="0"/>
              <a:t>t</a:t>
            </a:r>
          </a:p>
          <a:p>
            <a:r>
              <a:rPr lang="en-US" dirty="0"/>
              <a:t>Pairwise comparison techniques: Fisher LSD (no experiment-wise control), Tukey (ensures experiment-wise 0.05 alpha rate), Duncan multiple range test, is a compromise of the LSD and Tukey approaches</a:t>
            </a:r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17556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0ECC-D555-4871-8588-163AAF1A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Multiple Mean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D24B-1602-4188-8209-04FFB018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LSD, Duncan, Tukey are </a:t>
            </a:r>
            <a:r>
              <a:rPr lang="en-US" b="1" i="1" dirty="0"/>
              <a:t>post hoc</a:t>
            </a:r>
            <a:r>
              <a:rPr lang="en-US" dirty="0"/>
              <a:t> tests of means</a:t>
            </a:r>
            <a:endParaRPr lang="en-US" b="1" i="1" dirty="0"/>
          </a:p>
          <a:p>
            <a:r>
              <a:rPr lang="en-US" dirty="0"/>
              <a:t>If looking for a particular effect in means, </a:t>
            </a:r>
            <a:r>
              <a:rPr lang="en-US" b="1" i="1" dirty="0"/>
              <a:t>a priori</a:t>
            </a:r>
            <a:r>
              <a:rPr lang="en-US" dirty="0"/>
              <a:t> contrasts can be used that are more powerful than post hoc tests; however, these require a specific comparison among means (we can’t just ask the general question, which means are different?)</a:t>
            </a:r>
          </a:p>
          <a:p>
            <a:r>
              <a:rPr lang="en-US" dirty="0"/>
              <a:t>There are other approaches, for example, </a:t>
            </a:r>
            <a:r>
              <a:rPr lang="en-US" dirty="0" err="1"/>
              <a:t>Dunnet’s</a:t>
            </a:r>
            <a:r>
              <a:rPr lang="en-US" dirty="0"/>
              <a:t> test only tests all means against one mean in the group, Bonferroni (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/n),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C6E58-A526-4AB9-B416-761A8DDC1D9F}"/>
              </a:ext>
            </a:extLst>
          </p:cNvPr>
          <p:cNvSpPr txBox="1"/>
          <p:nvPr/>
        </p:nvSpPr>
        <p:spPr>
          <a:xfrm>
            <a:off x="1157681" y="5469622"/>
            <a:ext cx="8358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Personal opinion: a post hoc test like Duncan’s, fits the majority of business situations</a:t>
            </a:r>
          </a:p>
        </p:txBody>
      </p:sp>
    </p:spTree>
    <p:extLst>
      <p:ext uri="{BB962C8B-B14F-4D97-AF65-F5344CB8AC3E}">
        <p14:creationId xmlns:p14="http://schemas.microsoft.com/office/powerpoint/2010/main" val="358272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New Micro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study was conduct to test the impact of a new treatment on its effectiveness reducing micro levels in raw poultry.  45 products were randomly sampled and one of three treatments was randomly applied:  No treatment (a control), water with chlorine added (chlorine), and a new food-safe anti-microbial treatment (</a:t>
            </a:r>
            <a:r>
              <a:rPr lang="en-US" dirty="0" err="1"/>
              <a:t>newtrt</a:t>
            </a:r>
            <a:r>
              <a:rPr lang="en-US" dirty="0"/>
              <a:t>)</a:t>
            </a:r>
          </a:p>
          <a:p>
            <a:r>
              <a:rPr lang="en-US" dirty="0"/>
              <a:t>Results are found in “new micro treatment.txt”</a:t>
            </a:r>
          </a:p>
          <a:p>
            <a:r>
              <a:rPr lang="en-US" dirty="0"/>
              <a:t>Use SAS to test: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3566" y="5115609"/>
            <a:ext cx="50632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</a:t>
            </a:r>
            <a:r>
              <a:rPr lang="en-US" sz="2400" dirty="0" err="1">
                <a:latin typeface="Symbol" panose="05050102010706020507" pitchFamily="18" charset="2"/>
              </a:rPr>
              <a:t>m</a:t>
            </a:r>
            <a:r>
              <a:rPr lang="en-US" sz="2400" baseline="-25000" dirty="0" err="1"/>
              <a:t>CONTROL</a:t>
            </a:r>
            <a:r>
              <a:rPr lang="en-US" sz="2400" dirty="0">
                <a:latin typeface="Symbol" panose="05050102010706020507" pitchFamily="18" charset="2"/>
              </a:rPr>
              <a:t> </a:t>
            </a:r>
            <a:r>
              <a:rPr lang="en-US" sz="2400" dirty="0"/>
              <a:t>= </a:t>
            </a:r>
            <a:r>
              <a:rPr lang="en-US" sz="2400" dirty="0" err="1">
                <a:latin typeface="Symbol" panose="05050102010706020507" pitchFamily="18" charset="2"/>
              </a:rPr>
              <a:t>m</a:t>
            </a:r>
            <a:r>
              <a:rPr lang="en-US" sz="2400" baseline="-25000" dirty="0" err="1"/>
              <a:t>CHLORINE</a:t>
            </a:r>
            <a:r>
              <a:rPr lang="en-US" sz="2400" dirty="0"/>
              <a:t> = </a:t>
            </a:r>
            <a:r>
              <a:rPr lang="en-US" sz="2400" dirty="0" err="1">
                <a:latin typeface="Symbol" panose="05050102010706020507" pitchFamily="18" charset="2"/>
              </a:rPr>
              <a:t>m</a:t>
            </a:r>
            <a:r>
              <a:rPr lang="en-US" sz="2400" baseline="-25000" dirty="0" err="1"/>
              <a:t>NEWTRT</a:t>
            </a:r>
            <a:endParaRPr lang="en-US" sz="2400" baseline="-25000" dirty="0"/>
          </a:p>
          <a:p>
            <a:r>
              <a:rPr lang="en-US" sz="2400" dirty="0"/>
              <a:t>H</a:t>
            </a:r>
            <a:r>
              <a:rPr lang="en-US" sz="2400" baseline="-25000" dirty="0"/>
              <a:t>A</a:t>
            </a:r>
            <a:r>
              <a:rPr lang="en-US" sz="2400" dirty="0"/>
              <a:t>: At least one mean is not equal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60696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7272B-12C4-471E-A63A-86AFD3D5B4D1}"/>
              </a:ext>
            </a:extLst>
          </p:cNvPr>
          <p:cNvSpPr txBox="1"/>
          <p:nvPr/>
        </p:nvSpPr>
        <p:spPr>
          <a:xfrm>
            <a:off x="838200" y="1497257"/>
            <a:ext cx="917366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apc</a:t>
            </a:r>
            <a:r>
              <a:rPr lang="en-US" sz="2400" dirty="0"/>
              <a:t>&lt;-read.csv("T:/Matt.Brown/new micro </a:t>
            </a:r>
            <a:r>
              <a:rPr lang="en-US" sz="2400" dirty="0" err="1"/>
              <a:t>treatment.csv",header</a:t>
            </a:r>
            <a:r>
              <a:rPr lang="en-US" sz="2400" dirty="0"/>
              <a:t>=TRUE)</a:t>
            </a:r>
          </a:p>
          <a:p>
            <a:r>
              <a:rPr lang="en-US" sz="2400" dirty="0"/>
              <a:t>head(</a:t>
            </a:r>
            <a:r>
              <a:rPr lang="en-US" sz="2400" dirty="0" err="1"/>
              <a:t>apc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apc$trt</a:t>
            </a:r>
            <a:r>
              <a:rPr lang="en-US" sz="2400" dirty="0"/>
              <a:t>&lt;-</a:t>
            </a:r>
            <a:r>
              <a:rPr lang="en-US" sz="2400" dirty="0" err="1"/>
              <a:t>as.factor</a:t>
            </a:r>
            <a:r>
              <a:rPr lang="en-US" sz="2400" dirty="0"/>
              <a:t>(</a:t>
            </a:r>
            <a:r>
              <a:rPr lang="en-US" sz="2400" dirty="0" err="1"/>
              <a:t>apc$trt</a:t>
            </a:r>
            <a:r>
              <a:rPr lang="en-US" sz="2400" dirty="0"/>
              <a:t>)</a:t>
            </a:r>
          </a:p>
          <a:p>
            <a:r>
              <a:rPr lang="en-US" sz="2400" dirty="0"/>
              <a:t>fit&lt;-</a:t>
            </a:r>
            <a:r>
              <a:rPr lang="en-US" sz="2400" dirty="0" err="1"/>
              <a:t>aov</a:t>
            </a:r>
            <a:r>
              <a:rPr lang="en-US" sz="2400" dirty="0"/>
              <a:t>(log10APC~trt,data=</a:t>
            </a:r>
            <a:r>
              <a:rPr lang="en-US" sz="2400" dirty="0" err="1"/>
              <a:t>apc</a:t>
            </a:r>
            <a:r>
              <a:rPr lang="en-US" sz="2400" dirty="0"/>
              <a:t>)</a:t>
            </a:r>
          </a:p>
          <a:p>
            <a:r>
              <a:rPr lang="en-US" sz="2400" dirty="0"/>
              <a:t>summary(fit)</a:t>
            </a:r>
          </a:p>
          <a:p>
            <a:r>
              <a:rPr lang="en-US" sz="2400" dirty="0" err="1"/>
              <a:t>TukeyHSD</a:t>
            </a:r>
            <a:r>
              <a:rPr lang="en-US" sz="2400" dirty="0"/>
              <a:t>(fit,"</a:t>
            </a:r>
            <a:r>
              <a:rPr lang="en-US" sz="2400" dirty="0" err="1"/>
              <a:t>trt</a:t>
            </a:r>
            <a:r>
              <a:rPr lang="en-US" sz="2400" dirty="0"/>
              <a:t>")</a:t>
            </a:r>
          </a:p>
          <a:p>
            <a:r>
              <a:rPr lang="en-US" sz="2400" dirty="0"/>
              <a:t>aggregate(log10APC~trt, data = </a:t>
            </a:r>
            <a:r>
              <a:rPr lang="en-US" sz="2400" dirty="0" err="1"/>
              <a:t>apc</a:t>
            </a:r>
            <a:r>
              <a:rPr lang="en-US" sz="2400" dirty="0"/>
              <a:t>, FUN = mean)</a:t>
            </a:r>
          </a:p>
          <a:p>
            <a:r>
              <a:rPr lang="en-US" sz="2400" dirty="0"/>
              <a:t>#install.packages("agricolae") #only needs to be ran once</a:t>
            </a:r>
          </a:p>
          <a:p>
            <a:r>
              <a:rPr lang="en-US" sz="2400" dirty="0"/>
              <a:t>#library(agricolae) </a:t>
            </a:r>
          </a:p>
          <a:p>
            <a:r>
              <a:rPr lang="en-US" sz="2400" dirty="0"/>
              <a:t>#dun&lt;-duncan.test(fit, "</a:t>
            </a:r>
            <a:r>
              <a:rPr lang="en-US" sz="2400" dirty="0" err="1"/>
              <a:t>trt</a:t>
            </a:r>
            <a:r>
              <a:rPr lang="en-US" sz="2400" dirty="0"/>
              <a:t>", group = TRUE)</a:t>
            </a:r>
          </a:p>
          <a:p>
            <a:r>
              <a:rPr lang="en-US" sz="2400" dirty="0"/>
              <a:t>#print(dun)</a:t>
            </a:r>
          </a:p>
        </p:txBody>
      </p:sp>
    </p:spTree>
    <p:extLst>
      <p:ext uri="{BB962C8B-B14F-4D97-AF65-F5344CB8AC3E}">
        <p14:creationId xmlns:p14="http://schemas.microsoft.com/office/powerpoint/2010/main" val="180251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03E8-5AA0-4061-96AC-E9CB780A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ANOVA table for treatment impact on APC">
            <a:extLst>
              <a:ext uri="{FF2B5EF4-FFF2-40B4-BE49-F238E27FC236}">
                <a16:creationId xmlns:a16="http://schemas.microsoft.com/office/drawing/2014/main" id="{3D30F8D8-0413-41C7-B202-A3C3FBE29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3" y="2191360"/>
            <a:ext cx="6573167" cy="676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8EAD51-0C16-455F-A052-DF7CB7A14E53}"/>
              </a:ext>
            </a:extLst>
          </p:cNvPr>
          <p:cNvSpPr txBox="1"/>
          <p:nvPr/>
        </p:nvSpPr>
        <p:spPr>
          <a:xfrm>
            <a:off x="1019908" y="169068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ANOVA table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40F20B-B93F-4C7C-8B23-396D99E38EFD}"/>
                  </a:ext>
                </a:extLst>
              </p14:cNvPr>
              <p14:cNvContentPartPr/>
              <p14:nvPr/>
            </p14:nvContentPartPr>
            <p14:xfrm>
              <a:off x="5809528" y="2048178"/>
              <a:ext cx="1612800" cy="836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40F20B-B93F-4C7C-8B23-396D99E38E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0888" y="2039538"/>
                <a:ext cx="1630440" cy="854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2F2FC6F-748F-4A0A-9E64-118D581CD10A}"/>
              </a:ext>
            </a:extLst>
          </p:cNvPr>
          <p:cNvSpPr txBox="1"/>
          <p:nvPr/>
        </p:nvSpPr>
        <p:spPr>
          <a:xfrm>
            <a:off x="1209675" y="3552825"/>
            <a:ext cx="1014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p-value is well less than 0.05, we reject the null hypothesis and conclude at least one of the means is different from the other two.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In “statistics speak”, we can also say the treatment (</a:t>
            </a:r>
            <a:r>
              <a:rPr lang="en-US" b="1" dirty="0" err="1">
                <a:solidFill>
                  <a:srgbClr val="C00000"/>
                </a:solidFill>
              </a:rPr>
              <a:t>trt</a:t>
            </a:r>
            <a:r>
              <a:rPr lang="en-US" b="1" dirty="0">
                <a:solidFill>
                  <a:srgbClr val="C00000"/>
                </a:solidFill>
              </a:rPr>
              <a:t>) effect was significant.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The next logical question is how are the means different from each other?</a:t>
            </a:r>
          </a:p>
        </p:txBody>
      </p:sp>
    </p:spTree>
    <p:extLst>
      <p:ext uri="{BB962C8B-B14F-4D97-AF65-F5344CB8AC3E}">
        <p14:creationId xmlns:p14="http://schemas.microsoft.com/office/powerpoint/2010/main" val="338741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03E8-5AA0-4061-96AC-E9CB780A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(continued)</a:t>
            </a:r>
          </a:p>
        </p:txBody>
      </p:sp>
      <p:sp>
        <p:nvSpPr>
          <p:cNvPr id="8" name="TextBox 7" descr="Tukey multiple mean comparison output">
            <a:extLst>
              <a:ext uri="{FF2B5EF4-FFF2-40B4-BE49-F238E27FC236}">
                <a16:creationId xmlns:a16="http://schemas.microsoft.com/office/drawing/2014/main" id="{B48EAD51-0C16-455F-A052-DF7CB7A14E53}"/>
              </a:ext>
            </a:extLst>
          </p:cNvPr>
          <p:cNvSpPr txBox="1"/>
          <p:nvPr/>
        </p:nvSpPr>
        <p:spPr>
          <a:xfrm>
            <a:off x="1019908" y="1690688"/>
            <a:ext cx="3984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Tukey multiple mean comparison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F2FC6F-748F-4A0A-9E64-118D581CD10A}"/>
              </a:ext>
            </a:extLst>
          </p:cNvPr>
          <p:cNvSpPr txBox="1"/>
          <p:nvPr/>
        </p:nvSpPr>
        <p:spPr>
          <a:xfrm>
            <a:off x="933450" y="4550330"/>
            <a:ext cx="10144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Each pair of means is significantly different from each other.</a:t>
            </a:r>
          </a:p>
          <a:p>
            <a:r>
              <a:rPr lang="en-US" b="1" dirty="0">
                <a:solidFill>
                  <a:srgbClr val="C00000"/>
                </a:solidFill>
              </a:rPr>
              <a:t>The means are: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9ABFC-B546-4452-9FD2-8696DF18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8" y="2200121"/>
            <a:ext cx="7535327" cy="22101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CD57A0-2BD1-414E-94CD-618501AF703F}"/>
                  </a:ext>
                </a:extLst>
              </p14:cNvPr>
              <p14:cNvContentPartPr/>
              <p14:nvPr/>
            </p14:nvContentPartPr>
            <p14:xfrm>
              <a:off x="7200000" y="3123000"/>
              <a:ext cx="1316880" cy="147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CD57A0-2BD1-414E-94CD-618501AF70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1360" y="3114000"/>
                <a:ext cx="1334520" cy="1488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Means by group">
            <a:extLst>
              <a:ext uri="{FF2B5EF4-FFF2-40B4-BE49-F238E27FC236}">
                <a16:creationId xmlns:a16="http://schemas.microsoft.com/office/drawing/2014/main" id="{7AF6D75A-2690-432F-9E44-981D68977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03" y="5287937"/>
            <a:ext cx="2457793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6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0640" y="1997838"/>
            <a:ext cx="66354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proc</a:t>
            </a:r>
            <a:r>
              <a:rPr lang="en-US" sz="2400" dirty="0"/>
              <a:t> </a:t>
            </a:r>
            <a:r>
              <a:rPr lang="en-US" sz="2400" dirty="0" err="1"/>
              <a:t>glm</a:t>
            </a:r>
            <a:r>
              <a:rPr lang="en-US" sz="2400" dirty="0"/>
              <a:t> data=</a:t>
            </a:r>
            <a:r>
              <a:rPr lang="en-US" sz="2400" dirty="0" err="1"/>
              <a:t>apc</a:t>
            </a:r>
            <a:r>
              <a:rPr lang="en-US" sz="2400" dirty="0"/>
              <a:t>;</a:t>
            </a:r>
          </a:p>
          <a:p>
            <a:r>
              <a:rPr lang="en-US" sz="2400" dirty="0"/>
              <a:t>class </a:t>
            </a:r>
            <a:r>
              <a:rPr lang="en-US" sz="2400" dirty="0" err="1"/>
              <a:t>trt</a:t>
            </a:r>
            <a:r>
              <a:rPr lang="en-US" sz="2400" dirty="0"/>
              <a:t>;</a:t>
            </a:r>
          </a:p>
          <a:p>
            <a:r>
              <a:rPr lang="en-US" sz="2400" dirty="0"/>
              <a:t>model log10APC=</a:t>
            </a:r>
            <a:r>
              <a:rPr lang="en-US" sz="2400" dirty="0" err="1"/>
              <a:t>trt</a:t>
            </a:r>
            <a:r>
              <a:rPr lang="en-US" sz="2400" dirty="0"/>
              <a:t>;</a:t>
            </a:r>
          </a:p>
          <a:p>
            <a:r>
              <a:rPr lang="en-US" sz="2400" dirty="0"/>
              <a:t>quit;</a:t>
            </a:r>
          </a:p>
          <a:p>
            <a:endParaRPr lang="en-US" sz="2400" dirty="0"/>
          </a:p>
          <a:p>
            <a:r>
              <a:rPr lang="en-US" sz="2400" dirty="0" err="1"/>
              <a:t>proc</a:t>
            </a:r>
            <a:r>
              <a:rPr lang="en-US" sz="2400" dirty="0"/>
              <a:t> </a:t>
            </a:r>
            <a:r>
              <a:rPr lang="en-US" sz="2400" dirty="0" err="1"/>
              <a:t>glm</a:t>
            </a:r>
            <a:r>
              <a:rPr lang="en-US" sz="2400" dirty="0"/>
              <a:t> data=</a:t>
            </a:r>
            <a:r>
              <a:rPr lang="en-US" sz="2400" dirty="0" err="1"/>
              <a:t>apc</a:t>
            </a:r>
            <a:r>
              <a:rPr lang="en-US" sz="2400" dirty="0"/>
              <a:t>;</a:t>
            </a:r>
          </a:p>
          <a:p>
            <a:r>
              <a:rPr lang="en-US" sz="2400" dirty="0"/>
              <a:t>class </a:t>
            </a:r>
            <a:r>
              <a:rPr lang="en-US" sz="2400" dirty="0" err="1"/>
              <a:t>trt</a:t>
            </a:r>
            <a:r>
              <a:rPr lang="en-US" sz="2400" dirty="0"/>
              <a:t>;</a:t>
            </a:r>
          </a:p>
          <a:p>
            <a:r>
              <a:rPr lang="en-US" sz="2400" dirty="0"/>
              <a:t>model log10APC=</a:t>
            </a:r>
            <a:r>
              <a:rPr lang="en-US" sz="2400" dirty="0" err="1"/>
              <a:t>trt</a:t>
            </a:r>
            <a:r>
              <a:rPr lang="en-US" sz="2400" dirty="0"/>
              <a:t>;</a:t>
            </a:r>
          </a:p>
          <a:p>
            <a:r>
              <a:rPr lang="en-US" sz="2400" dirty="0"/>
              <a:t>means </a:t>
            </a:r>
            <a:r>
              <a:rPr lang="en-US" sz="2400" dirty="0" err="1"/>
              <a:t>trt</a:t>
            </a:r>
            <a:r>
              <a:rPr lang="en-US" sz="2400" dirty="0"/>
              <a:t> / </a:t>
            </a:r>
            <a:r>
              <a:rPr lang="en-US" sz="2400" dirty="0" err="1"/>
              <a:t>duncan</a:t>
            </a:r>
            <a:r>
              <a:rPr lang="en-US" sz="2400" dirty="0"/>
              <a:t> </a:t>
            </a:r>
            <a:r>
              <a:rPr lang="en-US" sz="2400" dirty="0" err="1"/>
              <a:t>tukey</a:t>
            </a:r>
            <a:r>
              <a:rPr lang="en-US" sz="2400" dirty="0"/>
              <a:t> </a:t>
            </a:r>
            <a:r>
              <a:rPr lang="en-US" sz="2400" dirty="0" err="1"/>
              <a:t>hovtest</a:t>
            </a:r>
            <a:r>
              <a:rPr lang="en-US" sz="2400" dirty="0"/>
              <a:t>=</a:t>
            </a:r>
            <a:r>
              <a:rPr lang="en-US" sz="2400" dirty="0" err="1"/>
              <a:t>levene</a:t>
            </a:r>
            <a:r>
              <a:rPr lang="en-US" sz="2400" dirty="0"/>
              <a:t>; </a:t>
            </a:r>
          </a:p>
          <a:p>
            <a:r>
              <a:rPr lang="en-US" sz="2400" dirty="0"/>
              <a:t>quit;</a:t>
            </a:r>
          </a:p>
        </p:txBody>
      </p:sp>
    </p:spTree>
    <p:extLst>
      <p:ext uri="{BB962C8B-B14F-4D97-AF65-F5344CB8AC3E}">
        <p14:creationId xmlns:p14="http://schemas.microsoft.com/office/powerpoint/2010/main" val="88165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03E8-5AA0-4061-96AC-E9CB780A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F4D70-AB45-4432-B42F-C62479185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reject the null hypothesis (</a:t>
            </a:r>
            <a:r>
              <a:rPr lang="en-US" sz="2800" dirty="0"/>
              <a:t>H</a:t>
            </a:r>
            <a:r>
              <a:rPr lang="en-US" sz="2800" baseline="-25000" dirty="0"/>
              <a:t>0</a:t>
            </a:r>
            <a:r>
              <a:rPr lang="en-US" sz="2800" dirty="0"/>
              <a:t>: </a:t>
            </a:r>
            <a:r>
              <a:rPr lang="en-US" sz="2800" dirty="0" err="1">
                <a:latin typeface="Symbol" panose="05050102010706020507" pitchFamily="18" charset="2"/>
              </a:rPr>
              <a:t>m</a:t>
            </a:r>
            <a:r>
              <a:rPr lang="en-US" sz="2800" baseline="-25000" dirty="0" err="1"/>
              <a:t>CONTROL</a:t>
            </a:r>
            <a:r>
              <a:rPr lang="en-US" sz="2800" dirty="0">
                <a:latin typeface="Symbol" panose="05050102010706020507" pitchFamily="18" charset="2"/>
              </a:rPr>
              <a:t> </a:t>
            </a:r>
            <a:r>
              <a:rPr lang="en-US" sz="2800" dirty="0"/>
              <a:t>= </a:t>
            </a:r>
            <a:r>
              <a:rPr lang="en-US" sz="2800" dirty="0" err="1">
                <a:latin typeface="Symbol" panose="05050102010706020507" pitchFamily="18" charset="2"/>
              </a:rPr>
              <a:t>m</a:t>
            </a:r>
            <a:r>
              <a:rPr lang="en-US" sz="2800" baseline="-25000" dirty="0" err="1"/>
              <a:t>CHLORINE</a:t>
            </a:r>
            <a:r>
              <a:rPr lang="en-US" sz="2800" dirty="0"/>
              <a:t> = </a:t>
            </a:r>
            <a:r>
              <a:rPr lang="en-US" sz="2800" dirty="0" err="1">
                <a:latin typeface="Symbol" panose="05050102010706020507" pitchFamily="18" charset="2"/>
              </a:rPr>
              <a:t>m</a:t>
            </a:r>
            <a:r>
              <a:rPr lang="en-US" sz="2800" baseline="-25000" dirty="0" err="1"/>
              <a:t>NEWTRT</a:t>
            </a:r>
            <a:r>
              <a:rPr lang="en-US" dirty="0"/>
              <a:t>)</a:t>
            </a:r>
          </a:p>
          <a:p>
            <a:r>
              <a:rPr lang="en-US" dirty="0"/>
              <a:t>There is a difference among the means</a:t>
            </a:r>
          </a:p>
          <a:p>
            <a:r>
              <a:rPr lang="en-US" dirty="0"/>
              <a:t>The differences can be summarized as:</a:t>
            </a:r>
          </a:p>
          <a:p>
            <a:pPr marL="457200" lvl="1" indent="0">
              <a:buNone/>
            </a:pPr>
            <a:r>
              <a:rPr lang="en-US" b="1" u="sng" dirty="0"/>
              <a:t>Treatment </a:t>
            </a:r>
            <a:r>
              <a:rPr lang="en-US" b="1" dirty="0"/>
              <a:t>	       </a:t>
            </a:r>
            <a:r>
              <a:rPr lang="en-US" b="1" u="sng" dirty="0"/>
              <a:t>Mean Log10 APC</a:t>
            </a:r>
          </a:p>
          <a:p>
            <a:pPr marL="457200" lvl="1" indent="0">
              <a:buNone/>
            </a:pPr>
            <a:r>
              <a:rPr lang="en-US" b="1" dirty="0"/>
              <a:t>Control			5.04 a</a:t>
            </a:r>
          </a:p>
          <a:p>
            <a:pPr marL="457200" lvl="1" indent="0">
              <a:buNone/>
            </a:pPr>
            <a:r>
              <a:rPr lang="en-US" b="1" dirty="0"/>
              <a:t>Chlorine			3.53 b</a:t>
            </a:r>
          </a:p>
          <a:p>
            <a:pPr marL="457200" lvl="1" indent="0">
              <a:buNone/>
            </a:pPr>
            <a:r>
              <a:rPr lang="en-US" b="1" dirty="0"/>
              <a:t>New Treatment		2.54 c</a:t>
            </a:r>
          </a:p>
          <a:p>
            <a:pPr marL="457200" lvl="1" indent="0">
              <a:buNone/>
            </a:pPr>
            <a:r>
              <a:rPr lang="en-US" dirty="0"/>
              <a:t>Means with different letters were found to be significantly different at the 0.05 level.</a:t>
            </a:r>
          </a:p>
          <a:p>
            <a:r>
              <a:rPr lang="en-US" dirty="0"/>
              <a:t>The new treatment shows significant improvement in reducing micro levels over both the Control and Chlorine treatments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6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compare customer ratings for three different brands of soap</a:t>
            </a:r>
          </a:p>
          <a:p>
            <a:r>
              <a:rPr lang="en-US" dirty="0"/>
              <a:t>Use the data in soap.csv and: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 1-way ANOVA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mean separation if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Briefly write-up your results</a:t>
            </a:r>
          </a:p>
        </p:txBody>
      </p:sp>
    </p:spTree>
    <p:extLst>
      <p:ext uri="{BB962C8B-B14F-4D97-AF65-F5344CB8AC3E}">
        <p14:creationId xmlns:p14="http://schemas.microsoft.com/office/powerpoint/2010/main" val="267577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large retailer wants to compare the effectiveness of three different promotions on sales random stores were selected and assigned one of the promotions</a:t>
            </a:r>
          </a:p>
          <a:p>
            <a:r>
              <a:rPr lang="en-US" dirty="0"/>
              <a:t>Use the data in promotions 1-way ANOVA example.csv and: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 1-way ANOVA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mean separation if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Briefly write-up your results</a:t>
            </a:r>
          </a:p>
        </p:txBody>
      </p:sp>
    </p:spTree>
    <p:extLst>
      <p:ext uri="{BB962C8B-B14F-4D97-AF65-F5344CB8AC3E}">
        <p14:creationId xmlns:p14="http://schemas.microsoft.com/office/powerpoint/2010/main" val="118297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teacher is trying three different methods of instruction to determine impact on a particular exam</a:t>
            </a:r>
          </a:p>
          <a:p>
            <a:r>
              <a:rPr lang="en-US" dirty="0"/>
              <a:t>Use the data in method of instruction 1-way ANOVA example.csv and: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 1-way ANOVA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mean separation if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Briefly write-up your results</a:t>
            </a:r>
          </a:p>
        </p:txBody>
      </p:sp>
    </p:spTree>
    <p:extLst>
      <p:ext uri="{BB962C8B-B14F-4D97-AF65-F5344CB8AC3E}">
        <p14:creationId xmlns:p14="http://schemas.microsoft.com/office/powerpoint/2010/main" val="341896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14177</TotalTime>
  <Words>1077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Symbol</vt:lpstr>
      <vt:lpstr>Office Theme</vt:lpstr>
      <vt:lpstr>Introduction to Analysis of Variance</vt:lpstr>
      <vt:lpstr>Analysis of Variance (ANOVA) is useful for a variety of techniques</vt:lpstr>
      <vt:lpstr>How ANOVA works</vt:lpstr>
      <vt:lpstr>One way ANOVA (to compare means when there are more than two groups)</vt:lpstr>
      <vt:lpstr>ANOVA table (background info)</vt:lpstr>
      <vt:lpstr>Note: t-test vs ANOVA</vt:lpstr>
      <vt:lpstr>Common tests with ANOVA for means</vt:lpstr>
      <vt:lpstr>Notes on Multiple Mean Comparison</vt:lpstr>
      <vt:lpstr>Example: New Micro Treatment</vt:lpstr>
      <vt:lpstr>R Code</vt:lpstr>
      <vt:lpstr>Results</vt:lpstr>
      <vt:lpstr>Results (continued)</vt:lpstr>
      <vt:lpstr>SAS Code</vt:lpstr>
      <vt:lpstr>Conclusions</vt:lpstr>
      <vt:lpstr>Practice 1</vt:lpstr>
      <vt:lpstr>Practice 2</vt:lpstr>
      <vt:lpstr>Practice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Analysis of Variance</dc:title>
  <dc:creator>Herbert E. Brown</dc:creator>
  <cp:lastModifiedBy>Herbert</cp:lastModifiedBy>
  <cp:revision>22</cp:revision>
  <dcterms:created xsi:type="dcterms:W3CDTF">2020-02-04T17:20:44Z</dcterms:created>
  <dcterms:modified xsi:type="dcterms:W3CDTF">2025-12-22T22:50:35Z</dcterms:modified>
</cp:coreProperties>
</file>